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3"/>
    <p:sldId id="263" r:id="rId14"/>
    <p:sldId id="256" r:id="rId3"/>
    <p:sldId id="258" r:id="rId6"/>
    <p:sldId id="261" r:id="rId9"/>
    <p:sldId id="259" r:id="rId7"/>
    <p:sldId id="260" r:id="rId8"/>
  </p:sldIdLst>
  <p:sldSz cx="15240000" cy="11430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slides/slide7.xml" Id="R100b9c2650bf451a"/><Relationship Type="http://schemas.openxmlformats.org/officeDocument/2006/relationships/notesMaster" Target="../notesMasters/notesMaster1.xml" Id="R32c3128cfc4b42c8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slides/slide8.xml" Id="Rb9a5bdae3708492f"/><Relationship Type="http://schemas.openxmlformats.org/officeDocument/2006/relationships/notesMaster" Target="../notesMasters/notesMaster1.xml" Id="R3f21179dc85846d4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图1.3 MEM的长时程与部分可观测操作任务示例（引自文献[15]原图1上部）。</a:t>
            </a:r>
          </a:p>
          <a:p>
            <a:r>
              <a:t>Figure 1.3 Long-horizon and partially observable tasks in MEM.</a:t>
            </a:r>
          </a:p>
          <a:p>
            <a:r>
              <a:t>来源：MEM: Multi-Scale Embodied Memory for Vision Language Action Models，arXiv:2603.03596v2，原图1上方两排，PDF物理第1页。</a:t>
            </a:r>
          </a:p>
          <a:p>
            <a:r>
              <a:t>https://arxiv.org/abs/2603.03596v2</a:t>
            </a:r>
          </a:p>
          <a:p>
            <a:r>
              <a:t>原图裁切保留了Long-Horizon Tasks with Memory与Solve Tasks w/ Partial Observability两组完整面板和原始标签，未改写照片或图内文字。原作者平台与结果，不是本地RM65-B结果。上下文适应不等于在线参数更新，也不构成RL训练记忆的证据。</a:t>
            </a:r>
          </a:p>
          <a:p>
            <a:r>
              <a:t>本页图名、中英文图注、来源和范围说明是原生可编辑文字。原论文图作为独立可替换图片，图内原始文字属于图片。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图3.1 自身VLM的显式记忆与子任务文本生成框架
Figure 3.1 Explicit memory and subtask text generation using the VLA model’s own VLM</a:t>
            </a:r>
          </a:p>
          <a:p>
            <a:r>
              <a:t>READ、WRITE及子任务文本自回归生成复用同一参数，不设固定子任务库或技能ID选择。首轮仅限已验收动作能力。高层生成与专家的目标和梯度详见图3.3。</a:t>
            </a:r>
          </a:p>
          <a:p>
            <a:r>
              <a:t>对应报告图源：/home/admin123/liminghe/VLA-WAM-RL/10-研究主题/开题材料/2026-10-17/图/生成式高层/图2-自身VLM记忆与子任务生成.png</a:t>
            </a:r>
          </a:p>
          <a:p>
            <a:r>
              <a:t>完整来源：/home/admin123/liminghe/VLA-WAM-RL/10-研究主题/开题材料/2026-10-17/图/图源与论证说明.md</a:t>
            </a:r>
          </a:p>
          <a:p>
            <a:r>
              <a:t>报告正文：/home/admin123/liminghe/VLA-WAM-RL/10-研究主题/开题材料/2026-10-17/04-开题报告扩展稿-图文版.md</a:t>
            </a:r>
          </a:p>
          <a:p>
            <a:r>
              <a:t>素材性质：MICA平台照片为SO-100／LACE实拍，RM65-B画面来自既有仿真，干式样品场景为AI生成概念图。此PPT中的机制示意不构成新的实验结果。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图3.3 生成式高层与动作专家的训练目标及梯度流向
Figure 3.3 Training objectives and gradient routing for high level generation and the action expert</a:t>
            </a:r>
          </a:p>
          <a:p>
            <a:r>
              <a:t>高层读写／子任务CE与FAST CE更新VLM。连续FM更新专家，在K/V处停止梯度。独立价值模型由MC回报分箱CE更新。优势只作标签，工具正文不计CE，专家不读取FAST答案。</a:t>
            </a:r>
          </a:p>
          <a:p>
            <a:r>
              <a:t>对应报告图源：/home/admin123/liminghe/VLA-WAM-RL/10-研究主题/开题材料/2026-10-17/图/生成式高层/图4-生成式高层目标与梯度路由.png</a:t>
            </a:r>
          </a:p>
          <a:p>
            <a:r>
              <a:t>完整来源：/home/admin123/liminghe/VLA-WAM-RL/10-研究主题/开题材料/2026-10-17/图/图源与论证说明.md</a:t>
            </a:r>
          </a:p>
          <a:p>
            <a:r>
              <a:t>报告正文：/home/admin123/liminghe/VLA-WAM-RL/10-研究主题/开题材料/2026-10-17/04-开题报告扩展稿-图文版.md</a:t>
            </a:r>
          </a:p>
          <a:p>
            <a:r>
              <a:t>素材性质：MICA平台照片为SO-100／LACE实拍，RM65-B画面来自既有仿真，干式样品场景为AI生成概念图。此PPT中的机制示意不构成新的实验结果。</a:t>
            </a:r>
          </a:p>
          <a:p>
            <a:r>
              <a:t>相关原文：RECAP https://arxiv.org/abs/2511.14759；Knowledge Insulation https://arxiv.org/abs/2505.23705；MEM https://www.pi.website/download/Mem.pdf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图3.4 基于物理续跑的记忆信用估计
Figure 3.4 Memory credit estimation through physical continuation rollouts</a:t>
            </a:r>
          </a:p>
          <a:p>
            <a:r>
              <a:t>同一扩展起点、后续策略参数与信息预算，对比合法记忆操作。后续决策与动作可变化，可信差异用于辅助偏好。各分支交互计入成本。</a:t>
            </a:r>
          </a:p>
          <a:p>
            <a:r>
              <a:t>对应报告图源：/home/admin123/liminghe/VLA-WAM-RL/10-研究主题/开题材料/2026-10-17/图/论文风格/图5-物理后果记忆信用估计-论文风格.png</a:t>
            </a:r>
          </a:p>
          <a:p>
            <a:r>
              <a:t>完整来源：/home/admin123/liminghe/VLA-WAM-RL/10-研究主题/开题材料/2026-10-17/图/图源与论证说明.md</a:t>
            </a:r>
          </a:p>
          <a:p>
            <a:r>
              <a:t>报告正文：/home/admin123/liminghe/VLA-WAM-RL/10-研究主题/开题材料/2026-10-17/04-开题报告扩展稿-图文版.md</a:t>
            </a:r>
          </a:p>
          <a:p>
            <a:r>
              <a:t>素材性质：MICA平台照片为SO-100／LACE实拍，RM65-B画面来自既有仿真，干式样品场景为AI生成概念图。此PPT中的机制示意不构成新的实验结果。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图3.2 分阶段实验验证路线与收缩条件
Figure 3.2 Staged experimental validation and criteria for narrowing the research scope</a:t>
            </a:r>
          </a:p>
          <a:p>
            <a:r>
              <a:t>自绘研究计划，全部分支重放与刷新成本纳入预算。未通过恢复门槛不生成主要信用标签。</a:t>
            </a:r>
          </a:p>
          <a:p>
            <a:r>
              <a:t>对应报告图源：/home/admin123/liminghe/VLA-WAM-RL/10-研究主题/开题材料/2026-10-17/图/图6-实验验证与否决路径.png</a:t>
            </a:r>
          </a:p>
          <a:p>
            <a:r>
              <a:t>完整来源：/home/admin123/liminghe/VLA-WAM-RL/10-研究主题/开题材料/2026-10-17/图/图源与论证说明.md</a:t>
            </a:r>
          </a:p>
          <a:p>
            <a:r>
              <a:t>报告正文：/home/admin123/liminghe/VLA-WAM-RL/10-研究主题/开题材料/2026-10-17/04-开题报告扩展稿-图文版.md</a:t>
            </a:r>
          </a:p>
          <a:p>
            <a:r>
              <a:t>素材性质：MICA平台照片为SO-100／LACE实拍，RM65-B画面来自既有仿真，干式样品场景为AI生成概念图。此PPT中的机制示意不构成新的实验结果。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图1.1 π0.5在未见家庭厨房中的多任务操作示例。</a:t>
            </a:r>
          </a:p>
          <a:p xmlns:a="http://schemas.openxmlformats.org/drawingml/2006/main">
            <a:r>
              <a:t>Figure 1.1 Examples of π0.5 performing tasks in an unseen home kitchen.</a:t>
            </a:r>
          </a:p>
          <a:p xmlns:a="http://schemas.openxmlformats.org/drawingml/2006/main">
            <a:r>
              <a:t>来源：文献[2]，arXiv:2504.16054v1，原图2，PDF物理第2页，2025-04-22。</a:t>
            </a:r>
          </a:p>
          <a:p xmlns:a="http://schemas.openxmlformats.org/drawingml/2006/main">
            <a:r>
              <a:t>https://arxiv.org/abs/2504.16054v1</a:t>
            </a:r>
          </a:p>
          <a:p xmlns:a="http://schemas.openxmlformats.org/drawingml/2006/main">
            <a:r>
              <a:t>https://www.pi.website/blog/pi05</a:t>
            </a:r>
          </a:p>
          <a:p xmlns:a="http://schemas.openxmlformats.org/drawingml/2006/main">
            <a:r>
              <a:t>原图仅经过PDF光栅化和矩形裁切，无生成、修图、标签改写或面板重排。保留原英文任务标签。各任务示例不等于单条连续轨迹，不是本地RM65-B实验结果，不代表公开权重已经具备项目记忆接口。</a:t>
            </a:r>
          </a:p>
          <a:p xmlns:a="http://schemas.openxmlformats.org/drawingml/2006/main">
            <a:r>
              <a:t>本页标题、中英文图注、来源和说明均为原生可编辑文字；照片为独立可替换图片，原图内部文字属于原始图像。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图1.2 RoboChemist的多步骤化学实验执行示例。</a:t>
            </a:r>
          </a:p>
          <a:p xmlns:a="http://schemas.openxmlformats.org/drawingml/2006/main">
            <a:r>
              <a:t>Figure 1.2 Examples of multi-step chemical experimentation with RoboChemist.</a:t>
            </a:r>
          </a:p>
          <a:p xmlns:a="http://schemas.openxmlformats.org/drawingml/2006/main">
            <a:r>
              <a:t>来源：本次重排后的文献[3]，正式CoRL 2025/PMLR 305论文，原图4，PDF物理第7页/会议论文集第3543页。</a:t>
            </a:r>
          </a:p>
          <a:p xmlns:a="http://schemas.openxmlformats.org/drawingml/2006/main">
            <a:r>
              <a:t>https://proceedings.mlr.press/v305/zhang25i.html</a:t>
            </a:r>
          </a:p>
          <a:p xmlns:a="http://schemas.openxmlformats.org/drawingml/2006/main">
            <a:r>
              <a:t>https://zzongzheng0918.github.io/RoboChemist.github.io/</a:t>
            </a:r>
          </a:p>
          <a:p xmlns:a="http://schemas.openxmlformats.org/drawingml/2006/main">
            <a:r>
              <a:t>原图仅经过PDF光栅化和矩形裁切，无生成、修图、标签改写或面板重排。保留原始面板、任务标签和照片。平台为原作者的Cobot Magic ALOHA；不是本项目RM65-B结果，也不是RL训练记忆的证据。</a:t>
            </a:r>
          </a:p>
          <a:p xmlns:a="http://schemas.openxmlformats.org/drawingml/2006/main">
            <a:r>
              <a:t>本页标题、中英文图注、来源和说明均为原生可编辑文字；照片为独立可替换图片，原图内部文字属于原始图像。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524000" y="4318000"/>
            <a:ext cx="12192000" cy="1651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286000" y="6286500"/>
            <a:ext cx="10668000" cy="127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524000" y="4762500"/>
            <a:ext cx="12192000" cy="1905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889000"/>
            <a:ext cx="13525500" cy="1397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857250" y="3175000"/>
            <a:ext cx="13525500" cy="711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857250" y="889000"/>
            <a:ext cx="13525500" cy="1397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3175000"/>
            <a:ext cx="6286500" cy="711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8096250" y="3175000"/>
            <a:ext cx="6286500" cy="711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889000"/>
            <a:ext cx="13525500" cy="1397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3175000"/>
            <a:ext cx="6286500" cy="711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f236156eedb04690"/><Relationship Type="http://schemas.openxmlformats.org/officeDocument/2006/relationships/image" Target="../media/mem-v2-fig1-upper-memory-tasks.png" Id="Recd5eb002c2e49f8"/><Relationship Type="http://schemas.openxmlformats.org/officeDocument/2006/relationships/notesSlide" Target="../notesSlides/notesSlide1.xml" Id="Rbdaa90fca29f4f8f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b3bf68a429d14259"/><Relationship Type="http://schemas.openxmlformats.org/officeDocument/2006/relationships/image" Target="../media/image4.png" Id="R2eb1dbc84f5b4a78"/><Relationship Type="http://schemas.openxmlformats.org/officeDocument/2006/relationships/notesSlide" Target="../notesSlides/notesSlide7.xml" Id="R9644b7596ec047b5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c5dc42fec4b04843"/><Relationship Type="http://schemas.openxmlformats.org/officeDocument/2006/relationships/image" Target="../media/image5.png" Id="Rb862f6f40d5c4071"/><Relationship Type="http://schemas.openxmlformats.org/officeDocument/2006/relationships/notesSlide" Target="../notesSlides/notesSlide8.xml" Id="R7061e2007bb74822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em-title">
            <a:extLst xmlns:a="http://schemas.openxmlformats.org/drawingml/2006/main">
              <a:ext uri="{FF2B5EF4-FFF2-40B4-BE49-F238E27FC236}">
                <a16:creationId xmlns:a16="http://schemas.microsoft.com/office/drawing/2014/main" id="{1835E15B-0807-4AF4-B8B1-3A9DDDAE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4439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rPr>
              <a:t>MEM的长时程与部分可观测操作</a:t>
            </a:r>
          </a:p>
        </p:txBody>
      </p:sp>
      <p:sp>
        <p:nvSpPr>
          <p:cNvPr id="2" name="mem-subtitle">
            <a:extLst xmlns:a="http://schemas.openxmlformats.org/drawingml/2006/main">
              <a:ext uri="{FF2B5EF4-FFF2-40B4-BE49-F238E27FC236}">
                <a16:creationId xmlns:a16="http://schemas.microsoft.com/office/drawing/2014/main" id="{DC37B315-F17B-4642-B0DA-85ED1B77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81125"/>
            <a:ext cx="1438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长时程任务与依赖执行历史的真实机器人任务示例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FBB3B-7BC4-44DD-8A54-9EC75CC3B4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5eb002c2e49f8"/>
          <a:stretch xmlns:a="http://schemas.openxmlformats.org/drawingml/2006/main"/>
        </p:blipFill>
        <p:spPr>
          <a:xfrm xmlns:a="http://schemas.openxmlformats.org/drawingml/2006/main">
            <a:off x="1809750" y="1986786"/>
            <a:ext cx="11620500" cy="7416423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-zh">
            <a:extLst xmlns:a="http://schemas.openxmlformats.org/drawingml/2006/main">
              <a:ext uri="{FF2B5EF4-FFF2-40B4-BE49-F238E27FC236}">
                <a16:creationId xmlns:a16="http://schemas.microsoft.com/office/drawing/2014/main" id="{6F2E94FB-615D-42B3-938F-A15002AA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82150"/>
            <a:ext cx="1440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rPr>
              <a:t>图1.3 MEM的长时程与部分可观测操作任务示例（引自文献[15]原图1上部）</a:t>
            </a:r>
          </a:p>
        </p:txBody>
      </p:sp>
      <p:sp>
        <p:nvSpPr>
          <p:cNvPr id="5" name="figure-caption-en">
            <a:extLst xmlns:a="http://schemas.openxmlformats.org/drawingml/2006/main">
              <a:ext uri="{FF2B5EF4-FFF2-40B4-BE49-F238E27FC236}">
                <a16:creationId xmlns:a16="http://schemas.microsoft.com/office/drawing/2014/main" id="{11C9AC56-A388-4D07-9926-55903217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153650"/>
            <a:ext cx="1440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Figure 1.3 Long-horizon and partially observable tasks in MEM.</a:t>
            </a:r>
          </a:p>
        </p:txBody>
      </p:sp>
      <p:sp>
        <p:nvSpPr>
          <p:cNvPr id="6" name="figure-source">
            <a:extLst xmlns:a="http://schemas.openxmlformats.org/drawingml/2006/main">
              <a:ext uri="{FF2B5EF4-FFF2-40B4-BE49-F238E27FC236}">
                <a16:creationId xmlns:a16="http://schemas.microsoft.com/office/drawing/2014/main" id="{0E2E5804-9EDB-4DE5-95AA-F6E61B16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29900"/>
            <a:ext cx="1440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来源：文献[15]，arXiv:2603.03596v2，原图1上部，PDF第1页</a:t>
            </a:r>
          </a:p>
        </p:txBody>
      </p:sp>
      <p:sp>
        <p:nvSpPr>
          <p:cNvPr id="7" name="figure-scope">
            <a:extLst xmlns:a="http://schemas.openxmlformats.org/drawingml/2006/main">
              <a:ext uri="{FF2B5EF4-FFF2-40B4-BE49-F238E27FC236}">
                <a16:creationId xmlns:a16="http://schemas.microsoft.com/office/drawing/2014/main" id="{C2C87E22-0A22-4604-A3F6-862C61D2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049000"/>
            <a:ext cx="1440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原作者报告，非本地结果；不构成RL记忆训练或在线参数自我更新的证据。</a:t>
            </a:r>
          </a:p>
        </p:txBody>
      </p:sp>
    </p:spTree>
    <p:extLst>
      <p:ext uri="{BB962C8B-B14F-4D97-AF65-F5344CB8AC3E}">
        <p14:creationId xmlns:p14="http://schemas.microsoft.com/office/powerpoint/2010/main" val="1669799523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3" name="f3-rect-000"/>
          <p:cNvSpPr>
            <a:spLocks noGrp="1"/>
          </p:cNvSpPr>
          <p:nvPr/>
        </p:nvSpPr>
        <p:spPr>
          <a:xfrm>
            <a:off x="0" y="476250"/>
            <a:ext cx="15240000" cy="10477500"/>
          </a:xfrm>
          <a:prstGeom prst="roundRect">
            <a:avLst>
              <a:gd name="adj" fmla="val 1091"/>
            </a:avLst>
          </a:prstGeom>
          <a:solidFill>
            <a:srgbClr val="FFFFFF"/>
          </a:solidFill>
          <a:ln w="17145">
            <a:noFill/>
            <a:prstDash val="solid"/>
          </a:ln>
        </p:spPr>
      </p:sp>
      <p:sp>
        <p:nvSpPr>
          <p:cNvPr id="2" name="f3-text-001-a"/>
          <p:cNvSpPr>
            <a:spLocks noGrp="1"/>
          </p:cNvSpPr>
          <p:nvPr/>
        </p:nvSpPr>
        <p:spPr>
          <a:xfrm>
            <a:off x="238125" y="556260"/>
            <a:ext cx="320427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30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" name="f3-text-002-多模态观测"/>
          <p:cNvSpPr>
            <a:spLocks noGrp="1"/>
          </p:cNvSpPr>
          <p:nvPr/>
        </p:nvSpPr>
        <p:spPr>
          <a:xfrm>
            <a:off x="647700" y="615696"/>
            <a:ext cx="171450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多模态观测</a:t>
            </a:r>
            <a:endParaRPr sz="25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" name="f3-text-003-b"/>
          <p:cNvSpPr>
            <a:spLocks noGrp="1"/>
          </p:cNvSpPr>
          <p:nvPr/>
        </p:nvSpPr>
        <p:spPr>
          <a:xfrm>
            <a:off x="4238625" y="556260"/>
            <a:ext cx="340612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30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" name="f3-text-004-自身 VLM：记忆与文本生成"/>
          <p:cNvSpPr>
            <a:spLocks noGrp="1"/>
          </p:cNvSpPr>
          <p:nvPr/>
        </p:nvSpPr>
        <p:spPr>
          <a:xfrm>
            <a:off x="4648200" y="615696"/>
            <a:ext cx="4071175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自身 VLM：记忆与文本生成</a:t>
            </a:r>
            <a:endParaRPr sz="25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" name="f3-text-005-c"/>
          <p:cNvSpPr>
            <a:spLocks noGrp="1"/>
          </p:cNvSpPr>
          <p:nvPr/>
        </p:nvSpPr>
        <p:spPr>
          <a:xfrm>
            <a:off x="11191875" y="556260"/>
            <a:ext cx="296038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c</a:t>
            </a:r>
            <a:endParaRPr sz="30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" name="f3-text-006-连续动作与物理闭环"/>
          <p:cNvSpPr>
            <a:spLocks noGrp="1"/>
          </p:cNvSpPr>
          <p:nvPr/>
        </p:nvSpPr>
        <p:spPr>
          <a:xfrm>
            <a:off x="11601450" y="615696"/>
            <a:ext cx="300990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连续动作与物理闭环</a:t>
            </a:r>
            <a:endParaRPr sz="25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rcRect l="50000" t="12054" b="52393"/>
          <a:stretch>
            <a:fillRect/>
          </a:stretch>
        </p:blipFill>
        <p:spPr>
          <a:xfrm>
            <a:off x="333375" y="1285875"/>
            <a:ext cx="3381375" cy="1885950"/>
          </a:xfrm>
          <a:prstGeom prst="roundRect">
            <a:avLst>
              <a:gd name="adj" fmla="val 5051"/>
            </a:avLst>
          </a:prstGeom>
        </p:spPr>
      </p:pic>
      <p:sp>
        <p:nvSpPr>
          <p:cNvPr id="9" name="f3-rect-008"/>
          <p:cNvSpPr>
            <a:spLocks noGrp="1"/>
          </p:cNvSpPr>
          <p:nvPr/>
        </p:nvSpPr>
        <p:spPr>
          <a:xfrm>
            <a:off x="333375" y="1285875"/>
            <a:ext cx="3381375" cy="1885950"/>
          </a:xfrm>
          <a:prstGeom prst="roundRect">
            <a:avLst>
              <a:gd name="adj" fmla="val 5051"/>
            </a:avLst>
          </a:prstGeom>
          <a:noFill/>
          <a:ln w="14288">
            <a:solidFill>
              <a:srgbClr val="D9E0E6"/>
            </a:solidFill>
            <a:prstDash val="solid"/>
          </a:ln>
        </p:spPr>
      </p:sp>
      <p:sp>
        <p:nvSpPr>
          <p:cNvPr id="10" name="f3-rect-009"/>
          <p:cNvSpPr>
            <a:spLocks noGrp="1"/>
          </p:cNvSpPr>
          <p:nvPr/>
        </p:nvSpPr>
        <p:spPr>
          <a:xfrm>
            <a:off x="466725" y="1400175"/>
            <a:ext cx="1238250" cy="400050"/>
          </a:xfrm>
          <a:prstGeom prst="roundRect">
            <a:avLst>
              <a:gd name="adj" fmla="val 19048"/>
            </a:avLst>
          </a:prstGeom>
          <a:solidFill>
            <a:srgbClr val="ECF3FA"/>
          </a:solidFill>
          <a:ln w="17145">
            <a:noFill/>
            <a:prstDash val="solid"/>
          </a:ln>
        </p:spPr>
      </p:sp>
      <p:sp>
        <p:nvSpPr>
          <p:cNvPr id="11" name="f3-text-010-头部 RGB"/>
          <p:cNvSpPr>
            <a:spLocks noGrp="1"/>
          </p:cNvSpPr>
          <p:nvPr/>
        </p:nvSpPr>
        <p:spPr>
          <a:xfrm>
            <a:off x="525410" y="1438275"/>
            <a:ext cx="1120880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头部 RGB</a:t>
            </a:r>
            <a:endParaRPr sz="187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/>
          <a:srcRect l="3754" t="55179" r="53754"/>
          <a:stretch>
            <a:fillRect/>
          </a:stretch>
        </p:blipFill>
        <p:spPr>
          <a:xfrm>
            <a:off x="333375" y="3362325"/>
            <a:ext cx="1600200" cy="1323975"/>
          </a:xfrm>
          <a:prstGeom prst="roundRect">
            <a:avLst>
              <a:gd name="adj" fmla="val 7194"/>
            </a:avLst>
          </a:prstGeom>
        </p:spPr>
      </p:pic>
      <p:sp>
        <p:nvSpPr>
          <p:cNvPr id="13" name="f3-rect-012"/>
          <p:cNvSpPr>
            <a:spLocks noGrp="1"/>
          </p:cNvSpPr>
          <p:nvPr/>
        </p:nvSpPr>
        <p:spPr>
          <a:xfrm>
            <a:off x="333375" y="3362325"/>
            <a:ext cx="1600200" cy="1323975"/>
          </a:xfrm>
          <a:prstGeom prst="roundRect">
            <a:avLst>
              <a:gd name="adj" fmla="val 7194"/>
            </a:avLst>
          </a:prstGeom>
          <a:noFill/>
          <a:ln w="14288">
            <a:solidFill>
              <a:srgbClr val="D9E0E6"/>
            </a:solidFill>
            <a:prstDash val="solid"/>
          </a:ln>
        </p:spPr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1"/>
          <a:srcRect l="53754" t="55179" r="3754"/>
          <a:stretch>
            <a:fillRect/>
          </a:stretch>
        </p:blipFill>
        <p:spPr>
          <a:xfrm>
            <a:off x="2114550" y="3362325"/>
            <a:ext cx="1600200" cy="1323975"/>
          </a:xfrm>
          <a:prstGeom prst="roundRect">
            <a:avLst>
              <a:gd name="adj" fmla="val 7194"/>
            </a:avLst>
          </a:prstGeom>
        </p:spPr>
      </p:pic>
      <p:sp>
        <p:nvSpPr>
          <p:cNvPr id="15" name="f3-rect-014"/>
          <p:cNvSpPr>
            <a:spLocks noGrp="1"/>
          </p:cNvSpPr>
          <p:nvPr/>
        </p:nvSpPr>
        <p:spPr>
          <a:xfrm>
            <a:off x="2114550" y="3362325"/>
            <a:ext cx="1600200" cy="1323975"/>
          </a:xfrm>
          <a:prstGeom prst="roundRect">
            <a:avLst>
              <a:gd name="adj" fmla="val 7194"/>
            </a:avLst>
          </a:prstGeom>
          <a:noFill/>
          <a:ln w="14288">
            <a:solidFill>
              <a:srgbClr val="D9E0E6"/>
            </a:solidFill>
            <a:prstDash val="solid"/>
          </a:ln>
        </p:spPr>
      </p:sp>
      <p:sp>
        <p:nvSpPr>
          <p:cNvPr id="16" name="f3-rect-015"/>
          <p:cNvSpPr>
            <a:spLocks noGrp="1"/>
          </p:cNvSpPr>
          <p:nvPr/>
        </p:nvSpPr>
        <p:spPr>
          <a:xfrm>
            <a:off x="400050" y="4200525"/>
            <a:ext cx="1400175" cy="400050"/>
          </a:xfrm>
          <a:prstGeom prst="roundRect">
            <a:avLst>
              <a:gd name="adj" fmla="val 19048"/>
            </a:avLst>
          </a:prstGeom>
          <a:solidFill>
            <a:srgbClr val="ECF3FA"/>
          </a:solidFill>
          <a:ln w="17145">
            <a:noFill/>
            <a:prstDash val="solid"/>
          </a:ln>
        </p:spPr>
      </p:sp>
      <p:sp>
        <p:nvSpPr>
          <p:cNvPr id="17" name="f3-text-016-左腕 RGB"/>
          <p:cNvSpPr>
            <a:spLocks noGrp="1"/>
          </p:cNvSpPr>
          <p:nvPr/>
        </p:nvSpPr>
        <p:spPr>
          <a:xfrm>
            <a:off x="560236" y="4248531"/>
            <a:ext cx="1079804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左腕 RGB</a:t>
            </a:r>
            <a:endParaRPr sz="18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8" name="f3-rect-017"/>
          <p:cNvSpPr>
            <a:spLocks noGrp="1"/>
          </p:cNvSpPr>
          <p:nvPr/>
        </p:nvSpPr>
        <p:spPr>
          <a:xfrm>
            <a:off x="2209800" y="4200525"/>
            <a:ext cx="1400175" cy="400050"/>
          </a:xfrm>
          <a:prstGeom prst="roundRect">
            <a:avLst>
              <a:gd name="adj" fmla="val 19048"/>
            </a:avLst>
          </a:prstGeom>
          <a:solidFill>
            <a:srgbClr val="ECF3FA"/>
          </a:solidFill>
          <a:ln w="17145">
            <a:noFill/>
            <a:prstDash val="solid"/>
          </a:ln>
        </p:spPr>
      </p:sp>
      <p:sp>
        <p:nvSpPr>
          <p:cNvPr id="19" name="f3-text-018-右腕 RGB"/>
          <p:cNvSpPr>
            <a:spLocks noGrp="1"/>
          </p:cNvSpPr>
          <p:nvPr/>
        </p:nvSpPr>
        <p:spPr>
          <a:xfrm>
            <a:off x="2369986" y="4248531"/>
            <a:ext cx="1079804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右腕 RGB</a:t>
            </a:r>
            <a:endParaRPr sz="18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0" name="f3-text-019-既有 RM65-B 仿真观测"/>
          <p:cNvSpPr>
            <a:spLocks noGrp="1"/>
          </p:cNvSpPr>
          <p:nvPr/>
        </p:nvSpPr>
        <p:spPr>
          <a:xfrm>
            <a:off x="285750" y="4780788"/>
            <a:ext cx="2669307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既有 RM65-B 仿真观测</a:t>
            </a:r>
            <a:endParaRPr sz="202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1" name="f3-rect-020"/>
          <p:cNvSpPr>
            <a:spLocks noGrp="1"/>
          </p:cNvSpPr>
          <p:nvPr/>
        </p:nvSpPr>
        <p:spPr>
          <a:xfrm>
            <a:off x="333375" y="5410200"/>
            <a:ext cx="3381375" cy="1771650"/>
          </a:xfrm>
          <a:prstGeom prst="roundRect">
            <a:avLst>
              <a:gd name="adj" fmla="val 6452"/>
            </a:avLst>
          </a:prstGeom>
          <a:solidFill>
            <a:srgbClr val="F7F9FB"/>
          </a:solidFill>
          <a:ln w="17145">
            <a:solidFill>
              <a:srgbClr val="D9E0E6"/>
            </a:solidFill>
            <a:prstDash val="solid"/>
          </a:ln>
        </p:spPr>
      </p:sp>
      <p:sp>
        <p:nvSpPr>
          <p:cNvPr id="22" name="f3-text-021-24 维臂手状态"/>
          <p:cNvSpPr>
            <a:spLocks noGrp="1"/>
          </p:cNvSpPr>
          <p:nvPr/>
        </p:nvSpPr>
        <p:spPr>
          <a:xfrm>
            <a:off x="457200" y="5474208"/>
            <a:ext cx="2048117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24 维臂手状态</a:t>
            </a:r>
            <a:endParaRPr sz="24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3" name="f3-path-022"/>
          <p:cNvSpPr>
            <a:spLocks noGrp="1"/>
          </p:cNvSpPr>
          <p:nvPr/>
        </p:nvSpPr>
        <p:spPr>
          <a:xfrm>
            <a:off x="552450" y="6000750"/>
            <a:ext cx="2800350" cy="838200"/>
          </a:xfrm>
          <a:custGeom>
            <a:avLst/>
            <a:gdLst/>
            <a:ahLst/>
            <a:cxnLst/>
            <a:pathLst>
              <a:path w="2800350" h="838200">
                <a:moveTo>
                  <a:pt x="0" y="838200"/>
                </a:moveTo>
                <a:lnTo>
                  <a:pt x="0" y="0"/>
                </a:lnTo>
                <a:moveTo>
                  <a:pt x="0" y="838200"/>
                </a:moveTo>
                <a:lnTo>
                  <a:pt x="2800350" y="838200"/>
                </a:lnTo>
              </a:path>
            </a:pathLst>
          </a:custGeom>
          <a:noFill/>
          <a:ln w="14288">
            <a:solidFill>
              <a:srgbClr val="D9E0E6"/>
            </a:solidFill>
            <a:prstDash val="solid"/>
          </a:ln>
        </p:spPr>
      </p:sp>
      <p:sp>
        <p:nvSpPr>
          <p:cNvPr id="24" name="f3-path-023"/>
          <p:cNvSpPr>
            <a:spLocks noGrp="1"/>
          </p:cNvSpPr>
          <p:nvPr/>
        </p:nvSpPr>
        <p:spPr>
          <a:xfrm>
            <a:off x="552450" y="6234113"/>
            <a:ext cx="2800350" cy="356235"/>
          </a:xfrm>
          <a:custGeom>
            <a:avLst/>
            <a:gdLst/>
            <a:ahLst/>
            <a:cxnLst/>
            <a:pathLst>
              <a:path w="2800350" h="356235">
                <a:moveTo>
                  <a:pt x="0" y="185738"/>
                </a:moveTo>
                <a:lnTo>
                  <a:pt x="63818" y="224790"/>
                </a:lnTo>
                <a:lnTo>
                  <a:pt x="127635" y="260985"/>
                </a:lnTo>
                <a:lnTo>
                  <a:pt x="190500" y="291465"/>
                </a:lnTo>
                <a:lnTo>
                  <a:pt x="254318" y="314325"/>
                </a:lnTo>
                <a:lnTo>
                  <a:pt x="318135" y="328613"/>
                </a:lnTo>
                <a:lnTo>
                  <a:pt x="381952" y="337185"/>
                </a:lnTo>
                <a:lnTo>
                  <a:pt x="445770" y="340043"/>
                </a:lnTo>
                <a:lnTo>
                  <a:pt x="509588" y="340043"/>
                </a:lnTo>
                <a:lnTo>
                  <a:pt x="572453" y="339090"/>
                </a:lnTo>
                <a:lnTo>
                  <a:pt x="636270" y="339090"/>
                </a:lnTo>
                <a:lnTo>
                  <a:pt x="700088" y="341947"/>
                </a:lnTo>
                <a:lnTo>
                  <a:pt x="763905" y="346710"/>
                </a:lnTo>
                <a:lnTo>
                  <a:pt x="827723" y="351472"/>
                </a:lnTo>
                <a:lnTo>
                  <a:pt x="890588" y="356235"/>
                </a:lnTo>
                <a:lnTo>
                  <a:pt x="954405" y="355282"/>
                </a:lnTo>
                <a:lnTo>
                  <a:pt x="1018223" y="349568"/>
                </a:lnTo>
                <a:lnTo>
                  <a:pt x="1082040" y="335280"/>
                </a:lnTo>
                <a:lnTo>
                  <a:pt x="1145858" y="313372"/>
                </a:lnTo>
                <a:lnTo>
                  <a:pt x="1209675" y="282893"/>
                </a:lnTo>
                <a:lnTo>
                  <a:pt x="1272540" y="246697"/>
                </a:lnTo>
                <a:lnTo>
                  <a:pt x="1336358" y="208597"/>
                </a:lnTo>
                <a:lnTo>
                  <a:pt x="1400175" y="169545"/>
                </a:lnTo>
                <a:lnTo>
                  <a:pt x="1463993" y="134303"/>
                </a:lnTo>
                <a:lnTo>
                  <a:pt x="1527810" y="104775"/>
                </a:lnTo>
                <a:lnTo>
                  <a:pt x="1590675" y="81915"/>
                </a:lnTo>
                <a:lnTo>
                  <a:pt x="1654493" y="65722"/>
                </a:lnTo>
                <a:lnTo>
                  <a:pt x="1718310" y="56197"/>
                </a:lnTo>
                <a:lnTo>
                  <a:pt x="1782128" y="50482"/>
                </a:lnTo>
                <a:lnTo>
                  <a:pt x="1845945" y="47625"/>
                </a:lnTo>
                <a:lnTo>
                  <a:pt x="1909763" y="43815"/>
                </a:lnTo>
                <a:lnTo>
                  <a:pt x="1972628" y="38100"/>
                </a:lnTo>
                <a:lnTo>
                  <a:pt x="2036445" y="30480"/>
                </a:lnTo>
                <a:lnTo>
                  <a:pt x="2100263" y="20003"/>
                </a:lnTo>
                <a:lnTo>
                  <a:pt x="2164080" y="10478"/>
                </a:lnTo>
                <a:lnTo>
                  <a:pt x="2227898" y="2857"/>
                </a:lnTo>
                <a:lnTo>
                  <a:pt x="2290763" y="0"/>
                </a:lnTo>
                <a:lnTo>
                  <a:pt x="2354580" y="4763"/>
                </a:lnTo>
                <a:lnTo>
                  <a:pt x="2418398" y="17145"/>
                </a:lnTo>
                <a:lnTo>
                  <a:pt x="2482215" y="39053"/>
                </a:lnTo>
                <a:lnTo>
                  <a:pt x="2546033" y="68580"/>
                </a:lnTo>
                <a:lnTo>
                  <a:pt x="2609850" y="102870"/>
                </a:lnTo>
                <a:lnTo>
                  <a:pt x="2672715" y="140970"/>
                </a:lnTo>
                <a:lnTo>
                  <a:pt x="2736533" y="179070"/>
                </a:lnTo>
                <a:lnTo>
                  <a:pt x="2800350" y="213360"/>
                </a:lnTo>
              </a:path>
            </a:pathLst>
          </a:custGeom>
          <a:noFill/>
          <a:ln w="25718">
            <a:solidFill>
              <a:srgbClr val="346CA0"/>
            </a:solidFill>
            <a:prstDash val="solid"/>
          </a:ln>
        </p:spPr>
      </p:sp>
      <p:sp>
        <p:nvSpPr>
          <p:cNvPr id="25" name="f3-path-024"/>
          <p:cNvSpPr>
            <a:spLocks noGrp="1"/>
          </p:cNvSpPr>
          <p:nvPr/>
        </p:nvSpPr>
        <p:spPr>
          <a:xfrm>
            <a:off x="552450" y="6242685"/>
            <a:ext cx="2800350" cy="417195"/>
          </a:xfrm>
          <a:custGeom>
            <a:avLst/>
            <a:gdLst/>
            <a:ahLst/>
            <a:cxnLst/>
            <a:pathLst>
              <a:path w="2800350" h="417195">
                <a:moveTo>
                  <a:pt x="0" y="401955"/>
                </a:moveTo>
                <a:lnTo>
                  <a:pt x="63818" y="414338"/>
                </a:lnTo>
                <a:lnTo>
                  <a:pt x="127635" y="417195"/>
                </a:lnTo>
                <a:lnTo>
                  <a:pt x="190500" y="410528"/>
                </a:lnTo>
                <a:lnTo>
                  <a:pt x="254318" y="396240"/>
                </a:lnTo>
                <a:lnTo>
                  <a:pt x="318135" y="375285"/>
                </a:lnTo>
                <a:lnTo>
                  <a:pt x="381952" y="352425"/>
                </a:lnTo>
                <a:lnTo>
                  <a:pt x="445770" y="329565"/>
                </a:lnTo>
                <a:lnTo>
                  <a:pt x="509588" y="308610"/>
                </a:lnTo>
                <a:lnTo>
                  <a:pt x="572453" y="290513"/>
                </a:lnTo>
                <a:lnTo>
                  <a:pt x="636270" y="276225"/>
                </a:lnTo>
                <a:lnTo>
                  <a:pt x="700088" y="263843"/>
                </a:lnTo>
                <a:lnTo>
                  <a:pt x="763905" y="252413"/>
                </a:lnTo>
                <a:lnTo>
                  <a:pt x="827723" y="238125"/>
                </a:lnTo>
                <a:lnTo>
                  <a:pt x="890588" y="220980"/>
                </a:lnTo>
                <a:lnTo>
                  <a:pt x="954405" y="198120"/>
                </a:lnTo>
                <a:lnTo>
                  <a:pt x="1018223" y="170497"/>
                </a:lnTo>
                <a:lnTo>
                  <a:pt x="1082040" y="138113"/>
                </a:lnTo>
                <a:lnTo>
                  <a:pt x="1145858" y="103822"/>
                </a:lnTo>
                <a:lnTo>
                  <a:pt x="1209675" y="70485"/>
                </a:lnTo>
                <a:lnTo>
                  <a:pt x="1272540" y="40958"/>
                </a:lnTo>
                <a:lnTo>
                  <a:pt x="1336358" y="19050"/>
                </a:lnTo>
                <a:lnTo>
                  <a:pt x="1400175" y="4763"/>
                </a:lnTo>
                <a:lnTo>
                  <a:pt x="1463993" y="0"/>
                </a:lnTo>
                <a:lnTo>
                  <a:pt x="1527810" y="3810"/>
                </a:lnTo>
                <a:lnTo>
                  <a:pt x="1590675" y="16193"/>
                </a:lnTo>
                <a:lnTo>
                  <a:pt x="1654493" y="32385"/>
                </a:lnTo>
                <a:lnTo>
                  <a:pt x="1718310" y="51435"/>
                </a:lnTo>
                <a:lnTo>
                  <a:pt x="1782128" y="69533"/>
                </a:lnTo>
                <a:lnTo>
                  <a:pt x="1845945" y="85725"/>
                </a:lnTo>
                <a:lnTo>
                  <a:pt x="1909763" y="100013"/>
                </a:lnTo>
                <a:lnTo>
                  <a:pt x="1972628" y="110490"/>
                </a:lnTo>
                <a:lnTo>
                  <a:pt x="2036445" y="120015"/>
                </a:lnTo>
                <a:lnTo>
                  <a:pt x="2100263" y="130493"/>
                </a:lnTo>
                <a:lnTo>
                  <a:pt x="2164080" y="144780"/>
                </a:lnTo>
                <a:lnTo>
                  <a:pt x="2227898" y="162878"/>
                </a:lnTo>
                <a:lnTo>
                  <a:pt x="2290763" y="187643"/>
                </a:lnTo>
                <a:lnTo>
                  <a:pt x="2354580" y="218122"/>
                </a:lnTo>
                <a:lnTo>
                  <a:pt x="2418398" y="252413"/>
                </a:lnTo>
                <a:lnTo>
                  <a:pt x="2482215" y="288608"/>
                </a:lnTo>
                <a:lnTo>
                  <a:pt x="2546033" y="323850"/>
                </a:lnTo>
                <a:lnTo>
                  <a:pt x="2609850" y="355283"/>
                </a:lnTo>
                <a:lnTo>
                  <a:pt x="2672715" y="380047"/>
                </a:lnTo>
                <a:lnTo>
                  <a:pt x="2736533" y="395288"/>
                </a:lnTo>
                <a:lnTo>
                  <a:pt x="2800350" y="401955"/>
                </a:lnTo>
              </a:path>
            </a:pathLst>
          </a:custGeom>
          <a:noFill/>
          <a:ln w="25718">
            <a:solidFill>
              <a:srgbClr val="268575"/>
            </a:solidFill>
            <a:prstDash val="solid"/>
          </a:ln>
        </p:spPr>
      </p:sp>
      <p:sp>
        <p:nvSpPr>
          <p:cNvPr id="26" name="f3-path-025"/>
          <p:cNvSpPr>
            <a:spLocks noGrp="1"/>
          </p:cNvSpPr>
          <p:nvPr/>
        </p:nvSpPr>
        <p:spPr>
          <a:xfrm>
            <a:off x="552450" y="6278880"/>
            <a:ext cx="2800350" cy="404813"/>
          </a:xfrm>
          <a:custGeom>
            <a:avLst/>
            <a:gdLst/>
            <a:ahLst/>
            <a:cxnLst/>
            <a:pathLst>
              <a:path w="2800350" h="404813">
                <a:moveTo>
                  <a:pt x="0" y="349567"/>
                </a:moveTo>
                <a:lnTo>
                  <a:pt x="63818" y="320992"/>
                </a:lnTo>
                <a:lnTo>
                  <a:pt x="127635" y="285750"/>
                </a:lnTo>
                <a:lnTo>
                  <a:pt x="190500" y="248602"/>
                </a:lnTo>
                <a:lnTo>
                  <a:pt x="254318" y="210502"/>
                </a:lnTo>
                <a:lnTo>
                  <a:pt x="318135" y="176213"/>
                </a:lnTo>
                <a:lnTo>
                  <a:pt x="381952" y="147638"/>
                </a:lnTo>
                <a:lnTo>
                  <a:pt x="445770" y="124777"/>
                </a:lnTo>
                <a:lnTo>
                  <a:pt x="509588" y="108585"/>
                </a:lnTo>
                <a:lnTo>
                  <a:pt x="572453" y="97155"/>
                </a:lnTo>
                <a:lnTo>
                  <a:pt x="636270" y="88582"/>
                </a:lnTo>
                <a:lnTo>
                  <a:pt x="700088" y="80963"/>
                </a:lnTo>
                <a:lnTo>
                  <a:pt x="763905" y="72390"/>
                </a:lnTo>
                <a:lnTo>
                  <a:pt x="827723" y="61913"/>
                </a:lnTo>
                <a:lnTo>
                  <a:pt x="890588" y="48577"/>
                </a:lnTo>
                <a:lnTo>
                  <a:pt x="954405" y="33338"/>
                </a:lnTo>
                <a:lnTo>
                  <a:pt x="1018223" y="18097"/>
                </a:lnTo>
                <a:lnTo>
                  <a:pt x="1082040" y="6667"/>
                </a:lnTo>
                <a:lnTo>
                  <a:pt x="1145858" y="0"/>
                </a:lnTo>
                <a:lnTo>
                  <a:pt x="1209675" y="952"/>
                </a:lnTo>
                <a:lnTo>
                  <a:pt x="1272540" y="11430"/>
                </a:lnTo>
                <a:lnTo>
                  <a:pt x="1336358" y="30480"/>
                </a:lnTo>
                <a:lnTo>
                  <a:pt x="1400175" y="58102"/>
                </a:lnTo>
                <a:lnTo>
                  <a:pt x="1463993" y="91440"/>
                </a:lnTo>
                <a:lnTo>
                  <a:pt x="1527810" y="126682"/>
                </a:lnTo>
                <a:lnTo>
                  <a:pt x="1590675" y="162877"/>
                </a:lnTo>
                <a:lnTo>
                  <a:pt x="1654493" y="195263"/>
                </a:lnTo>
                <a:lnTo>
                  <a:pt x="1718310" y="221932"/>
                </a:lnTo>
                <a:lnTo>
                  <a:pt x="1782128" y="243840"/>
                </a:lnTo>
                <a:lnTo>
                  <a:pt x="1845945" y="260032"/>
                </a:lnTo>
                <a:lnTo>
                  <a:pt x="1909763" y="272415"/>
                </a:lnTo>
                <a:lnTo>
                  <a:pt x="1972628" y="282892"/>
                </a:lnTo>
                <a:lnTo>
                  <a:pt x="2036445" y="293370"/>
                </a:lnTo>
                <a:lnTo>
                  <a:pt x="2100263" y="305752"/>
                </a:lnTo>
                <a:lnTo>
                  <a:pt x="2164080" y="321945"/>
                </a:lnTo>
                <a:lnTo>
                  <a:pt x="2227898" y="340042"/>
                </a:lnTo>
                <a:lnTo>
                  <a:pt x="2290763" y="360045"/>
                </a:lnTo>
                <a:lnTo>
                  <a:pt x="2354580" y="379095"/>
                </a:lnTo>
                <a:lnTo>
                  <a:pt x="2418398" y="394335"/>
                </a:lnTo>
                <a:lnTo>
                  <a:pt x="2482215" y="403860"/>
                </a:lnTo>
                <a:lnTo>
                  <a:pt x="2546033" y="404813"/>
                </a:lnTo>
                <a:lnTo>
                  <a:pt x="2609850" y="396240"/>
                </a:lnTo>
                <a:lnTo>
                  <a:pt x="2672715" y="379095"/>
                </a:lnTo>
                <a:lnTo>
                  <a:pt x="2736533" y="353377"/>
                </a:lnTo>
                <a:lnTo>
                  <a:pt x="2800350" y="321945"/>
                </a:lnTo>
              </a:path>
            </a:pathLst>
          </a:custGeom>
          <a:noFill/>
          <a:ln w="25718">
            <a:solidFill>
              <a:srgbClr val="BA8135"/>
            </a:solidFill>
            <a:prstDash val="solid"/>
          </a:ln>
        </p:spPr>
      </p:sp>
      <p:sp>
        <p:nvSpPr>
          <p:cNvPr id="27" name="f3-text-026-关节与灵巧手本体状态"/>
          <p:cNvSpPr>
            <a:spLocks noGrp="1"/>
          </p:cNvSpPr>
          <p:nvPr/>
        </p:nvSpPr>
        <p:spPr>
          <a:xfrm>
            <a:off x="457200" y="6819519"/>
            <a:ext cx="2571750" cy="3343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关节与灵巧手本体状态</a:t>
            </a:r>
            <a:endParaRPr sz="195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8" name="f3-rect-027"/>
          <p:cNvSpPr>
            <a:spLocks noGrp="1"/>
          </p:cNvSpPr>
          <p:nvPr/>
        </p:nvSpPr>
        <p:spPr>
          <a:xfrm>
            <a:off x="333375" y="7686675"/>
            <a:ext cx="3381375" cy="1247775"/>
          </a:xfrm>
          <a:prstGeom prst="roundRect">
            <a:avLst>
              <a:gd name="adj" fmla="val 9160"/>
            </a:avLst>
          </a:prstGeom>
          <a:solidFill>
            <a:srgbClr val="EEF3F9"/>
          </a:solidFill>
          <a:ln w="17145">
            <a:solidFill>
              <a:srgbClr val="346CA0"/>
            </a:solidFill>
            <a:prstDash val="solid"/>
          </a:ln>
        </p:spPr>
      </p:sp>
      <p:sp>
        <p:nvSpPr>
          <p:cNvPr id="29" name="f3-text-028-总任务指令"/>
          <p:cNvSpPr>
            <a:spLocks noGrp="1"/>
          </p:cNvSpPr>
          <p:nvPr/>
        </p:nvSpPr>
        <p:spPr>
          <a:xfrm>
            <a:off x="476250" y="7751064"/>
            <a:ext cx="1571625" cy="3986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2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总任务指令</a:t>
            </a:r>
            <a:endParaRPr sz="232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0" name="f3-text-029-依次核验 A、B 并归位"/>
          <p:cNvSpPr>
            <a:spLocks noGrp="1"/>
          </p:cNvSpPr>
          <p:nvPr/>
        </p:nvSpPr>
        <p:spPr>
          <a:xfrm>
            <a:off x="476250" y="8200263"/>
            <a:ext cx="2593200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依次核验 A、B 并归位</a:t>
            </a:r>
            <a:endParaRPr sz="202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1" name="f3-path-030-arrow"/>
          <p:cNvSpPr>
            <a:spLocks noGrp="1"/>
          </p:cNvSpPr>
          <p:nvPr/>
        </p:nvSpPr>
        <p:spPr>
          <a:xfrm>
            <a:off x="3714750" y="2714625"/>
            <a:ext cx="571500" cy="9525"/>
          </a:xfrm>
          <a:custGeom>
            <a:avLst/>
            <a:gdLst/>
            <a:ahLst/>
            <a:cxnLst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>
            <a:solidFill>
              <a:srgbClr val="346CA0"/>
            </a:solidFill>
            <a:prstDash val="solid"/>
          </a:ln>
        </p:spPr>
      </p:sp>
      <p:sp>
        <p:nvSpPr>
          <p:cNvPr id="32" name="f3-path-030-arrow-head"/>
          <p:cNvSpPr>
            <a:spLocks noGrp="1"/>
          </p:cNvSpPr>
          <p:nvPr/>
        </p:nvSpPr>
        <p:spPr>
          <a:xfrm>
            <a:off x="4154805" y="2651531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33" name="f3-path-031-arrow"/>
          <p:cNvSpPr>
            <a:spLocks noGrp="1"/>
          </p:cNvSpPr>
          <p:nvPr/>
        </p:nvSpPr>
        <p:spPr>
          <a:xfrm>
            <a:off x="3714750" y="2714625"/>
            <a:ext cx="295275" cy="3571875"/>
          </a:xfrm>
          <a:custGeom>
            <a:avLst/>
            <a:gdLst/>
            <a:ahLst/>
            <a:cxnLst/>
            <a:pathLst>
              <a:path w="295275" h="3571875">
                <a:moveTo>
                  <a:pt x="0" y="3571875"/>
                </a:moveTo>
                <a:lnTo>
                  <a:pt x="295275" y="3571875"/>
                </a:lnTo>
                <a:lnTo>
                  <a:pt x="295275" y="0"/>
                </a:lnTo>
              </a:path>
            </a:pathLst>
          </a:custGeom>
          <a:noFill/>
          <a:ln w="23813">
            <a:solidFill>
              <a:srgbClr val="346CA0"/>
            </a:solidFill>
            <a:prstDash val="solid"/>
          </a:ln>
        </p:spPr>
      </p:sp>
      <p:sp>
        <p:nvSpPr>
          <p:cNvPr id="34" name="f3-path-031-arrow-head"/>
          <p:cNvSpPr>
            <a:spLocks noGrp="1"/>
          </p:cNvSpPr>
          <p:nvPr/>
        </p:nvSpPr>
        <p:spPr>
          <a:xfrm>
            <a:off x="3957447" y="2714625"/>
            <a:ext cx="105156" cy="109538"/>
          </a:xfrm>
          <a:custGeom>
            <a:avLst/>
            <a:gdLst/>
            <a:ahLst/>
            <a:cxnLst/>
            <a:pathLst>
              <a:path w="105156" h="109538">
                <a:moveTo>
                  <a:pt x="52578" y="0"/>
                </a:moveTo>
                <a:lnTo>
                  <a:pt x="0" y="109538"/>
                </a:lnTo>
                <a:lnTo>
                  <a:pt x="105156" y="109538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35" name="f3-path-032-arrow"/>
          <p:cNvSpPr>
            <a:spLocks noGrp="1"/>
          </p:cNvSpPr>
          <p:nvPr/>
        </p:nvSpPr>
        <p:spPr>
          <a:xfrm>
            <a:off x="3714750" y="2714625"/>
            <a:ext cx="295275" cy="5591175"/>
          </a:xfrm>
          <a:custGeom>
            <a:avLst/>
            <a:gdLst/>
            <a:ahLst/>
            <a:cxnLst/>
            <a:pathLst>
              <a:path w="295275" h="5591175">
                <a:moveTo>
                  <a:pt x="0" y="5591175"/>
                </a:moveTo>
                <a:lnTo>
                  <a:pt x="295275" y="5591175"/>
                </a:lnTo>
                <a:lnTo>
                  <a:pt x="295275" y="0"/>
                </a:lnTo>
              </a:path>
            </a:pathLst>
          </a:custGeom>
          <a:noFill/>
          <a:ln w="23813">
            <a:solidFill>
              <a:srgbClr val="346CA0"/>
            </a:solidFill>
            <a:prstDash val="solid"/>
          </a:ln>
        </p:spPr>
      </p:sp>
      <p:sp>
        <p:nvSpPr>
          <p:cNvPr id="36" name="f3-path-032-arrow-head"/>
          <p:cNvSpPr>
            <a:spLocks noGrp="1"/>
          </p:cNvSpPr>
          <p:nvPr/>
        </p:nvSpPr>
        <p:spPr>
          <a:xfrm>
            <a:off x="3957447" y="2714625"/>
            <a:ext cx="105156" cy="109538"/>
          </a:xfrm>
          <a:custGeom>
            <a:avLst/>
            <a:gdLst/>
            <a:ahLst/>
            <a:cxnLst/>
            <a:pathLst>
              <a:path w="105156" h="109538">
                <a:moveTo>
                  <a:pt x="52578" y="0"/>
                </a:moveTo>
                <a:lnTo>
                  <a:pt x="0" y="109538"/>
                </a:lnTo>
                <a:lnTo>
                  <a:pt x="105156" y="109538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37" name="f3-rect-033"/>
          <p:cNvSpPr>
            <a:spLocks noGrp="1"/>
          </p:cNvSpPr>
          <p:nvPr/>
        </p:nvSpPr>
        <p:spPr>
          <a:xfrm>
            <a:off x="4286250" y="1314450"/>
            <a:ext cx="3362325" cy="6829425"/>
          </a:xfrm>
          <a:prstGeom prst="roundRect">
            <a:avLst>
              <a:gd name="adj" fmla="val 3966"/>
            </a:avLst>
          </a:prstGeom>
          <a:solidFill>
            <a:srgbClr val="F1F6FB"/>
          </a:solidFill>
          <a:ln w="22860">
            <a:solidFill>
              <a:srgbClr val="346CA0"/>
            </a:solidFill>
            <a:prstDash val="solid"/>
          </a:ln>
        </p:spPr>
      </p:sp>
      <p:sp>
        <p:nvSpPr>
          <p:cNvPr id="38" name="f3-rect-034"/>
          <p:cNvSpPr>
            <a:spLocks noGrp="1"/>
          </p:cNvSpPr>
          <p:nvPr/>
        </p:nvSpPr>
        <p:spPr>
          <a:xfrm>
            <a:off x="4752975" y="1504950"/>
            <a:ext cx="2628900" cy="6858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4288">
            <a:solidFill>
              <a:srgbClr val="346CA0"/>
            </a:solidFill>
            <a:prstDash val="solid"/>
          </a:ln>
        </p:spPr>
      </p:sp>
      <p:sp>
        <p:nvSpPr>
          <p:cNvPr id="39" name="f3-rect-035"/>
          <p:cNvSpPr>
            <a:spLocks noGrp="1"/>
          </p:cNvSpPr>
          <p:nvPr/>
        </p:nvSpPr>
        <p:spPr>
          <a:xfrm>
            <a:off x="4657725" y="1590675"/>
            <a:ext cx="2628900" cy="6858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4288">
            <a:solidFill>
              <a:srgbClr val="346CA0"/>
            </a:solidFill>
            <a:prstDash val="solid"/>
          </a:ln>
        </p:spPr>
      </p:sp>
      <p:sp>
        <p:nvSpPr>
          <p:cNvPr id="40" name="f3-rect-036"/>
          <p:cNvSpPr>
            <a:spLocks noGrp="1"/>
          </p:cNvSpPr>
          <p:nvPr/>
        </p:nvSpPr>
        <p:spPr>
          <a:xfrm>
            <a:off x="4562475" y="1676400"/>
            <a:ext cx="2628900" cy="6858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4288">
            <a:solidFill>
              <a:srgbClr val="346CA0"/>
            </a:solidFill>
            <a:prstDash val="solid"/>
          </a:ln>
        </p:spPr>
      </p:sp>
      <p:sp>
        <p:nvSpPr>
          <p:cNvPr id="41" name="f3-text-037-共享 π0.5 VLM  θ"/>
          <p:cNvSpPr>
            <a:spLocks noGrp="1"/>
          </p:cNvSpPr>
          <p:nvPr/>
        </p:nvSpPr>
        <p:spPr>
          <a:xfrm>
            <a:off x="4643158" y="1797558"/>
            <a:ext cx="2467533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共享 π0.5 VLM  θ</a:t>
            </a:r>
            <a:endParaRPr sz="24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2" name="f3-text-038-同一 θ，高层自回归生成"/>
          <p:cNvSpPr>
            <a:spLocks noGrp="1"/>
          </p:cNvSpPr>
          <p:nvPr/>
        </p:nvSpPr>
        <p:spPr>
          <a:xfrm>
            <a:off x="4514850" y="2352675"/>
            <a:ext cx="266865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同一 θ，高层自回归生成</a:t>
            </a:r>
            <a:endParaRPr sz="18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3" name="f3-rect-039"/>
          <p:cNvSpPr>
            <a:spLocks noGrp="1"/>
          </p:cNvSpPr>
          <p:nvPr/>
        </p:nvSpPr>
        <p:spPr>
          <a:xfrm>
            <a:off x="4524375" y="2886075"/>
            <a:ext cx="2886075" cy="942975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14288">
            <a:solidFill>
              <a:srgbClr val="346CA0"/>
            </a:solidFill>
            <a:prstDash val="solid"/>
          </a:ln>
        </p:spPr>
      </p:sp>
      <p:sp>
        <p:nvSpPr>
          <p:cNvPr id="44" name="f3-text-040-① READ"/>
          <p:cNvSpPr>
            <a:spLocks noGrp="1"/>
          </p:cNvSpPr>
          <p:nvPr/>
        </p:nvSpPr>
        <p:spPr>
          <a:xfrm>
            <a:off x="4657725" y="2940558"/>
            <a:ext cx="1277559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① READ</a:t>
            </a:r>
            <a:endParaRPr sz="24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5" name="f3-text-041-选择槽位 ID"/>
          <p:cNvSpPr>
            <a:spLocks noGrp="1"/>
          </p:cNvSpPr>
          <p:nvPr/>
        </p:nvSpPr>
        <p:spPr>
          <a:xfrm>
            <a:off x="4657725" y="3381756"/>
            <a:ext cx="128511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选择槽位 ID</a:t>
            </a:r>
            <a:endParaRPr sz="180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6" name="f3-rect-042"/>
          <p:cNvSpPr>
            <a:spLocks noGrp="1"/>
          </p:cNvSpPr>
          <p:nvPr/>
        </p:nvSpPr>
        <p:spPr>
          <a:xfrm>
            <a:off x="4524375" y="4505325"/>
            <a:ext cx="2886075" cy="942975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14288">
            <a:solidFill>
              <a:srgbClr val="346CA0"/>
            </a:solidFill>
            <a:prstDash val="solid"/>
          </a:ln>
        </p:spPr>
      </p:sp>
      <p:sp>
        <p:nvSpPr>
          <p:cNvPr id="47" name="f3-text-043-② WRITE"/>
          <p:cNvSpPr>
            <a:spLocks noGrp="1"/>
          </p:cNvSpPr>
          <p:nvPr/>
        </p:nvSpPr>
        <p:spPr>
          <a:xfrm>
            <a:off x="4657725" y="4559808"/>
            <a:ext cx="1434536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② WRITE</a:t>
            </a:r>
            <a:endParaRPr sz="24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8" name="f3-text-044-保留／写入／纠正／撤销"/>
          <p:cNvSpPr>
            <a:spLocks noGrp="1"/>
          </p:cNvSpPr>
          <p:nvPr/>
        </p:nvSpPr>
        <p:spPr>
          <a:xfrm>
            <a:off x="4657725" y="5020818"/>
            <a:ext cx="2400300" cy="2828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6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保留／写入／纠正／撤销</a:t>
            </a:r>
            <a:endParaRPr sz="165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9" name="f3-rect-045"/>
          <p:cNvSpPr>
            <a:spLocks noGrp="1"/>
          </p:cNvSpPr>
          <p:nvPr/>
        </p:nvSpPr>
        <p:spPr>
          <a:xfrm>
            <a:off x="4524375" y="6657975"/>
            <a:ext cx="2886075" cy="942975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14288">
            <a:solidFill>
              <a:srgbClr val="346CA0"/>
            </a:solidFill>
            <a:prstDash val="solid"/>
          </a:ln>
        </p:spPr>
      </p:sp>
      <p:sp>
        <p:nvSpPr>
          <p:cNvPr id="50" name="f3-text-046-③ 生成子任务文本"/>
          <p:cNvSpPr>
            <a:spLocks noGrp="1"/>
          </p:cNvSpPr>
          <p:nvPr/>
        </p:nvSpPr>
        <p:spPr>
          <a:xfrm>
            <a:off x="4657725" y="6712458"/>
            <a:ext cx="2602836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③ 生成子任务文本</a:t>
            </a:r>
            <a:endParaRPr sz="24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1" name="f3-text-047-自回归文本，非技能 ID"/>
          <p:cNvSpPr>
            <a:spLocks noGrp="1"/>
          </p:cNvSpPr>
          <p:nvPr/>
        </p:nvSpPr>
        <p:spPr>
          <a:xfrm>
            <a:off x="4657725" y="7153656"/>
            <a:ext cx="242811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自回归文本，非技能 ID</a:t>
            </a:r>
            <a:endParaRPr sz="180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2" name="f3-text-048-高层 token 条件 CE → θ"/>
          <p:cNvSpPr>
            <a:spLocks noGrp="1"/>
          </p:cNvSpPr>
          <p:nvPr/>
        </p:nvSpPr>
        <p:spPr>
          <a:xfrm>
            <a:off x="4533900" y="7715631"/>
            <a:ext cx="251713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高层 token 条件 CE → θ</a:t>
            </a:r>
            <a:endParaRPr sz="1800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3" name="f3-rect-049"/>
          <p:cNvSpPr>
            <a:spLocks noGrp="1"/>
          </p:cNvSpPr>
          <p:nvPr/>
        </p:nvSpPr>
        <p:spPr>
          <a:xfrm>
            <a:off x="8067675" y="1419225"/>
            <a:ext cx="2552700" cy="1762125"/>
          </a:xfrm>
          <a:prstGeom prst="roundRect">
            <a:avLst>
              <a:gd name="adj" fmla="val 6486"/>
            </a:avLst>
          </a:prstGeom>
          <a:solidFill>
            <a:srgbClr val="EEF7F3"/>
          </a:solidFill>
          <a:ln w="19050">
            <a:solidFill>
              <a:srgbClr val="268575"/>
            </a:solidFill>
            <a:prstDash val="solid"/>
          </a:ln>
        </p:spPr>
      </p:sp>
      <p:sp>
        <p:nvSpPr>
          <p:cNvPr id="54" name="f3-text-050-episode 记忆库"/>
          <p:cNvSpPr>
            <a:spLocks noGrp="1"/>
          </p:cNvSpPr>
          <p:nvPr/>
        </p:nvSpPr>
        <p:spPr>
          <a:xfrm>
            <a:off x="8172450" y="1503045"/>
            <a:ext cx="2124633" cy="3857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25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episode 记忆库</a:t>
            </a:r>
            <a:endParaRPr sz="2250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5" name="f3-text-051-进度｜持物｜位置"/>
          <p:cNvSpPr>
            <a:spLocks noGrp="1"/>
          </p:cNvSpPr>
          <p:nvPr/>
        </p:nvSpPr>
        <p:spPr>
          <a:xfrm>
            <a:off x="8172450" y="1942338"/>
            <a:ext cx="2152650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进度｜持物｜位置</a:t>
            </a:r>
            <a:endParaRPr sz="202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6" name="f3-text-052-失败｜待核实事实"/>
          <p:cNvSpPr>
            <a:spLocks noGrp="1"/>
          </p:cNvSpPr>
          <p:nvPr/>
        </p:nvSpPr>
        <p:spPr>
          <a:xfrm>
            <a:off x="8172450" y="2313813"/>
            <a:ext cx="2152650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失败｜待核实事实</a:t>
            </a:r>
            <a:endParaRPr sz="202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7" name="f3-text-053-读取前仅见固定目录"/>
          <p:cNvSpPr>
            <a:spLocks noGrp="1"/>
          </p:cNvSpPr>
          <p:nvPr/>
        </p:nvSpPr>
        <p:spPr>
          <a:xfrm>
            <a:off x="8172450" y="2810256"/>
            <a:ext cx="215265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读取前仅见固定目录</a:t>
            </a:r>
            <a:endParaRPr sz="180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8" name="f3-path-054-arrow"/>
          <p:cNvSpPr>
            <a:spLocks noGrp="1"/>
          </p:cNvSpPr>
          <p:nvPr/>
        </p:nvSpPr>
        <p:spPr>
          <a:xfrm>
            <a:off x="7410450" y="2809875"/>
            <a:ext cx="657225" cy="457200"/>
          </a:xfrm>
          <a:custGeom>
            <a:avLst/>
            <a:gdLst/>
            <a:ahLst/>
            <a:cxnLst/>
            <a:pathLst>
              <a:path w="657225" h="457200">
                <a:moveTo>
                  <a:pt x="657225" y="0"/>
                </a:moveTo>
                <a:lnTo>
                  <a:pt x="390525" y="0"/>
                </a:lnTo>
                <a:lnTo>
                  <a:pt x="390525" y="457200"/>
                </a:lnTo>
                <a:lnTo>
                  <a:pt x="0" y="457200"/>
                </a:lnTo>
              </a:path>
            </a:pathLst>
          </a:custGeom>
          <a:noFill/>
          <a:ln w="28575">
            <a:solidFill>
              <a:srgbClr val="268575"/>
            </a:solidFill>
            <a:prstDash val="solid"/>
          </a:ln>
        </p:spPr>
      </p:sp>
      <p:sp>
        <p:nvSpPr>
          <p:cNvPr id="59" name="f3-path-054-arrow-head"/>
          <p:cNvSpPr>
            <a:spLocks noGrp="1"/>
          </p:cNvSpPr>
          <p:nvPr/>
        </p:nvSpPr>
        <p:spPr>
          <a:xfrm>
            <a:off x="7410450" y="3203981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0" y="63094"/>
                </a:moveTo>
                <a:lnTo>
                  <a:pt x="131445" y="126187"/>
                </a:lnTo>
                <a:lnTo>
                  <a:pt x="131445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60" name="f3-text-055-目录"/>
          <p:cNvSpPr>
            <a:spLocks noGrp="1"/>
          </p:cNvSpPr>
          <p:nvPr/>
        </p:nvSpPr>
        <p:spPr>
          <a:xfrm>
            <a:off x="7629525" y="3353181"/>
            <a:ext cx="55245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目录</a:t>
            </a:r>
            <a:endParaRPr sz="1800" b="0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1" name="f3-rect-056"/>
          <p:cNvSpPr>
            <a:spLocks noGrp="1"/>
          </p:cNvSpPr>
          <p:nvPr/>
        </p:nvSpPr>
        <p:spPr>
          <a:xfrm>
            <a:off x="8067675" y="3895725"/>
            <a:ext cx="2552700" cy="1276350"/>
          </a:xfrm>
          <a:prstGeom prst="roundRect">
            <a:avLst>
              <a:gd name="adj" fmla="val 7463"/>
            </a:avLst>
          </a:prstGeom>
          <a:solidFill>
            <a:srgbClr val="F7F8FA"/>
          </a:solidFill>
          <a:ln w="17145">
            <a:solidFill>
              <a:srgbClr val="D9E0E6"/>
            </a:solidFill>
            <a:prstDash val="solid"/>
          </a:ln>
        </p:spPr>
      </p:sp>
      <p:sp>
        <p:nvSpPr>
          <p:cNvPr id="62" name="f3-text-057-确定性检索"/>
          <p:cNvSpPr>
            <a:spLocks noGrp="1"/>
          </p:cNvSpPr>
          <p:nvPr/>
        </p:nvSpPr>
        <p:spPr>
          <a:xfrm>
            <a:off x="8191500" y="3970401"/>
            <a:ext cx="1476375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确定性检索</a:t>
            </a:r>
            <a:endParaRPr sz="2175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3" name="f3-text-058-按 READ 返回正文"/>
          <p:cNvSpPr>
            <a:spLocks noGrp="1"/>
          </p:cNvSpPr>
          <p:nvPr/>
        </p:nvSpPr>
        <p:spPr>
          <a:xfrm>
            <a:off x="8191500" y="4400550"/>
            <a:ext cx="1992604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按 READ 返回正文</a:t>
            </a:r>
            <a:endParaRPr sz="187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4" name="f3-text-059-不作为生成标签"/>
          <p:cNvSpPr>
            <a:spLocks noGrp="1"/>
          </p:cNvSpPr>
          <p:nvPr/>
        </p:nvSpPr>
        <p:spPr>
          <a:xfrm>
            <a:off x="8191500" y="4733925"/>
            <a:ext cx="1762125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不作为生成标签</a:t>
            </a:r>
            <a:endParaRPr sz="187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5" name="f3-path-060-arrow"/>
          <p:cNvSpPr>
            <a:spLocks noGrp="1"/>
          </p:cNvSpPr>
          <p:nvPr/>
        </p:nvSpPr>
        <p:spPr>
          <a:xfrm>
            <a:off x="7410450" y="3590925"/>
            <a:ext cx="1933575" cy="304800"/>
          </a:xfrm>
          <a:custGeom>
            <a:avLst/>
            <a:gdLst/>
            <a:ahLst/>
            <a:cxnLst/>
            <a:pathLst>
              <a:path w="1933575" h="304800">
                <a:moveTo>
                  <a:pt x="0" y="0"/>
                </a:moveTo>
                <a:lnTo>
                  <a:pt x="390525" y="0"/>
                </a:lnTo>
                <a:lnTo>
                  <a:pt x="390525" y="152400"/>
                </a:lnTo>
                <a:lnTo>
                  <a:pt x="1933575" y="152400"/>
                </a:lnTo>
                <a:lnTo>
                  <a:pt x="1933575" y="304800"/>
                </a:lnTo>
              </a:path>
            </a:pathLst>
          </a:custGeom>
          <a:noFill/>
          <a:ln w="23813">
            <a:solidFill>
              <a:srgbClr val="346CA0"/>
            </a:solidFill>
            <a:prstDash val="solid"/>
          </a:ln>
        </p:spPr>
      </p:sp>
      <p:sp>
        <p:nvSpPr>
          <p:cNvPr id="66" name="f3-path-060-arrow-head"/>
          <p:cNvSpPr>
            <a:spLocks noGrp="1"/>
          </p:cNvSpPr>
          <p:nvPr/>
        </p:nvSpPr>
        <p:spPr>
          <a:xfrm>
            <a:off x="9291447" y="3786188"/>
            <a:ext cx="105156" cy="109538"/>
          </a:xfrm>
          <a:custGeom>
            <a:avLst/>
            <a:gdLst/>
            <a:ahLst/>
            <a:cxnLst/>
            <a:pathLst>
              <a:path w="105156" h="109538">
                <a:moveTo>
                  <a:pt x="52578" y="109538"/>
                </a:moveTo>
                <a:lnTo>
                  <a:pt x="105156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67" name="f3-path-061-arrow"/>
          <p:cNvSpPr>
            <a:spLocks noGrp="1"/>
          </p:cNvSpPr>
          <p:nvPr/>
        </p:nvSpPr>
        <p:spPr>
          <a:xfrm>
            <a:off x="7410450" y="4686300"/>
            <a:ext cx="657225" cy="219075"/>
          </a:xfrm>
          <a:custGeom>
            <a:avLst/>
            <a:gdLst/>
            <a:ahLst/>
            <a:cxnLst/>
            <a:pathLst>
              <a:path w="657225" h="219075">
                <a:moveTo>
                  <a:pt x="657225" y="0"/>
                </a:moveTo>
                <a:lnTo>
                  <a:pt x="0" y="219075"/>
                </a:lnTo>
              </a:path>
            </a:pathLst>
          </a:custGeom>
          <a:noFill/>
          <a:ln w="25718">
            <a:solidFill>
              <a:srgbClr val="268575"/>
            </a:solidFill>
            <a:prstDash val="solid"/>
          </a:ln>
        </p:spPr>
      </p:sp>
      <p:sp>
        <p:nvSpPr>
          <p:cNvPr id="68" name="f3-path-061-arrow-head"/>
          <p:cNvSpPr>
            <a:spLocks noGrp="1"/>
          </p:cNvSpPr>
          <p:nvPr/>
        </p:nvSpPr>
        <p:spPr>
          <a:xfrm>
            <a:off x="7410450" y="4814095"/>
            <a:ext cx="130186" cy="107741"/>
          </a:xfrm>
          <a:custGeom>
            <a:avLst/>
            <a:gdLst/>
            <a:ahLst/>
            <a:cxnLst/>
            <a:pathLst>
              <a:path w="130186" h="107741">
                <a:moveTo>
                  <a:pt x="0" y="91280"/>
                </a:moveTo>
                <a:lnTo>
                  <a:pt x="130186" y="107741"/>
                </a:lnTo>
                <a:lnTo>
                  <a:pt x="94273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69" name="f3-rect-062"/>
          <p:cNvSpPr>
            <a:spLocks noGrp="1"/>
          </p:cNvSpPr>
          <p:nvPr/>
        </p:nvSpPr>
        <p:spPr>
          <a:xfrm>
            <a:off x="8067675" y="5657850"/>
            <a:ext cx="2552700" cy="1219200"/>
          </a:xfrm>
          <a:prstGeom prst="roundRect">
            <a:avLst>
              <a:gd name="adj" fmla="val 7813"/>
            </a:avLst>
          </a:prstGeom>
          <a:solidFill>
            <a:srgbClr val="EEF7F3"/>
          </a:solidFill>
          <a:ln w="17145">
            <a:solidFill>
              <a:srgbClr val="268575"/>
            </a:solidFill>
            <a:prstDash val="solid"/>
          </a:ln>
        </p:spPr>
      </p:sp>
      <p:sp>
        <p:nvSpPr>
          <p:cNvPr id="70" name="f3-text-063-确定性 Apply"/>
          <p:cNvSpPr>
            <a:spLocks noGrp="1"/>
          </p:cNvSpPr>
          <p:nvPr/>
        </p:nvSpPr>
        <p:spPr>
          <a:xfrm>
            <a:off x="8191500" y="5732526"/>
            <a:ext cx="1765027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确定性 Apply</a:t>
            </a:r>
            <a:endParaRPr sz="2175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1" name="f3-text-064-更新库与可见视图"/>
          <p:cNvSpPr>
            <a:spLocks noGrp="1"/>
          </p:cNvSpPr>
          <p:nvPr/>
        </p:nvSpPr>
        <p:spPr>
          <a:xfrm>
            <a:off x="8191500" y="6153150"/>
            <a:ext cx="2000250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更新库与可见视图</a:t>
            </a:r>
            <a:endParaRPr sz="187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2" name="f3-text-065-所选正文＋本轮修改"/>
          <p:cNvSpPr>
            <a:spLocks noGrp="1"/>
          </p:cNvSpPr>
          <p:nvPr/>
        </p:nvSpPr>
        <p:spPr>
          <a:xfrm>
            <a:off x="8191500" y="6477000"/>
            <a:ext cx="2238375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所选正文＋本轮修改</a:t>
            </a:r>
            <a:endParaRPr sz="187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3" name="f3-path-066-arrow"/>
          <p:cNvSpPr>
            <a:spLocks noGrp="1"/>
          </p:cNvSpPr>
          <p:nvPr/>
        </p:nvSpPr>
        <p:spPr>
          <a:xfrm>
            <a:off x="7410450" y="5200650"/>
            <a:ext cx="657225" cy="847725"/>
          </a:xfrm>
          <a:custGeom>
            <a:avLst/>
            <a:gdLst/>
            <a:ahLst/>
            <a:cxnLst/>
            <a:pathLst>
              <a:path w="657225" h="847725">
                <a:moveTo>
                  <a:pt x="0" y="0"/>
                </a:moveTo>
                <a:lnTo>
                  <a:pt x="419100" y="0"/>
                </a:lnTo>
                <a:lnTo>
                  <a:pt x="419100" y="847725"/>
                </a:lnTo>
                <a:lnTo>
                  <a:pt x="657225" y="847725"/>
                </a:lnTo>
              </a:path>
            </a:pathLst>
          </a:custGeom>
          <a:noFill/>
          <a:ln w="25718">
            <a:solidFill>
              <a:srgbClr val="268575"/>
            </a:solidFill>
            <a:prstDash val="dash"/>
          </a:ln>
        </p:spPr>
      </p:sp>
      <p:sp>
        <p:nvSpPr>
          <p:cNvPr id="74" name="f3-path-066-arrow-head"/>
          <p:cNvSpPr>
            <a:spLocks noGrp="1"/>
          </p:cNvSpPr>
          <p:nvPr/>
        </p:nvSpPr>
        <p:spPr>
          <a:xfrm>
            <a:off x="7949375" y="5991591"/>
            <a:ext cx="118300" cy="113568"/>
          </a:xfrm>
          <a:custGeom>
            <a:avLst/>
            <a:gdLst/>
            <a:ahLst/>
            <a:cxnLst/>
            <a:pathLst>
              <a:path w="118300" h="113568">
                <a:moveTo>
                  <a:pt x="118300" y="56784"/>
                </a:moveTo>
                <a:lnTo>
                  <a:pt x="0" y="0"/>
                </a:lnTo>
                <a:lnTo>
                  <a:pt x="0" y="113568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75" name="f3-path-067-arrow"/>
          <p:cNvSpPr>
            <a:spLocks noGrp="1"/>
          </p:cNvSpPr>
          <p:nvPr/>
        </p:nvSpPr>
        <p:spPr>
          <a:xfrm>
            <a:off x="7410450" y="6686550"/>
            <a:ext cx="657225" cy="409575"/>
          </a:xfrm>
          <a:custGeom>
            <a:avLst/>
            <a:gdLst/>
            <a:ahLst/>
            <a:cxnLst/>
            <a:pathLst>
              <a:path w="657225" h="409575">
                <a:moveTo>
                  <a:pt x="657225" y="0"/>
                </a:moveTo>
                <a:lnTo>
                  <a:pt x="352425" y="0"/>
                </a:lnTo>
                <a:lnTo>
                  <a:pt x="352425" y="409575"/>
                </a:lnTo>
                <a:lnTo>
                  <a:pt x="0" y="409575"/>
                </a:lnTo>
              </a:path>
            </a:pathLst>
          </a:custGeom>
          <a:noFill/>
          <a:ln w="25718">
            <a:solidFill>
              <a:srgbClr val="268575"/>
            </a:solidFill>
            <a:prstDash val="solid"/>
          </a:ln>
        </p:spPr>
      </p:sp>
      <p:sp>
        <p:nvSpPr>
          <p:cNvPr id="76" name="f3-path-067-arrow-head"/>
          <p:cNvSpPr>
            <a:spLocks noGrp="1"/>
          </p:cNvSpPr>
          <p:nvPr/>
        </p:nvSpPr>
        <p:spPr>
          <a:xfrm>
            <a:off x="7410450" y="7039341"/>
            <a:ext cx="118300" cy="113568"/>
          </a:xfrm>
          <a:custGeom>
            <a:avLst/>
            <a:gdLst/>
            <a:ahLst/>
            <a:cxnLst/>
            <a:pathLst>
              <a:path w="118300" h="113568">
                <a:moveTo>
                  <a:pt x="0" y="56784"/>
                </a:moveTo>
                <a:lnTo>
                  <a:pt x="118300" y="113568"/>
                </a:lnTo>
                <a:lnTo>
                  <a:pt x="118300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77" name="f3-path-068-arrow"/>
          <p:cNvSpPr>
            <a:spLocks noGrp="1"/>
          </p:cNvSpPr>
          <p:nvPr/>
        </p:nvSpPr>
        <p:spPr>
          <a:xfrm>
            <a:off x="10620375" y="2324100"/>
            <a:ext cx="142875" cy="3714750"/>
          </a:xfrm>
          <a:custGeom>
            <a:avLst/>
            <a:gdLst/>
            <a:ahLst/>
            <a:cxnLst/>
            <a:pathLst>
              <a:path w="142875" h="3714750">
                <a:moveTo>
                  <a:pt x="0" y="3714750"/>
                </a:moveTo>
                <a:lnTo>
                  <a:pt x="142875" y="3714750"/>
                </a:lnTo>
                <a:lnTo>
                  <a:pt x="142875" y="0"/>
                </a:lnTo>
                <a:lnTo>
                  <a:pt x="0" y="0"/>
                </a:lnTo>
              </a:path>
            </a:pathLst>
          </a:custGeom>
          <a:noFill/>
          <a:ln w="24765">
            <a:solidFill>
              <a:srgbClr val="268575"/>
            </a:solidFill>
            <a:prstDash val="dash"/>
          </a:ln>
        </p:spPr>
      </p:sp>
      <p:sp>
        <p:nvSpPr>
          <p:cNvPr id="78" name="f3-path-068-arrow-head"/>
          <p:cNvSpPr>
            <a:spLocks noGrp="1"/>
          </p:cNvSpPr>
          <p:nvPr/>
        </p:nvSpPr>
        <p:spPr>
          <a:xfrm>
            <a:off x="10620375" y="2269419"/>
            <a:ext cx="113919" cy="109362"/>
          </a:xfrm>
          <a:custGeom>
            <a:avLst/>
            <a:gdLst/>
            <a:ahLst/>
            <a:cxnLst/>
            <a:pathLst>
              <a:path w="113919" h="109362">
                <a:moveTo>
                  <a:pt x="0" y="54681"/>
                </a:moveTo>
                <a:lnTo>
                  <a:pt x="113919" y="109362"/>
                </a:lnTo>
                <a:lnTo>
                  <a:pt x="113919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79" name="f3-text-069-每个 episode 结束清空"/>
          <p:cNvSpPr>
            <a:spLocks noGrp="1"/>
          </p:cNvSpPr>
          <p:nvPr/>
        </p:nvSpPr>
        <p:spPr>
          <a:xfrm>
            <a:off x="8048625" y="7001256"/>
            <a:ext cx="2414457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每个 episode 结束清空</a:t>
            </a:r>
            <a:endParaRPr sz="180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0" name="f3-rect-070"/>
          <p:cNvSpPr>
            <a:spLocks noGrp="1"/>
          </p:cNvSpPr>
          <p:nvPr/>
        </p:nvSpPr>
        <p:spPr>
          <a:xfrm>
            <a:off x="11239500" y="1733550"/>
            <a:ext cx="3667125" cy="3143250"/>
          </a:xfrm>
          <a:prstGeom prst="roundRect">
            <a:avLst>
              <a:gd name="adj" fmla="val 4242"/>
            </a:avLst>
          </a:prstGeom>
          <a:solidFill>
            <a:srgbClr val="FBF7F0"/>
          </a:solidFill>
          <a:ln w="19050">
            <a:solidFill>
              <a:srgbClr val="BA8135"/>
            </a:solidFill>
            <a:prstDash val="solid"/>
          </a:ln>
        </p:spPr>
      </p:sp>
      <p:sp>
        <p:nvSpPr>
          <p:cNvPr id="81" name="f3-text-071-连续动作专家  φ"/>
          <p:cNvSpPr>
            <a:spLocks noGrp="1"/>
          </p:cNvSpPr>
          <p:nvPr/>
        </p:nvSpPr>
        <p:spPr>
          <a:xfrm>
            <a:off x="11382375" y="1835658"/>
            <a:ext cx="2312045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连续动作专家  φ</a:t>
            </a:r>
            <a:endParaRPr sz="2400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2" name="f3-rect-072"/>
          <p:cNvSpPr>
            <a:spLocks noGrp="1"/>
          </p:cNvSpPr>
          <p:nvPr/>
        </p:nvSpPr>
        <p:spPr>
          <a:xfrm>
            <a:off x="11439525" y="2371725"/>
            <a:ext cx="3200400" cy="400050"/>
          </a:xfrm>
          <a:prstGeom prst="roundRect">
            <a:avLst>
              <a:gd name="adj" fmla="val 19048"/>
            </a:avLst>
          </a:prstGeom>
          <a:solidFill>
            <a:srgbClr val="FBF0DF"/>
          </a:solidFill>
          <a:ln w="17145">
            <a:noFill/>
            <a:prstDash val="solid"/>
          </a:ln>
        </p:spPr>
      </p:sp>
      <p:sp>
        <p:nvSpPr>
          <p:cNvPr id="83" name="f3-text-073-隐藏 K/V 为条件输入"/>
          <p:cNvSpPr>
            <a:spLocks noGrp="1"/>
          </p:cNvSpPr>
          <p:nvPr/>
        </p:nvSpPr>
        <p:spPr>
          <a:xfrm>
            <a:off x="11903143" y="2409825"/>
            <a:ext cx="2273164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隐藏 K/V 为条件输入</a:t>
            </a:r>
            <a:endParaRPr sz="187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4" name="f3-path-074"/>
          <p:cNvSpPr>
            <a:spLocks noGrp="1"/>
          </p:cNvSpPr>
          <p:nvPr/>
        </p:nvSpPr>
        <p:spPr>
          <a:xfrm>
            <a:off x="11458575" y="2762250"/>
            <a:ext cx="1400175" cy="1104900"/>
          </a:xfrm>
          <a:custGeom>
            <a:avLst/>
            <a:gdLst/>
            <a:ahLst/>
            <a:cxnLst/>
            <a:pathLst>
              <a:path w="1400175" h="1104900">
                <a:moveTo>
                  <a:pt x="0" y="666750"/>
                </a:moveTo>
                <a:cubicBezTo>
                  <a:pt x="285750" y="257175"/>
                  <a:pt x="447675" y="1104900"/>
                  <a:pt x="685800" y="552450"/>
                </a:cubicBezTo>
                <a:cubicBezTo>
                  <a:pt x="923925" y="0"/>
                  <a:pt x="1114425" y="1038225"/>
                  <a:pt x="1400175" y="542925"/>
                </a:cubicBezTo>
              </a:path>
            </a:pathLst>
          </a:custGeom>
          <a:noFill/>
          <a:ln w="23813">
            <a:solidFill>
              <a:srgbClr val="C8CCD1"/>
            </a:solidFill>
            <a:prstDash val="solid"/>
          </a:ln>
        </p:spPr>
      </p:sp>
      <p:sp>
        <p:nvSpPr>
          <p:cNvPr id="85" name="f3-path-075"/>
          <p:cNvSpPr>
            <a:spLocks noGrp="1"/>
          </p:cNvSpPr>
          <p:nvPr/>
        </p:nvSpPr>
        <p:spPr>
          <a:xfrm>
            <a:off x="11458575" y="2447925"/>
            <a:ext cx="1400175" cy="1524000"/>
          </a:xfrm>
          <a:custGeom>
            <a:avLst/>
            <a:gdLst/>
            <a:ahLst/>
            <a:cxnLst/>
            <a:pathLst>
              <a:path w="1400175" h="1524000">
                <a:moveTo>
                  <a:pt x="0" y="1085850"/>
                </a:moveTo>
                <a:cubicBezTo>
                  <a:pt x="285750" y="466725"/>
                  <a:pt x="447675" y="1524000"/>
                  <a:pt x="685800" y="762000"/>
                </a:cubicBezTo>
                <a:cubicBezTo>
                  <a:pt x="923925" y="0"/>
                  <a:pt x="1114425" y="1457325"/>
                  <a:pt x="1400175" y="962025"/>
                </a:cubicBezTo>
              </a:path>
            </a:pathLst>
          </a:custGeom>
          <a:noFill/>
          <a:ln w="23813">
            <a:solidFill>
              <a:srgbClr val="B3BEC8"/>
            </a:solidFill>
            <a:prstDash val="solid"/>
          </a:ln>
        </p:spPr>
      </p:sp>
      <p:sp>
        <p:nvSpPr>
          <p:cNvPr id="86" name="f3-path-076"/>
          <p:cNvSpPr>
            <a:spLocks noGrp="1"/>
          </p:cNvSpPr>
          <p:nvPr/>
        </p:nvSpPr>
        <p:spPr>
          <a:xfrm>
            <a:off x="11458575" y="2133600"/>
            <a:ext cx="1400175" cy="1943100"/>
          </a:xfrm>
          <a:custGeom>
            <a:avLst/>
            <a:gdLst/>
            <a:ahLst/>
            <a:cxnLst/>
            <a:pathLst>
              <a:path w="1400175" h="1943100">
                <a:moveTo>
                  <a:pt x="0" y="1504950"/>
                </a:moveTo>
                <a:cubicBezTo>
                  <a:pt x="285750" y="676275"/>
                  <a:pt x="447675" y="1943100"/>
                  <a:pt x="685800" y="971550"/>
                </a:cubicBezTo>
                <a:cubicBezTo>
                  <a:pt x="923925" y="0"/>
                  <a:pt x="1114425" y="1876425"/>
                  <a:pt x="1400175" y="1381125"/>
                </a:cubicBezTo>
              </a:path>
            </a:pathLst>
          </a:custGeom>
          <a:noFill/>
          <a:ln w="23813">
            <a:solidFill>
              <a:srgbClr val="BA8135"/>
            </a:solidFill>
            <a:prstDash val="solid"/>
          </a:ln>
        </p:spPr>
      </p:sp>
      <p:sp>
        <p:nvSpPr>
          <p:cNvPr id="87" name="f3-path-077-arrow"/>
          <p:cNvSpPr>
            <a:spLocks noGrp="1"/>
          </p:cNvSpPr>
          <p:nvPr/>
        </p:nvSpPr>
        <p:spPr>
          <a:xfrm>
            <a:off x="13001625" y="3486150"/>
            <a:ext cx="428625" cy="9525"/>
          </a:xfrm>
          <a:custGeom>
            <a:avLst/>
            <a:gdLst/>
            <a:ahLst/>
            <a:cxnLst/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28575">
            <a:solidFill>
              <a:srgbClr val="BA8135"/>
            </a:solidFill>
            <a:prstDash val="solid"/>
          </a:ln>
        </p:spPr>
      </p:sp>
      <p:sp>
        <p:nvSpPr>
          <p:cNvPr id="88" name="f3-path-077-arrow-head"/>
          <p:cNvSpPr>
            <a:spLocks noGrp="1"/>
          </p:cNvSpPr>
          <p:nvPr/>
        </p:nvSpPr>
        <p:spPr>
          <a:xfrm>
            <a:off x="13298805" y="34230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BA8135"/>
          </a:solidFill>
          <a:ln w="0">
            <a:noFill/>
            <a:prstDash val="solid"/>
          </a:ln>
        </p:spPr>
      </p:sp>
      <p:sp>
        <p:nvSpPr>
          <p:cNvPr id="89" name="f3-path-078"/>
          <p:cNvSpPr>
            <a:spLocks noGrp="1"/>
          </p:cNvSpPr>
          <p:nvPr/>
        </p:nvSpPr>
        <p:spPr>
          <a:xfrm>
            <a:off x="13525500" y="3076575"/>
            <a:ext cx="1095375" cy="704850"/>
          </a:xfrm>
          <a:custGeom>
            <a:avLst/>
            <a:gdLst/>
            <a:ahLst/>
            <a:cxnLst/>
            <a:pathLst>
              <a:path w="1095375" h="704850">
                <a:moveTo>
                  <a:pt x="0" y="704850"/>
                </a:moveTo>
                <a:lnTo>
                  <a:pt x="0" y="0"/>
                </a:lnTo>
                <a:moveTo>
                  <a:pt x="0" y="704850"/>
                </a:moveTo>
                <a:lnTo>
                  <a:pt x="1095375" y="704850"/>
                </a:lnTo>
              </a:path>
            </a:pathLst>
          </a:custGeom>
          <a:noFill/>
          <a:ln w="14288">
            <a:solidFill>
              <a:srgbClr val="D9E0E6"/>
            </a:solidFill>
            <a:prstDash val="solid"/>
          </a:ln>
        </p:spPr>
      </p:sp>
      <p:sp>
        <p:nvSpPr>
          <p:cNvPr id="90" name="f3-path-079"/>
          <p:cNvSpPr>
            <a:spLocks noGrp="1"/>
          </p:cNvSpPr>
          <p:nvPr/>
        </p:nvSpPr>
        <p:spPr>
          <a:xfrm>
            <a:off x="13525500" y="3272790"/>
            <a:ext cx="1095375" cy="299085"/>
          </a:xfrm>
          <a:custGeom>
            <a:avLst/>
            <a:gdLst/>
            <a:ahLst/>
            <a:cxnLst/>
            <a:pathLst>
              <a:path w="1095375" h="299085">
                <a:moveTo>
                  <a:pt x="0" y="156210"/>
                </a:moveTo>
                <a:lnTo>
                  <a:pt x="24765" y="189547"/>
                </a:lnTo>
                <a:lnTo>
                  <a:pt x="49530" y="219075"/>
                </a:lnTo>
                <a:lnTo>
                  <a:pt x="74295" y="244792"/>
                </a:lnTo>
                <a:lnTo>
                  <a:pt x="100013" y="263842"/>
                </a:lnTo>
                <a:lnTo>
                  <a:pt x="124777" y="276225"/>
                </a:lnTo>
                <a:lnTo>
                  <a:pt x="149543" y="282892"/>
                </a:lnTo>
                <a:lnTo>
                  <a:pt x="174307" y="285750"/>
                </a:lnTo>
                <a:lnTo>
                  <a:pt x="199073" y="285750"/>
                </a:lnTo>
                <a:lnTo>
                  <a:pt x="223838" y="284797"/>
                </a:lnTo>
                <a:lnTo>
                  <a:pt x="248602" y="285750"/>
                </a:lnTo>
                <a:lnTo>
                  <a:pt x="274320" y="287655"/>
                </a:lnTo>
                <a:lnTo>
                  <a:pt x="299085" y="291465"/>
                </a:lnTo>
                <a:lnTo>
                  <a:pt x="323850" y="296227"/>
                </a:lnTo>
                <a:lnTo>
                  <a:pt x="348615" y="299085"/>
                </a:lnTo>
                <a:lnTo>
                  <a:pt x="373380" y="299085"/>
                </a:lnTo>
                <a:lnTo>
                  <a:pt x="398145" y="294322"/>
                </a:lnTo>
                <a:lnTo>
                  <a:pt x="422910" y="281940"/>
                </a:lnTo>
                <a:lnTo>
                  <a:pt x="447675" y="262890"/>
                </a:lnTo>
                <a:lnTo>
                  <a:pt x="473393" y="238125"/>
                </a:lnTo>
                <a:lnTo>
                  <a:pt x="498157" y="207645"/>
                </a:lnTo>
                <a:lnTo>
                  <a:pt x="522923" y="175260"/>
                </a:lnTo>
                <a:lnTo>
                  <a:pt x="547688" y="142875"/>
                </a:lnTo>
                <a:lnTo>
                  <a:pt x="572452" y="112395"/>
                </a:lnTo>
                <a:lnTo>
                  <a:pt x="597218" y="87630"/>
                </a:lnTo>
                <a:lnTo>
                  <a:pt x="621982" y="68580"/>
                </a:lnTo>
                <a:lnTo>
                  <a:pt x="647700" y="55245"/>
                </a:lnTo>
                <a:lnTo>
                  <a:pt x="672465" y="47625"/>
                </a:lnTo>
                <a:lnTo>
                  <a:pt x="697230" y="42863"/>
                </a:lnTo>
                <a:lnTo>
                  <a:pt x="721995" y="40005"/>
                </a:lnTo>
                <a:lnTo>
                  <a:pt x="746760" y="37147"/>
                </a:lnTo>
                <a:lnTo>
                  <a:pt x="771525" y="32385"/>
                </a:lnTo>
                <a:lnTo>
                  <a:pt x="796290" y="25717"/>
                </a:lnTo>
                <a:lnTo>
                  <a:pt x="821055" y="17145"/>
                </a:lnTo>
                <a:lnTo>
                  <a:pt x="846773" y="8572"/>
                </a:lnTo>
                <a:lnTo>
                  <a:pt x="871538" y="2857"/>
                </a:lnTo>
                <a:lnTo>
                  <a:pt x="896302" y="0"/>
                </a:lnTo>
                <a:lnTo>
                  <a:pt x="921068" y="3810"/>
                </a:lnTo>
                <a:lnTo>
                  <a:pt x="945832" y="14288"/>
                </a:lnTo>
                <a:lnTo>
                  <a:pt x="970598" y="32385"/>
                </a:lnTo>
                <a:lnTo>
                  <a:pt x="995363" y="57150"/>
                </a:lnTo>
                <a:lnTo>
                  <a:pt x="1021080" y="86677"/>
                </a:lnTo>
                <a:lnTo>
                  <a:pt x="1045845" y="119063"/>
                </a:lnTo>
                <a:lnTo>
                  <a:pt x="1070610" y="150495"/>
                </a:lnTo>
                <a:lnTo>
                  <a:pt x="1095375" y="179070"/>
                </a:lnTo>
              </a:path>
            </a:pathLst>
          </a:custGeom>
          <a:noFill/>
          <a:ln w="25718">
            <a:solidFill>
              <a:srgbClr val="BA8135"/>
            </a:solidFill>
            <a:prstDash val="solid"/>
          </a:ln>
        </p:spPr>
      </p:sp>
      <p:sp>
        <p:nvSpPr>
          <p:cNvPr id="91" name="f3-path-080"/>
          <p:cNvSpPr>
            <a:spLocks noGrp="1"/>
          </p:cNvSpPr>
          <p:nvPr/>
        </p:nvSpPr>
        <p:spPr>
          <a:xfrm>
            <a:off x="13525500" y="3284220"/>
            <a:ext cx="1095375" cy="351472"/>
          </a:xfrm>
          <a:custGeom>
            <a:avLst/>
            <a:gdLst/>
            <a:ahLst/>
            <a:cxnLst/>
            <a:pathLst>
              <a:path w="1095375" h="351472">
                <a:moveTo>
                  <a:pt x="0" y="339090"/>
                </a:moveTo>
                <a:lnTo>
                  <a:pt x="24765" y="348615"/>
                </a:lnTo>
                <a:lnTo>
                  <a:pt x="49530" y="351472"/>
                </a:lnTo>
                <a:lnTo>
                  <a:pt x="74295" y="345758"/>
                </a:lnTo>
                <a:lnTo>
                  <a:pt x="100013" y="333375"/>
                </a:lnTo>
                <a:lnTo>
                  <a:pt x="124777" y="316230"/>
                </a:lnTo>
                <a:lnTo>
                  <a:pt x="149543" y="297180"/>
                </a:lnTo>
                <a:lnTo>
                  <a:pt x="174307" y="277177"/>
                </a:lnTo>
                <a:lnTo>
                  <a:pt x="199073" y="260033"/>
                </a:lnTo>
                <a:lnTo>
                  <a:pt x="223838" y="244792"/>
                </a:lnTo>
                <a:lnTo>
                  <a:pt x="248602" y="232410"/>
                </a:lnTo>
                <a:lnTo>
                  <a:pt x="274320" y="222885"/>
                </a:lnTo>
                <a:lnTo>
                  <a:pt x="299085" y="212408"/>
                </a:lnTo>
                <a:lnTo>
                  <a:pt x="323850" y="200977"/>
                </a:lnTo>
                <a:lnTo>
                  <a:pt x="348615" y="185738"/>
                </a:lnTo>
                <a:lnTo>
                  <a:pt x="373380" y="166688"/>
                </a:lnTo>
                <a:lnTo>
                  <a:pt x="398145" y="143827"/>
                </a:lnTo>
                <a:lnTo>
                  <a:pt x="422910" y="116205"/>
                </a:lnTo>
                <a:lnTo>
                  <a:pt x="447675" y="87630"/>
                </a:lnTo>
                <a:lnTo>
                  <a:pt x="473393" y="60008"/>
                </a:lnTo>
                <a:lnTo>
                  <a:pt x="498157" y="35242"/>
                </a:lnTo>
                <a:lnTo>
                  <a:pt x="522923" y="16192"/>
                </a:lnTo>
                <a:lnTo>
                  <a:pt x="547688" y="3810"/>
                </a:lnTo>
                <a:lnTo>
                  <a:pt x="572452" y="0"/>
                </a:lnTo>
                <a:lnTo>
                  <a:pt x="597218" y="3810"/>
                </a:lnTo>
                <a:lnTo>
                  <a:pt x="621982" y="13335"/>
                </a:lnTo>
                <a:lnTo>
                  <a:pt x="647700" y="27622"/>
                </a:lnTo>
                <a:lnTo>
                  <a:pt x="672465" y="43815"/>
                </a:lnTo>
                <a:lnTo>
                  <a:pt x="697230" y="59055"/>
                </a:lnTo>
                <a:lnTo>
                  <a:pt x="721995" y="72390"/>
                </a:lnTo>
                <a:lnTo>
                  <a:pt x="746760" y="83820"/>
                </a:lnTo>
                <a:lnTo>
                  <a:pt x="771525" y="93345"/>
                </a:lnTo>
                <a:lnTo>
                  <a:pt x="796290" y="100965"/>
                </a:lnTo>
                <a:lnTo>
                  <a:pt x="821055" y="110490"/>
                </a:lnTo>
                <a:lnTo>
                  <a:pt x="846773" y="121920"/>
                </a:lnTo>
                <a:lnTo>
                  <a:pt x="871538" y="137160"/>
                </a:lnTo>
                <a:lnTo>
                  <a:pt x="896302" y="158115"/>
                </a:lnTo>
                <a:lnTo>
                  <a:pt x="921068" y="183833"/>
                </a:lnTo>
                <a:lnTo>
                  <a:pt x="945832" y="212408"/>
                </a:lnTo>
                <a:lnTo>
                  <a:pt x="970598" y="242888"/>
                </a:lnTo>
                <a:lnTo>
                  <a:pt x="995363" y="273367"/>
                </a:lnTo>
                <a:lnTo>
                  <a:pt x="1021080" y="299085"/>
                </a:lnTo>
                <a:lnTo>
                  <a:pt x="1045845" y="320040"/>
                </a:lnTo>
                <a:lnTo>
                  <a:pt x="1070610" y="333375"/>
                </a:lnTo>
                <a:lnTo>
                  <a:pt x="1095375" y="339090"/>
                </a:lnTo>
              </a:path>
            </a:pathLst>
          </a:custGeom>
          <a:noFill/>
          <a:ln w="25718">
            <a:solidFill>
              <a:srgbClr val="268575"/>
            </a:solidFill>
            <a:prstDash val="solid"/>
          </a:ln>
        </p:spPr>
      </p:sp>
      <p:sp>
        <p:nvSpPr>
          <p:cNvPr id="92" name="f3-path-081"/>
          <p:cNvSpPr>
            <a:spLocks noGrp="1"/>
          </p:cNvSpPr>
          <p:nvPr/>
        </p:nvSpPr>
        <p:spPr>
          <a:xfrm>
            <a:off x="13525500" y="3319463"/>
            <a:ext cx="1095375" cy="340042"/>
          </a:xfrm>
          <a:custGeom>
            <a:avLst/>
            <a:gdLst/>
            <a:ahLst/>
            <a:cxnLst/>
            <a:pathLst>
              <a:path w="1095375" h="340042">
                <a:moveTo>
                  <a:pt x="0" y="294322"/>
                </a:moveTo>
                <a:lnTo>
                  <a:pt x="24765" y="269558"/>
                </a:lnTo>
                <a:lnTo>
                  <a:pt x="49530" y="240983"/>
                </a:lnTo>
                <a:lnTo>
                  <a:pt x="74295" y="208597"/>
                </a:lnTo>
                <a:lnTo>
                  <a:pt x="100013" y="177165"/>
                </a:lnTo>
                <a:lnTo>
                  <a:pt x="124777" y="148590"/>
                </a:lnTo>
                <a:lnTo>
                  <a:pt x="149543" y="123825"/>
                </a:lnTo>
                <a:lnTo>
                  <a:pt x="174307" y="104775"/>
                </a:lnTo>
                <a:lnTo>
                  <a:pt x="199073" y="91440"/>
                </a:lnTo>
                <a:lnTo>
                  <a:pt x="223838" y="81915"/>
                </a:lnTo>
                <a:lnTo>
                  <a:pt x="248602" y="74295"/>
                </a:lnTo>
                <a:lnTo>
                  <a:pt x="274320" y="68580"/>
                </a:lnTo>
                <a:lnTo>
                  <a:pt x="299085" y="60960"/>
                </a:lnTo>
                <a:lnTo>
                  <a:pt x="323850" y="52388"/>
                </a:lnTo>
                <a:lnTo>
                  <a:pt x="348615" y="40958"/>
                </a:lnTo>
                <a:lnTo>
                  <a:pt x="373380" y="27622"/>
                </a:lnTo>
                <a:lnTo>
                  <a:pt x="398145" y="15240"/>
                </a:lnTo>
                <a:lnTo>
                  <a:pt x="422910" y="5715"/>
                </a:lnTo>
                <a:lnTo>
                  <a:pt x="447675" y="0"/>
                </a:lnTo>
                <a:lnTo>
                  <a:pt x="473393" y="953"/>
                </a:lnTo>
                <a:lnTo>
                  <a:pt x="498157" y="9525"/>
                </a:lnTo>
                <a:lnTo>
                  <a:pt x="522923" y="25717"/>
                </a:lnTo>
                <a:lnTo>
                  <a:pt x="547688" y="48578"/>
                </a:lnTo>
                <a:lnTo>
                  <a:pt x="572452" y="77153"/>
                </a:lnTo>
                <a:lnTo>
                  <a:pt x="597218" y="106680"/>
                </a:lnTo>
                <a:lnTo>
                  <a:pt x="621982" y="137160"/>
                </a:lnTo>
                <a:lnTo>
                  <a:pt x="647700" y="163830"/>
                </a:lnTo>
                <a:lnTo>
                  <a:pt x="672465" y="186690"/>
                </a:lnTo>
                <a:lnTo>
                  <a:pt x="697230" y="204788"/>
                </a:lnTo>
                <a:lnTo>
                  <a:pt x="721995" y="219075"/>
                </a:lnTo>
                <a:lnTo>
                  <a:pt x="746760" y="229553"/>
                </a:lnTo>
                <a:lnTo>
                  <a:pt x="771525" y="238125"/>
                </a:lnTo>
                <a:lnTo>
                  <a:pt x="796290" y="246697"/>
                </a:lnTo>
                <a:lnTo>
                  <a:pt x="821055" y="257175"/>
                </a:lnTo>
                <a:lnTo>
                  <a:pt x="846773" y="270510"/>
                </a:lnTo>
                <a:lnTo>
                  <a:pt x="871538" y="285750"/>
                </a:lnTo>
                <a:lnTo>
                  <a:pt x="896302" y="302895"/>
                </a:lnTo>
                <a:lnTo>
                  <a:pt x="921068" y="319088"/>
                </a:lnTo>
                <a:lnTo>
                  <a:pt x="945832" y="331470"/>
                </a:lnTo>
                <a:lnTo>
                  <a:pt x="970598" y="340042"/>
                </a:lnTo>
                <a:lnTo>
                  <a:pt x="995363" y="340042"/>
                </a:lnTo>
                <a:lnTo>
                  <a:pt x="1021080" y="333375"/>
                </a:lnTo>
                <a:lnTo>
                  <a:pt x="1045845" y="318135"/>
                </a:lnTo>
                <a:lnTo>
                  <a:pt x="1070610" y="297180"/>
                </a:lnTo>
                <a:lnTo>
                  <a:pt x="1095375" y="270510"/>
                </a:lnTo>
              </a:path>
            </a:pathLst>
          </a:custGeom>
          <a:noFill/>
          <a:ln w="25718">
            <a:solidFill>
              <a:srgbClr val="BA8135"/>
            </a:solidFill>
            <a:prstDash val="solid"/>
          </a:ln>
        </p:spPr>
      </p:sp>
      <p:sp>
        <p:nvSpPr>
          <p:cNvPr id="93" name="f3-text-082-噪声 → 流匹配（FM）"/>
          <p:cNvSpPr>
            <a:spLocks noGrp="1"/>
          </p:cNvSpPr>
          <p:nvPr/>
        </p:nvSpPr>
        <p:spPr>
          <a:xfrm>
            <a:off x="11430000" y="3771138"/>
            <a:ext cx="2618668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噪声 → 流匹配（FM）</a:t>
            </a:r>
            <a:endParaRPr sz="202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4" name="f3-text-083-生成连续动作块"/>
          <p:cNvSpPr>
            <a:spLocks noGrp="1"/>
          </p:cNvSpPr>
          <p:nvPr/>
        </p:nvSpPr>
        <p:spPr>
          <a:xfrm>
            <a:off x="11430000" y="4065270"/>
            <a:ext cx="2095500" cy="3857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2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生成连续动作块</a:t>
            </a:r>
            <a:endParaRPr sz="22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5" name="f3-text-084-执行前缀，再闭环观察"/>
          <p:cNvSpPr>
            <a:spLocks noGrp="1"/>
          </p:cNvSpPr>
          <p:nvPr/>
        </p:nvSpPr>
        <p:spPr>
          <a:xfrm>
            <a:off x="11430000" y="4457319"/>
            <a:ext cx="2571750" cy="3343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9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执行前缀，再闭环观察</a:t>
            </a:r>
            <a:endParaRPr sz="195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6" name="f3-path-085-arrow"/>
          <p:cNvSpPr>
            <a:spLocks noGrp="1"/>
          </p:cNvSpPr>
          <p:nvPr/>
        </p:nvSpPr>
        <p:spPr>
          <a:xfrm>
            <a:off x="7648575" y="3352800"/>
            <a:ext cx="3590925" cy="4238625"/>
          </a:xfrm>
          <a:custGeom>
            <a:avLst/>
            <a:gdLst/>
            <a:ahLst/>
            <a:cxnLst/>
            <a:pathLst>
              <a:path w="3590925" h="4238625">
                <a:moveTo>
                  <a:pt x="0" y="4238625"/>
                </a:moveTo>
                <a:lnTo>
                  <a:pt x="3286125" y="4238625"/>
                </a:lnTo>
                <a:lnTo>
                  <a:pt x="3286125" y="0"/>
                </a:lnTo>
                <a:lnTo>
                  <a:pt x="3590925" y="0"/>
                </a:lnTo>
              </a:path>
            </a:pathLst>
          </a:custGeom>
          <a:noFill/>
          <a:ln w="28575">
            <a:solidFill>
              <a:srgbClr val="346CA0"/>
            </a:solidFill>
            <a:prstDash val="solid"/>
          </a:ln>
        </p:spPr>
      </p:sp>
      <p:sp>
        <p:nvSpPr>
          <p:cNvPr id="97" name="f3-path-085-arrow-head"/>
          <p:cNvSpPr>
            <a:spLocks noGrp="1"/>
          </p:cNvSpPr>
          <p:nvPr/>
        </p:nvSpPr>
        <p:spPr>
          <a:xfrm>
            <a:off x="11108055" y="328970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98" name="f3-text-086-生成子任务后的隐藏 K/V"/>
          <p:cNvSpPr>
            <a:spLocks noGrp="1"/>
          </p:cNvSpPr>
          <p:nvPr/>
        </p:nvSpPr>
        <p:spPr>
          <a:xfrm>
            <a:off x="7848600" y="7685913"/>
            <a:ext cx="2882261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生成子任务后的隐藏 K/V</a:t>
            </a:r>
            <a:endParaRPr sz="202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pic>
        <p:nvPicPr>
          <p:cNvPr id="99" name="Picture 98"/>
          <p:cNvPicPr>
            <a:picLocks noChangeAspect="1"/>
          </p:cNvPicPr>
          <p:nvPr/>
        </p:nvPicPr>
        <p:blipFill>
          <a:blip r:embed="rId2"/>
          <a:srcRect l="8963" r="8963"/>
          <a:stretch>
            <a:fillRect/>
          </a:stretch>
        </p:blipFill>
        <p:spPr>
          <a:xfrm>
            <a:off x="11239500" y="5943600"/>
            <a:ext cx="3667125" cy="2514600"/>
          </a:xfrm>
          <a:prstGeom prst="roundRect">
            <a:avLst>
              <a:gd name="adj" fmla="val 3788"/>
            </a:avLst>
          </a:prstGeom>
        </p:spPr>
      </p:pic>
      <p:sp>
        <p:nvSpPr>
          <p:cNvPr id="100" name="f3-rect-088"/>
          <p:cNvSpPr>
            <a:spLocks noGrp="1"/>
          </p:cNvSpPr>
          <p:nvPr/>
        </p:nvSpPr>
        <p:spPr>
          <a:xfrm>
            <a:off x="11239500" y="5943600"/>
            <a:ext cx="3667125" cy="2514600"/>
          </a:xfrm>
          <a:prstGeom prst="roundRect">
            <a:avLst>
              <a:gd name="adj" fmla="val 3788"/>
            </a:avLst>
          </a:prstGeom>
          <a:noFill/>
          <a:ln w="14288">
            <a:solidFill>
              <a:srgbClr val="D9E0E6"/>
            </a:solidFill>
            <a:prstDash val="solid"/>
          </a:ln>
        </p:spPr>
      </p:sp>
      <p:sp>
        <p:nvSpPr>
          <p:cNvPr id="101" name="f3-rect-089"/>
          <p:cNvSpPr>
            <a:spLocks noGrp="1"/>
          </p:cNvSpPr>
          <p:nvPr/>
        </p:nvSpPr>
        <p:spPr>
          <a:xfrm>
            <a:off x="11430000" y="8039100"/>
            <a:ext cx="32670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7145">
            <a:noFill/>
            <a:prstDash val="solid"/>
          </a:ln>
        </p:spPr>
      </p:sp>
      <p:sp>
        <p:nvSpPr>
          <p:cNvPr id="102" name="f3-text-090-干式样品流程 · 场景示意"/>
          <p:cNvSpPr>
            <a:spLocks noGrp="1"/>
          </p:cNvSpPr>
          <p:nvPr/>
        </p:nvSpPr>
        <p:spPr>
          <a:xfrm>
            <a:off x="11753366" y="8087106"/>
            <a:ext cx="262034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干式样品流程 · 场景示意</a:t>
            </a:r>
            <a:endParaRPr sz="18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3" name="f3-path-091-arrow"/>
          <p:cNvSpPr>
            <a:spLocks noGrp="1"/>
          </p:cNvSpPr>
          <p:nvPr/>
        </p:nvSpPr>
        <p:spPr>
          <a:xfrm>
            <a:off x="13049250" y="4876800"/>
            <a:ext cx="9525" cy="1066800"/>
          </a:xfrm>
          <a:custGeom>
            <a:avLst/>
            <a:gdLst/>
            <a:ahLst/>
            <a:cxnLst/>
            <a:pathLst>
              <a:path w="9525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/>
          <a:ln w="28575">
            <a:solidFill>
              <a:srgbClr val="BA8135"/>
            </a:solidFill>
            <a:prstDash val="solid"/>
          </a:ln>
        </p:spPr>
      </p:sp>
      <p:sp>
        <p:nvSpPr>
          <p:cNvPr id="104" name="f3-path-091-arrow-head"/>
          <p:cNvSpPr>
            <a:spLocks noGrp="1"/>
          </p:cNvSpPr>
          <p:nvPr/>
        </p:nvSpPr>
        <p:spPr>
          <a:xfrm>
            <a:off x="12986156" y="5812155"/>
            <a:ext cx="126187" cy="131445"/>
          </a:xfrm>
          <a:custGeom>
            <a:avLst/>
            <a:gdLst/>
            <a:ahLst/>
            <a:cxnLst/>
            <a:pathLst>
              <a:path w="126187" h="131445">
                <a:moveTo>
                  <a:pt x="63094" y="131445"/>
                </a:moveTo>
                <a:lnTo>
                  <a:pt x="126187" y="0"/>
                </a:lnTo>
                <a:lnTo>
                  <a:pt x="0" y="0"/>
                </a:lnTo>
                <a:close/>
              </a:path>
            </a:pathLst>
          </a:custGeom>
          <a:solidFill>
            <a:srgbClr val="BA8135"/>
          </a:solidFill>
          <a:ln w="0">
            <a:noFill/>
            <a:prstDash val="solid"/>
          </a:ln>
        </p:spPr>
      </p:sp>
      <p:sp>
        <p:nvSpPr>
          <p:cNvPr id="105" name="f3-text-092-臂手连续控制"/>
          <p:cNvSpPr>
            <a:spLocks noGrp="1"/>
          </p:cNvSpPr>
          <p:nvPr/>
        </p:nvSpPr>
        <p:spPr>
          <a:xfrm>
            <a:off x="11287125" y="5114163"/>
            <a:ext cx="1638300" cy="3471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2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臂手连续控制</a:t>
            </a:r>
            <a:endParaRPr sz="2025" b="0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6" name="f3-text-093-实际执行产生新观测与后果"/>
          <p:cNvSpPr>
            <a:spLocks noGrp="1"/>
          </p:cNvSpPr>
          <p:nvPr/>
        </p:nvSpPr>
        <p:spPr>
          <a:xfrm>
            <a:off x="11191875" y="8639175"/>
            <a:ext cx="2952750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实际执行产生新观测与后果</a:t>
            </a:r>
            <a:endParaRPr sz="18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7" name="f3-path-094-arrow"/>
          <p:cNvSpPr>
            <a:spLocks noGrp="1"/>
          </p:cNvSpPr>
          <p:nvPr/>
        </p:nvSpPr>
        <p:spPr>
          <a:xfrm>
            <a:off x="3905250" y="6286500"/>
            <a:ext cx="9191625" cy="3400425"/>
          </a:xfrm>
          <a:custGeom>
            <a:avLst/>
            <a:gdLst/>
            <a:ahLst/>
            <a:cxnLst/>
            <a:pathLst>
              <a:path w="9191625" h="3400425">
                <a:moveTo>
                  <a:pt x="9191625" y="2828925"/>
                </a:moveTo>
                <a:lnTo>
                  <a:pt x="9191625" y="3400425"/>
                </a:lnTo>
                <a:lnTo>
                  <a:pt x="0" y="3400425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/>
          <a:ln w="28575">
            <a:solidFill>
              <a:srgbClr val="647383"/>
            </a:solidFill>
            <a:prstDash val="solid"/>
          </a:ln>
        </p:spPr>
      </p:sp>
      <p:sp>
        <p:nvSpPr>
          <p:cNvPr id="108" name="f3-path-094-arrow-head"/>
          <p:cNvSpPr>
            <a:spLocks noGrp="1"/>
          </p:cNvSpPr>
          <p:nvPr/>
        </p:nvSpPr>
        <p:spPr>
          <a:xfrm>
            <a:off x="3878580" y="622340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647383"/>
          </a:solidFill>
          <a:ln w="0">
            <a:noFill/>
            <a:prstDash val="solid"/>
          </a:ln>
        </p:spPr>
      </p:sp>
      <p:sp>
        <p:nvSpPr>
          <p:cNvPr id="109" name="f3-rect-095"/>
          <p:cNvSpPr>
            <a:spLocks noGrp="1"/>
          </p:cNvSpPr>
          <p:nvPr/>
        </p:nvSpPr>
        <p:spPr>
          <a:xfrm>
            <a:off x="5715000" y="9458325"/>
            <a:ext cx="4724400" cy="438150"/>
          </a:xfrm>
          <a:prstGeom prst="rect">
            <a:avLst/>
          </a:prstGeom>
          <a:solidFill>
            <a:srgbClr val="FFFFFF"/>
          </a:solidFill>
          <a:ln w="17145">
            <a:noFill/>
            <a:prstDash val="solid"/>
          </a:ln>
        </p:spPr>
      </p:sp>
      <p:sp>
        <p:nvSpPr>
          <p:cNvPr id="110" name="f3-text-096-新观测与可见执行证据"/>
          <p:cNvSpPr>
            <a:spLocks noGrp="1"/>
          </p:cNvSpPr>
          <p:nvPr/>
        </p:nvSpPr>
        <p:spPr>
          <a:xfrm>
            <a:off x="6648450" y="9485376"/>
            <a:ext cx="2857500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新观测与可见执行证据</a:t>
            </a:r>
            <a:endParaRPr sz="217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1" name="f3-text-097-首轮只限制动作能力范围；不设固定子任务库或技能 "/>
          <p:cNvSpPr>
            <a:spLocks noGrp="1"/>
          </p:cNvSpPr>
          <p:nvPr/>
        </p:nvSpPr>
        <p:spPr>
          <a:xfrm>
            <a:off x="285750" y="10009632"/>
            <a:ext cx="742896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首轮只限制动作能力范围；不设固定子任务库或技能 ID 选择。</a:t>
            </a:r>
            <a:endParaRPr sz="210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2" name="f3-text-098-拟研究方案；左侧为既有仿真，右侧为 AI 概念场"/>
          <p:cNvSpPr>
            <a:spLocks noGrp="1"/>
          </p:cNvSpPr>
          <p:nvPr/>
        </p:nvSpPr>
        <p:spPr>
          <a:xfrm>
            <a:off x="285750" y="10515600"/>
            <a:ext cx="9835493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拟研究方案；左侧为既有仿真，右侧为 AI 概念场景；高层生成与专家的目标和梯度详见图3.3。</a:t>
            </a:r>
            <a:endParaRPr sz="18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0" name="f4-rect-000"/>
          <p:cNvSpPr>
            <a:spLocks noGrp="1"/>
          </p:cNvSpPr>
          <p:nvPr/>
        </p:nvSpPr>
        <p:spPr>
          <a:xfrm>
            <a:off x="304800" y="228600"/>
            <a:ext cx="14630400" cy="109728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6459">
            <a:noFill/>
            <a:prstDash val="solid"/>
          </a:ln>
        </p:spPr>
      </p:sp>
      <p:sp>
        <p:nvSpPr>
          <p:cNvPr id="2" name="f4-text-001-生成式高层与连续专家：目标、标签和梯度分工"/>
          <p:cNvSpPr>
            <a:spLocks noGrp="1"/>
          </p:cNvSpPr>
          <p:nvPr/>
        </p:nvSpPr>
        <p:spPr>
          <a:xfrm>
            <a:off x="577215" y="325161"/>
            <a:ext cx="7008114" cy="4443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9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生成式高层与连续专家：目标、标签和梯度分工</a:t>
            </a:r>
            <a:endParaRPr sz="259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" name="f4-path-002-arrow"/>
          <p:cNvSpPr>
            <a:spLocks noGrp="1"/>
          </p:cNvSpPr>
          <p:nvPr/>
        </p:nvSpPr>
        <p:spPr>
          <a:xfrm>
            <a:off x="9448800" y="566928"/>
            <a:ext cx="640080" cy="9525"/>
          </a:xfrm>
          <a:custGeom>
            <a:avLst/>
            <a:gdLst/>
            <a:ahLst/>
            <a:cxnLst/>
            <a:pathLst>
              <a:path w="640080" h="9525">
                <a:moveTo>
                  <a:pt x="0" y="0"/>
                </a:moveTo>
                <a:lnTo>
                  <a:pt x="640080" y="0"/>
                </a:lnTo>
              </a:path>
            </a:pathLst>
          </a:custGeom>
          <a:noFill/>
          <a:ln w="22860">
            <a:solidFill>
              <a:srgbClr val="243140"/>
            </a:solidFill>
            <a:prstDash val="solid"/>
          </a:ln>
        </p:spPr>
      </p:sp>
      <p:sp>
        <p:nvSpPr>
          <p:cNvPr id="4" name="f4-path-002-arrow-head"/>
          <p:cNvSpPr>
            <a:spLocks noGrp="1"/>
          </p:cNvSpPr>
          <p:nvPr/>
        </p:nvSpPr>
        <p:spPr>
          <a:xfrm>
            <a:off x="9983724" y="516453"/>
            <a:ext cx="105156" cy="100950"/>
          </a:xfrm>
          <a:custGeom>
            <a:avLst/>
            <a:gdLst/>
            <a:ahLst/>
            <a:cxnLst/>
            <a:pathLst>
              <a:path w="105156" h="100950">
                <a:moveTo>
                  <a:pt x="105156" y="50475"/>
                </a:moveTo>
                <a:lnTo>
                  <a:pt x="0" y="0"/>
                </a:lnTo>
                <a:lnTo>
                  <a:pt x="0" y="100950"/>
                </a:lnTo>
                <a:close/>
              </a:path>
            </a:pathLst>
          </a:custGeom>
          <a:solidFill>
            <a:srgbClr val="243140"/>
          </a:solidFill>
          <a:ln w="0">
            <a:noFill/>
            <a:prstDash val="solid"/>
          </a:ln>
        </p:spPr>
      </p:sp>
      <p:sp>
        <p:nvSpPr>
          <p:cNvPr id="5" name="f4-text-003-前向 / 标签"/>
          <p:cNvSpPr>
            <a:spLocks noGrp="1"/>
          </p:cNvSpPr>
          <p:nvPr/>
        </p:nvSpPr>
        <p:spPr>
          <a:xfrm>
            <a:off x="10178415" y="382951"/>
            <a:ext cx="1334441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前向 / 标签</a:t>
            </a:r>
            <a:endParaRPr sz="201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" name="f4-path-004-arrow"/>
          <p:cNvSpPr>
            <a:spLocks noGrp="1"/>
          </p:cNvSpPr>
          <p:nvPr/>
        </p:nvSpPr>
        <p:spPr>
          <a:xfrm>
            <a:off x="12100560" y="566928"/>
            <a:ext cx="640080" cy="9525"/>
          </a:xfrm>
          <a:custGeom>
            <a:avLst/>
            <a:gdLst/>
            <a:ahLst/>
            <a:cxnLst/>
            <a:pathLst>
              <a:path w="640080" h="9525">
                <a:moveTo>
                  <a:pt x="0" y="0"/>
                </a:moveTo>
                <a:lnTo>
                  <a:pt x="640080" y="0"/>
                </a:lnTo>
              </a:path>
            </a:pathLst>
          </a:custGeom>
          <a:noFill/>
          <a:ln w="22860">
            <a:solidFill>
              <a:srgbClr val="BB5360"/>
            </a:solidFill>
            <a:prstDash val="dash"/>
          </a:ln>
        </p:spPr>
      </p:sp>
      <p:sp>
        <p:nvSpPr>
          <p:cNvPr id="7" name="f4-path-004-arrow-head"/>
          <p:cNvSpPr>
            <a:spLocks noGrp="1"/>
          </p:cNvSpPr>
          <p:nvPr/>
        </p:nvSpPr>
        <p:spPr>
          <a:xfrm>
            <a:off x="12635484" y="516453"/>
            <a:ext cx="105156" cy="100950"/>
          </a:xfrm>
          <a:custGeom>
            <a:avLst/>
            <a:gdLst/>
            <a:ahLst/>
            <a:cxnLst/>
            <a:pathLst>
              <a:path w="105156" h="100950">
                <a:moveTo>
                  <a:pt x="105156" y="50475"/>
                </a:moveTo>
                <a:lnTo>
                  <a:pt x="0" y="0"/>
                </a:lnTo>
                <a:lnTo>
                  <a:pt x="0" y="100950"/>
                </a:lnTo>
                <a:close/>
              </a:path>
            </a:pathLst>
          </a:custGeom>
          <a:solidFill>
            <a:srgbClr val="BB5360"/>
          </a:solidFill>
          <a:ln w="0">
            <a:noFill/>
            <a:prstDash val="solid"/>
          </a:ln>
        </p:spPr>
      </p:sp>
      <p:sp>
        <p:nvSpPr>
          <p:cNvPr id="8" name="f4-text-005-梯度"/>
          <p:cNvSpPr>
            <a:spLocks noGrp="1"/>
          </p:cNvSpPr>
          <p:nvPr/>
        </p:nvSpPr>
        <p:spPr>
          <a:xfrm>
            <a:off x="12830175" y="382951"/>
            <a:ext cx="607314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梯度</a:t>
            </a:r>
            <a:endParaRPr sz="2015" b="0" i="0">
              <a:solidFill>
                <a:srgbClr val="BB536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" name="f4-text-006-a"/>
          <p:cNvSpPr>
            <a:spLocks noGrp="1"/>
          </p:cNvSpPr>
          <p:nvPr/>
        </p:nvSpPr>
        <p:spPr>
          <a:xfrm>
            <a:off x="577215" y="799186"/>
            <a:ext cx="311420" cy="49377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288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" name="f4-text-007-交互轨迹 → 价值监督 → 优势条件"/>
          <p:cNvSpPr>
            <a:spLocks noGrp="1"/>
          </p:cNvSpPr>
          <p:nvPr/>
        </p:nvSpPr>
        <p:spPr>
          <a:xfrm>
            <a:off x="970407" y="856244"/>
            <a:ext cx="4730115" cy="4197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交互轨迹 → 价值监督 → 优势条件</a:t>
            </a:r>
            <a:endParaRPr sz="24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" name="f4-rect-008"/>
          <p:cNvSpPr>
            <a:spLocks noGrp="1"/>
          </p:cNvSpPr>
          <p:nvPr/>
        </p:nvSpPr>
        <p:spPr>
          <a:xfrm>
            <a:off x="624840" y="1371600"/>
            <a:ext cx="4069080" cy="2029968"/>
          </a:xfrm>
          <a:prstGeom prst="roundRect">
            <a:avLst>
              <a:gd name="adj" fmla="val 5856"/>
            </a:avLst>
          </a:prstGeom>
          <a:solidFill>
            <a:srgbClr val="FCFCFC"/>
          </a:solidFill>
          <a:ln w="16459">
            <a:solidFill>
              <a:srgbClr val="D9E0E6"/>
            </a:solidFill>
            <a:prstDash val="solid"/>
          </a:ln>
        </p:spPr>
      </p:sp>
      <p:sp>
        <p:nvSpPr>
          <p:cNvPr id="12" name="f4-text-009-Rollout 轨迹"/>
          <p:cNvSpPr>
            <a:spLocks noGrp="1"/>
          </p:cNvSpPr>
          <p:nvPr/>
        </p:nvSpPr>
        <p:spPr>
          <a:xfrm>
            <a:off x="760095" y="1405616"/>
            <a:ext cx="1803196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Rollout 轨迹</a:t>
            </a:r>
            <a:endParaRPr sz="2305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3" name="f4-text-010-A / r / 版本"/>
          <p:cNvSpPr>
            <a:spLocks noGrp="1"/>
          </p:cNvSpPr>
          <p:nvPr/>
        </p:nvSpPr>
        <p:spPr>
          <a:xfrm>
            <a:off x="2726055" y="1443655"/>
            <a:ext cx="1292435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 / r / 版本</a:t>
            </a:r>
            <a:endParaRPr sz="2015" b="0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1"/>
          <a:srcRect l="50000" t="13009" b="53348"/>
          <a:stretch>
            <a:fillRect/>
          </a:stretch>
        </p:blipFill>
        <p:spPr>
          <a:xfrm>
            <a:off x="807720" y="1874520"/>
            <a:ext cx="1645920" cy="868680"/>
          </a:xfrm>
          <a:prstGeom prst="roundRect">
            <a:avLst>
              <a:gd name="adj" fmla="val 10526"/>
            </a:avLst>
          </a:prstGeom>
        </p:spPr>
      </p:pic>
      <p:sp>
        <p:nvSpPr>
          <p:cNvPr id="15" name="f4-rect-012"/>
          <p:cNvSpPr>
            <a:spLocks noGrp="1"/>
          </p:cNvSpPr>
          <p:nvPr/>
        </p:nvSpPr>
        <p:spPr>
          <a:xfrm>
            <a:off x="807720" y="1874520"/>
            <a:ext cx="1645920" cy="868680"/>
          </a:xfrm>
          <a:prstGeom prst="roundRect">
            <a:avLst>
              <a:gd name="adj" fmla="val 7368"/>
            </a:avLst>
          </a:prstGeom>
          <a:noFill/>
          <a:ln w="13716">
            <a:solidFill>
              <a:srgbClr val="D9E0E6"/>
            </a:solidFill>
            <a:prstDash val="solid"/>
          </a:ln>
        </p:spPr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rcRect t="9227" b="9227"/>
          <a:stretch>
            <a:fillRect/>
          </a:stretch>
        </p:blipFill>
        <p:spPr>
          <a:xfrm>
            <a:off x="2590800" y="1874520"/>
            <a:ext cx="1892808" cy="868680"/>
          </a:xfrm>
          <a:prstGeom prst="roundRect">
            <a:avLst>
              <a:gd name="adj" fmla="val 10526"/>
            </a:avLst>
          </a:prstGeom>
        </p:spPr>
      </p:pic>
      <p:sp>
        <p:nvSpPr>
          <p:cNvPr id="17" name="f4-rect-014"/>
          <p:cNvSpPr>
            <a:spLocks noGrp="1"/>
          </p:cNvSpPr>
          <p:nvPr/>
        </p:nvSpPr>
        <p:spPr>
          <a:xfrm>
            <a:off x="2590800" y="1874520"/>
            <a:ext cx="1892808" cy="868680"/>
          </a:xfrm>
          <a:prstGeom prst="roundRect">
            <a:avLst>
              <a:gd name="adj" fmla="val 7368"/>
            </a:avLst>
          </a:prstGeom>
          <a:noFill/>
          <a:ln w="13716">
            <a:solidFill>
              <a:srgbClr val="D9E0E6"/>
            </a:solidFill>
            <a:prstDash val="solid"/>
          </a:ln>
        </p:spPr>
      </p:sp>
      <p:sp>
        <p:nvSpPr>
          <p:cNvPr id="18" name="f4-text-015-既有仿真"/>
          <p:cNvSpPr>
            <a:spLocks noGrp="1"/>
          </p:cNvSpPr>
          <p:nvPr/>
        </p:nvSpPr>
        <p:spPr>
          <a:xfrm>
            <a:off x="760095" y="2788554"/>
            <a:ext cx="1046226" cy="3209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既有仿真</a:t>
            </a:r>
            <a:endParaRPr sz="187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9" name="f4-text-016-拟任务概念示意"/>
          <p:cNvSpPr>
            <a:spLocks noGrp="1"/>
          </p:cNvSpPr>
          <p:nvPr/>
        </p:nvSpPr>
        <p:spPr>
          <a:xfrm>
            <a:off x="2543175" y="2788554"/>
            <a:ext cx="1759458" cy="3209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拟任务概念示意</a:t>
            </a:r>
            <a:endParaRPr sz="187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0" name="f4-text-017-记录 READ / WRITE / 子任务文本"/>
          <p:cNvSpPr>
            <a:spLocks noGrp="1"/>
          </p:cNvSpPr>
          <p:nvPr/>
        </p:nvSpPr>
        <p:spPr>
          <a:xfrm>
            <a:off x="760095" y="3081894"/>
            <a:ext cx="3259431" cy="2962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73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记录 READ / WRITE / 子任务文本</a:t>
            </a:r>
            <a:endParaRPr sz="173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1" name="f4-path-018-arrow"/>
          <p:cNvSpPr>
            <a:spLocks noGrp="1"/>
          </p:cNvSpPr>
          <p:nvPr/>
        </p:nvSpPr>
        <p:spPr>
          <a:xfrm>
            <a:off x="4693920" y="2377440"/>
            <a:ext cx="548640" cy="9525"/>
          </a:xfrm>
          <a:custGeom>
            <a:avLst/>
            <a:gdLst/>
            <a:ahLst/>
            <a:cxnLst/>
            <a:pathLst>
              <a:path w="548640" h="9525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7432">
            <a:solidFill>
              <a:srgbClr val="243140"/>
            </a:solidFill>
            <a:prstDash val="solid"/>
          </a:ln>
        </p:spPr>
      </p:sp>
      <p:sp>
        <p:nvSpPr>
          <p:cNvPr id="22" name="f4-path-018-arrow-head"/>
          <p:cNvSpPr>
            <a:spLocks noGrp="1"/>
          </p:cNvSpPr>
          <p:nvPr/>
        </p:nvSpPr>
        <p:spPr>
          <a:xfrm>
            <a:off x="5116373" y="2316870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126187" y="60570"/>
                </a:moveTo>
                <a:lnTo>
                  <a:pt x="0" y="0"/>
                </a:lnTo>
                <a:lnTo>
                  <a:pt x="0" y="121140"/>
                </a:lnTo>
                <a:close/>
              </a:path>
            </a:pathLst>
          </a:custGeom>
          <a:solidFill>
            <a:srgbClr val="243140"/>
          </a:solidFill>
          <a:ln w="0">
            <a:noFill/>
            <a:prstDash val="solid"/>
          </a:ln>
        </p:spPr>
      </p:sp>
      <p:sp>
        <p:nvSpPr>
          <p:cNvPr id="23" name="f4-rect-019"/>
          <p:cNvSpPr>
            <a:spLocks noGrp="1"/>
          </p:cNvSpPr>
          <p:nvPr/>
        </p:nvSpPr>
        <p:spPr>
          <a:xfrm>
            <a:off x="5334000" y="1371600"/>
            <a:ext cx="4572000" cy="2029968"/>
          </a:xfrm>
          <a:prstGeom prst="roundRect">
            <a:avLst>
              <a:gd name="adj" fmla="val 5856"/>
            </a:avLst>
          </a:prstGeom>
          <a:solidFill>
            <a:srgbClr val="F2F8F5"/>
          </a:solidFill>
          <a:ln w="16459">
            <a:solidFill>
              <a:srgbClr val="268575"/>
            </a:solidFill>
            <a:prstDash val="solid"/>
          </a:ln>
        </p:spPr>
      </p:sp>
      <p:sp>
        <p:nvSpPr>
          <p:cNvPr id="24" name="f4-rect-020"/>
          <p:cNvSpPr>
            <a:spLocks noGrp="1"/>
          </p:cNvSpPr>
          <p:nvPr/>
        </p:nvSpPr>
        <p:spPr>
          <a:xfrm>
            <a:off x="5745480" y="1609344"/>
            <a:ext cx="1618488" cy="758952"/>
          </a:xfrm>
          <a:prstGeom prst="roundRect">
            <a:avLst>
              <a:gd name="adj" fmla="val 14458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268575"/>
            </a:solidFill>
            <a:prstDash val="solid"/>
          </a:ln>
        </p:spPr>
      </p:sp>
      <p:sp>
        <p:nvSpPr>
          <p:cNvPr id="25" name="f4-rect-021"/>
          <p:cNvSpPr>
            <a:spLocks noGrp="1"/>
          </p:cNvSpPr>
          <p:nvPr/>
        </p:nvSpPr>
        <p:spPr>
          <a:xfrm>
            <a:off x="5654040" y="1691640"/>
            <a:ext cx="1618488" cy="758952"/>
          </a:xfrm>
          <a:prstGeom prst="roundRect">
            <a:avLst>
              <a:gd name="adj" fmla="val 14458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268575"/>
            </a:solidFill>
            <a:prstDash val="solid"/>
          </a:ln>
        </p:spPr>
      </p:sp>
      <p:sp>
        <p:nvSpPr>
          <p:cNvPr id="26" name="f4-rect-022"/>
          <p:cNvSpPr>
            <a:spLocks noGrp="1"/>
          </p:cNvSpPr>
          <p:nvPr/>
        </p:nvSpPr>
        <p:spPr>
          <a:xfrm>
            <a:off x="5562600" y="1773936"/>
            <a:ext cx="1618488" cy="758952"/>
          </a:xfrm>
          <a:prstGeom prst="roundRect">
            <a:avLst>
              <a:gd name="adj" fmla="val 14458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268575"/>
            </a:solidFill>
            <a:prstDash val="solid"/>
          </a:ln>
        </p:spPr>
      </p:sp>
      <p:sp>
        <p:nvSpPr>
          <p:cNvPr id="27" name="f4-text-023-独立价值 ψ"/>
          <p:cNvSpPr>
            <a:spLocks noGrp="1"/>
          </p:cNvSpPr>
          <p:nvPr/>
        </p:nvSpPr>
        <p:spPr>
          <a:xfrm>
            <a:off x="5583921" y="1940540"/>
            <a:ext cx="1575846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独立价值 ψ</a:t>
            </a:r>
            <a:endParaRPr sz="2305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8" name="f4-rect-024"/>
          <p:cNvSpPr>
            <a:spLocks noGrp="1"/>
          </p:cNvSpPr>
          <p:nvPr/>
        </p:nvSpPr>
        <p:spPr>
          <a:xfrm>
            <a:off x="7574280" y="2505456"/>
            <a:ext cx="192024" cy="100584"/>
          </a:xfrm>
          <a:prstGeom prst="roundRect">
            <a:avLst>
              <a:gd name="adj" fmla="val 18182"/>
            </a:avLst>
          </a:prstGeom>
          <a:solidFill>
            <a:srgbClr val="268575"/>
          </a:solidFill>
          <a:ln w="16459">
            <a:noFill/>
            <a:prstDash val="solid"/>
          </a:ln>
        </p:spPr>
      </p:sp>
      <p:sp>
        <p:nvSpPr>
          <p:cNvPr id="29" name="f4-rect-025"/>
          <p:cNvSpPr>
            <a:spLocks noGrp="1"/>
          </p:cNvSpPr>
          <p:nvPr/>
        </p:nvSpPr>
        <p:spPr>
          <a:xfrm>
            <a:off x="7848600" y="2331720"/>
            <a:ext cx="192024" cy="274320"/>
          </a:xfrm>
          <a:prstGeom prst="roundRect">
            <a:avLst>
              <a:gd name="adj" fmla="val 9524"/>
            </a:avLst>
          </a:prstGeom>
          <a:solidFill>
            <a:srgbClr val="268575"/>
          </a:solidFill>
          <a:ln w="16459">
            <a:noFill/>
            <a:prstDash val="solid"/>
          </a:ln>
        </p:spPr>
      </p:sp>
      <p:sp>
        <p:nvSpPr>
          <p:cNvPr id="30" name="f4-rect-026"/>
          <p:cNvSpPr>
            <a:spLocks noGrp="1"/>
          </p:cNvSpPr>
          <p:nvPr/>
        </p:nvSpPr>
        <p:spPr>
          <a:xfrm>
            <a:off x="8122920" y="2112264"/>
            <a:ext cx="192024" cy="493776"/>
          </a:xfrm>
          <a:prstGeom prst="roundRect">
            <a:avLst>
              <a:gd name="adj" fmla="val 9524"/>
            </a:avLst>
          </a:prstGeom>
          <a:solidFill>
            <a:srgbClr val="268575"/>
          </a:solidFill>
          <a:ln w="16459">
            <a:noFill/>
            <a:prstDash val="solid"/>
          </a:ln>
        </p:spPr>
      </p:sp>
      <p:sp>
        <p:nvSpPr>
          <p:cNvPr id="31" name="f4-rect-027"/>
          <p:cNvSpPr>
            <a:spLocks noGrp="1"/>
          </p:cNvSpPr>
          <p:nvPr/>
        </p:nvSpPr>
        <p:spPr>
          <a:xfrm>
            <a:off x="8397240" y="1892808"/>
            <a:ext cx="192024" cy="713232"/>
          </a:xfrm>
          <a:prstGeom prst="roundRect">
            <a:avLst>
              <a:gd name="adj" fmla="val 9524"/>
            </a:avLst>
          </a:prstGeom>
          <a:solidFill>
            <a:srgbClr val="268575"/>
          </a:solidFill>
          <a:ln w="16459">
            <a:noFill/>
            <a:prstDash val="solid"/>
          </a:ln>
        </p:spPr>
      </p:sp>
      <p:sp>
        <p:nvSpPr>
          <p:cNvPr id="32" name="f4-rect-028"/>
          <p:cNvSpPr>
            <a:spLocks noGrp="1"/>
          </p:cNvSpPr>
          <p:nvPr/>
        </p:nvSpPr>
        <p:spPr>
          <a:xfrm>
            <a:off x="8671560" y="2075688"/>
            <a:ext cx="192024" cy="530352"/>
          </a:xfrm>
          <a:prstGeom prst="roundRect">
            <a:avLst>
              <a:gd name="adj" fmla="val 9524"/>
            </a:avLst>
          </a:prstGeom>
          <a:solidFill>
            <a:srgbClr val="268575"/>
          </a:solidFill>
          <a:ln w="16459">
            <a:noFill/>
            <a:prstDash val="solid"/>
          </a:ln>
        </p:spPr>
      </p:sp>
      <p:sp>
        <p:nvSpPr>
          <p:cNvPr id="33" name="f4-rect-029"/>
          <p:cNvSpPr>
            <a:spLocks noGrp="1"/>
          </p:cNvSpPr>
          <p:nvPr/>
        </p:nvSpPr>
        <p:spPr>
          <a:xfrm>
            <a:off x="8945880" y="2377440"/>
            <a:ext cx="192024" cy="228600"/>
          </a:xfrm>
          <a:prstGeom prst="roundRect">
            <a:avLst>
              <a:gd name="adj" fmla="val 9524"/>
            </a:avLst>
          </a:prstGeom>
          <a:solidFill>
            <a:srgbClr val="268575"/>
          </a:solidFill>
          <a:ln w="16459">
            <a:noFill/>
            <a:prstDash val="solid"/>
          </a:ln>
        </p:spPr>
      </p:sp>
      <p:sp>
        <p:nvSpPr>
          <p:cNvPr id="34" name="f4-text-030-L_V：MC 回报分箱 CE"/>
          <p:cNvSpPr>
            <a:spLocks noGrp="1"/>
          </p:cNvSpPr>
          <p:nvPr/>
        </p:nvSpPr>
        <p:spPr>
          <a:xfrm>
            <a:off x="5514975" y="2741371"/>
            <a:ext cx="2837896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L_V：MC 回报分箱 CE</a:t>
            </a:r>
            <a:endParaRPr sz="2160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5" name="f4-text-031-优势"/>
          <p:cNvSpPr>
            <a:spLocks noGrp="1"/>
          </p:cNvSpPr>
          <p:nvPr/>
        </p:nvSpPr>
        <p:spPr>
          <a:xfrm>
            <a:off x="10022967" y="2038015"/>
            <a:ext cx="607314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优势</a:t>
            </a:r>
            <a:endParaRPr sz="201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6" name="f4-path-032-arrow"/>
          <p:cNvSpPr>
            <a:spLocks noGrp="1"/>
          </p:cNvSpPr>
          <p:nvPr/>
        </p:nvSpPr>
        <p:spPr>
          <a:xfrm>
            <a:off x="9906000" y="2468880"/>
            <a:ext cx="822960" cy="9525"/>
          </a:xfrm>
          <a:custGeom>
            <a:avLst/>
            <a:gdLst/>
            <a:ahLst/>
            <a:cxnLst/>
            <a:pathLst>
              <a:path w="822960" h="9525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7432">
            <a:solidFill>
              <a:srgbClr val="268575"/>
            </a:solidFill>
            <a:prstDash val="solid"/>
          </a:ln>
        </p:spPr>
      </p:sp>
      <p:sp>
        <p:nvSpPr>
          <p:cNvPr id="37" name="f4-path-032-arrow-head"/>
          <p:cNvSpPr>
            <a:spLocks noGrp="1"/>
          </p:cNvSpPr>
          <p:nvPr/>
        </p:nvSpPr>
        <p:spPr>
          <a:xfrm>
            <a:off x="10602773" y="2408310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126187" y="60570"/>
                </a:moveTo>
                <a:lnTo>
                  <a:pt x="0" y="0"/>
                </a:lnTo>
                <a:lnTo>
                  <a:pt x="0" y="12114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38" name="f4-rect-033"/>
          <p:cNvSpPr>
            <a:spLocks noGrp="1"/>
          </p:cNvSpPr>
          <p:nvPr/>
        </p:nvSpPr>
        <p:spPr>
          <a:xfrm>
            <a:off x="10866120" y="1371600"/>
            <a:ext cx="3749040" cy="2029968"/>
          </a:xfrm>
          <a:prstGeom prst="roundRect">
            <a:avLst>
              <a:gd name="adj" fmla="val 5856"/>
            </a:avLst>
          </a:prstGeom>
          <a:solidFill>
            <a:srgbClr val="F2F8F5"/>
          </a:solidFill>
          <a:ln w="16459">
            <a:solidFill>
              <a:srgbClr val="268575"/>
            </a:solidFill>
            <a:prstDash val="solid"/>
          </a:ln>
        </p:spPr>
      </p:sp>
      <p:sp>
        <p:nvSpPr>
          <p:cNvPr id="39" name="f4-text-034-高层 Iᴴ / 动作 Iᴬ"/>
          <p:cNvSpPr>
            <a:spLocks noGrp="1"/>
          </p:cNvSpPr>
          <p:nvPr/>
        </p:nvSpPr>
        <p:spPr>
          <a:xfrm>
            <a:off x="11001375" y="1469624"/>
            <a:ext cx="2422952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高层 Iᴴ / 动作 Iᴬ</a:t>
            </a:r>
            <a:endParaRPr sz="2305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0" name="f4-text-035-按高层 / 执行窗口"/>
          <p:cNvSpPr>
            <a:spLocks noGrp="1"/>
          </p:cNvSpPr>
          <p:nvPr/>
        </p:nvSpPr>
        <p:spPr>
          <a:xfrm>
            <a:off x="11001375" y="1973275"/>
            <a:ext cx="2245930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按高层 / 执行窗口</a:t>
            </a:r>
            <a:endParaRPr sz="216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1" name="f4-text-036-分别计算优势标签"/>
          <p:cNvSpPr>
            <a:spLocks noGrp="1"/>
          </p:cNvSpPr>
          <p:nvPr/>
        </p:nvSpPr>
        <p:spPr>
          <a:xfrm>
            <a:off x="11001375" y="2375611"/>
            <a:ext cx="2289810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分别计算优势标签</a:t>
            </a:r>
            <a:endParaRPr sz="216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2" name="f4-text-037-ψ 独立更新；不向 actor 反传"/>
          <p:cNvSpPr>
            <a:spLocks noGrp="1"/>
          </p:cNvSpPr>
          <p:nvPr/>
        </p:nvSpPr>
        <p:spPr>
          <a:xfrm>
            <a:off x="5514975" y="3016423"/>
            <a:ext cx="3387536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ψ 独立更新；不向 actor 反传</a:t>
            </a:r>
            <a:endParaRPr sz="2015" b="0" i="0">
              <a:solidFill>
                <a:srgbClr val="BB536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3" name="f4-path-038-arrow"/>
          <p:cNvSpPr>
            <a:spLocks noGrp="1"/>
          </p:cNvSpPr>
          <p:nvPr/>
        </p:nvSpPr>
        <p:spPr>
          <a:xfrm>
            <a:off x="5471160" y="2194560"/>
            <a:ext cx="73152" cy="640080"/>
          </a:xfrm>
          <a:custGeom>
            <a:avLst/>
            <a:gdLst/>
            <a:ahLst/>
            <a:cxnLst/>
            <a:pathLst>
              <a:path w="73152" h="640080">
                <a:moveTo>
                  <a:pt x="0" y="640080"/>
                </a:moveTo>
                <a:lnTo>
                  <a:pt x="0" y="0"/>
                </a:lnTo>
                <a:lnTo>
                  <a:pt x="73152" y="0"/>
                </a:lnTo>
              </a:path>
            </a:pathLst>
          </a:custGeom>
          <a:noFill/>
          <a:ln w="22860">
            <a:solidFill>
              <a:srgbClr val="BB5360"/>
            </a:solidFill>
            <a:prstDash val="dash"/>
          </a:ln>
        </p:spPr>
      </p:sp>
      <p:sp>
        <p:nvSpPr>
          <p:cNvPr id="44" name="f4-path-038-arrow-head"/>
          <p:cNvSpPr>
            <a:spLocks noGrp="1"/>
          </p:cNvSpPr>
          <p:nvPr/>
        </p:nvSpPr>
        <p:spPr>
          <a:xfrm>
            <a:off x="5439156" y="2144085"/>
            <a:ext cx="105156" cy="100950"/>
          </a:xfrm>
          <a:custGeom>
            <a:avLst/>
            <a:gdLst/>
            <a:ahLst/>
            <a:cxnLst/>
            <a:pathLst>
              <a:path w="105156" h="100950">
                <a:moveTo>
                  <a:pt x="105156" y="50475"/>
                </a:moveTo>
                <a:lnTo>
                  <a:pt x="0" y="0"/>
                </a:lnTo>
                <a:lnTo>
                  <a:pt x="0" y="100950"/>
                </a:lnTo>
                <a:close/>
              </a:path>
            </a:pathLst>
          </a:custGeom>
          <a:solidFill>
            <a:srgbClr val="BB5360"/>
          </a:solidFill>
          <a:ln w="0">
            <a:noFill/>
            <a:prstDash val="solid"/>
          </a:ln>
        </p:spPr>
      </p:sp>
      <p:sp>
        <p:nvSpPr>
          <p:cNvPr id="45" name="f4-path-039"/>
          <p:cNvSpPr>
            <a:spLocks noGrp="1"/>
          </p:cNvSpPr>
          <p:nvPr/>
        </p:nvSpPr>
        <p:spPr>
          <a:xfrm>
            <a:off x="624840" y="3648456"/>
            <a:ext cx="13990320" cy="9525"/>
          </a:xfrm>
          <a:custGeom>
            <a:avLst/>
            <a:gdLst/>
            <a:ahLst/>
            <a:cxnLst/>
            <a:pathLst>
              <a:path w="13990320" h="9525">
                <a:moveTo>
                  <a:pt x="0" y="0"/>
                </a:moveTo>
                <a:lnTo>
                  <a:pt x="13990320" y="0"/>
                </a:lnTo>
              </a:path>
            </a:pathLst>
          </a:custGeom>
          <a:noFill/>
          <a:ln w="18288">
            <a:solidFill>
              <a:srgbClr val="D9E0E6"/>
            </a:solidFill>
            <a:prstDash val="solid"/>
          </a:ln>
        </p:spPr>
      </p:sp>
      <p:sp>
        <p:nvSpPr>
          <p:cNvPr id="46" name="f4-text-040-b"/>
          <p:cNvSpPr>
            <a:spLocks noGrp="1"/>
          </p:cNvSpPr>
          <p:nvPr/>
        </p:nvSpPr>
        <p:spPr>
          <a:xfrm>
            <a:off x="577215" y="3697834"/>
            <a:ext cx="330797" cy="49377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288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7" name="f4-text-041-同一 VLM 自回归生成：训练序列与条件前缀"/>
          <p:cNvSpPr>
            <a:spLocks noGrp="1"/>
          </p:cNvSpPr>
          <p:nvPr/>
        </p:nvSpPr>
        <p:spPr>
          <a:xfrm>
            <a:off x="970407" y="3754892"/>
            <a:ext cx="6158990" cy="4197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同一 VLM 自回归生成：训练序列与条件前缀</a:t>
            </a:r>
            <a:endParaRPr sz="24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8" name="f4-rect-042"/>
          <p:cNvSpPr>
            <a:spLocks noGrp="1"/>
          </p:cNvSpPr>
          <p:nvPr/>
        </p:nvSpPr>
        <p:spPr>
          <a:xfrm>
            <a:off x="624840" y="4325112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DF3FA"/>
          </a:solidFill>
          <a:ln w="12802">
            <a:solidFill>
              <a:srgbClr val="346CA0"/>
            </a:solidFill>
            <a:prstDash val="solid"/>
          </a:ln>
        </p:spPr>
      </p:sp>
      <p:sp>
        <p:nvSpPr>
          <p:cNvPr id="49" name="f4-text-043-图像 / 指令"/>
          <p:cNvSpPr>
            <a:spLocks noGrp="1"/>
          </p:cNvSpPr>
          <p:nvPr/>
        </p:nvSpPr>
        <p:spPr>
          <a:xfrm>
            <a:off x="713321" y="4423867"/>
            <a:ext cx="1423237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图像 / 指令</a:t>
            </a:r>
            <a:endParaRPr sz="216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0" name="f4-rect-044"/>
          <p:cNvSpPr>
            <a:spLocks noGrp="1"/>
          </p:cNvSpPr>
          <p:nvPr/>
        </p:nvSpPr>
        <p:spPr>
          <a:xfrm>
            <a:off x="2371344" y="4325112"/>
            <a:ext cx="822960" cy="603504"/>
          </a:xfrm>
          <a:prstGeom prst="roundRect">
            <a:avLst>
              <a:gd name="adj" fmla="val 10606"/>
            </a:avLst>
          </a:prstGeom>
          <a:solidFill>
            <a:srgbClr val="E9F3EF"/>
          </a:solidFill>
          <a:ln w="12802">
            <a:solidFill>
              <a:srgbClr val="268575"/>
            </a:solidFill>
            <a:prstDash val="solid"/>
          </a:ln>
        </p:spPr>
      </p:sp>
      <p:sp>
        <p:nvSpPr>
          <p:cNvPr id="51" name="f4-text-045-Iᴴ"/>
          <p:cNvSpPr>
            <a:spLocks noGrp="1"/>
          </p:cNvSpPr>
          <p:nvPr/>
        </p:nvSpPr>
        <p:spPr>
          <a:xfrm>
            <a:off x="2552774" y="4423867"/>
            <a:ext cx="460099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Iᴴ</a:t>
            </a:r>
            <a:endParaRPr sz="2160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2" name="f4-rect-046"/>
          <p:cNvSpPr>
            <a:spLocks noGrp="1"/>
          </p:cNvSpPr>
          <p:nvPr/>
        </p:nvSpPr>
        <p:spPr>
          <a:xfrm>
            <a:off x="3349752" y="4325112"/>
            <a:ext cx="1033272" cy="603504"/>
          </a:xfrm>
          <a:prstGeom prst="roundRect">
            <a:avLst>
              <a:gd name="adj" fmla="val 10606"/>
            </a:avLst>
          </a:prstGeom>
          <a:solidFill>
            <a:srgbClr val="EDF3FA"/>
          </a:solidFill>
          <a:ln w="12802">
            <a:solidFill>
              <a:srgbClr val="346CA0"/>
            </a:solidFill>
            <a:prstDash val="solid"/>
          </a:ln>
        </p:spPr>
      </p:sp>
      <p:sp>
        <p:nvSpPr>
          <p:cNvPr id="53" name="f4-text-047-READ"/>
          <p:cNvSpPr>
            <a:spLocks noGrp="1"/>
          </p:cNvSpPr>
          <p:nvPr/>
        </p:nvSpPr>
        <p:spPr>
          <a:xfrm>
            <a:off x="3455012" y="4423867"/>
            <a:ext cx="822752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READ</a:t>
            </a:r>
            <a:endParaRPr sz="216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4" name="f4-rect-048"/>
          <p:cNvSpPr>
            <a:spLocks noGrp="1"/>
          </p:cNvSpPr>
          <p:nvPr/>
        </p:nvSpPr>
        <p:spPr>
          <a:xfrm>
            <a:off x="4538472" y="4325112"/>
            <a:ext cx="2011680" cy="603504"/>
          </a:xfrm>
          <a:prstGeom prst="roundRect">
            <a:avLst>
              <a:gd name="adj" fmla="val 10606"/>
            </a:avLst>
          </a:prstGeom>
          <a:solidFill>
            <a:srgbClr val="F0F2F4"/>
          </a:solidFill>
          <a:ln w="12802">
            <a:solidFill>
              <a:srgbClr val="647383"/>
            </a:solidFill>
            <a:prstDash val="solid"/>
          </a:ln>
        </p:spPr>
      </p:sp>
      <p:sp>
        <p:nvSpPr>
          <p:cNvPr id="55" name="f4-text-049-工具返回"/>
          <p:cNvSpPr>
            <a:spLocks noGrp="1"/>
          </p:cNvSpPr>
          <p:nvPr/>
        </p:nvSpPr>
        <p:spPr>
          <a:xfrm>
            <a:off x="4948047" y="4423867"/>
            <a:ext cx="1192530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工具返回</a:t>
            </a:r>
            <a:endParaRPr sz="2160" b="1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6" name="f4-rect-050"/>
          <p:cNvSpPr>
            <a:spLocks noGrp="1"/>
          </p:cNvSpPr>
          <p:nvPr/>
        </p:nvSpPr>
        <p:spPr>
          <a:xfrm>
            <a:off x="6705600" y="4325112"/>
            <a:ext cx="1307592" cy="603504"/>
          </a:xfrm>
          <a:prstGeom prst="roundRect">
            <a:avLst>
              <a:gd name="adj" fmla="val 10606"/>
            </a:avLst>
          </a:prstGeom>
          <a:solidFill>
            <a:srgbClr val="EDF3FA"/>
          </a:solidFill>
          <a:ln w="12802">
            <a:solidFill>
              <a:srgbClr val="346CA0"/>
            </a:solidFill>
            <a:prstDash val="solid"/>
          </a:ln>
        </p:spPr>
      </p:sp>
      <p:sp>
        <p:nvSpPr>
          <p:cNvPr id="57" name="f4-text-051-WRITE"/>
          <p:cNvSpPr>
            <a:spLocks noGrp="1"/>
          </p:cNvSpPr>
          <p:nvPr/>
        </p:nvSpPr>
        <p:spPr>
          <a:xfrm>
            <a:off x="6877386" y="4423867"/>
            <a:ext cx="964019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WRITE</a:t>
            </a:r>
            <a:endParaRPr sz="216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8" name="f4-rect-052"/>
          <p:cNvSpPr>
            <a:spLocks noGrp="1"/>
          </p:cNvSpPr>
          <p:nvPr/>
        </p:nvSpPr>
        <p:spPr>
          <a:xfrm>
            <a:off x="8159496" y="4325112"/>
            <a:ext cx="2057400" cy="603504"/>
          </a:xfrm>
          <a:prstGeom prst="roundRect">
            <a:avLst>
              <a:gd name="adj" fmla="val 10606"/>
            </a:avLst>
          </a:prstGeom>
          <a:solidFill>
            <a:srgbClr val="EDF3FA"/>
          </a:solidFill>
          <a:ln w="12802">
            <a:solidFill>
              <a:srgbClr val="346CA0"/>
            </a:solidFill>
            <a:prstDash val="solid"/>
          </a:ln>
        </p:spPr>
      </p:sp>
      <p:sp>
        <p:nvSpPr>
          <p:cNvPr id="59" name="f4-text-053-子任务文本"/>
          <p:cNvSpPr>
            <a:spLocks noGrp="1"/>
          </p:cNvSpPr>
          <p:nvPr/>
        </p:nvSpPr>
        <p:spPr>
          <a:xfrm>
            <a:off x="8454771" y="4423867"/>
            <a:ext cx="1466850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子任务文本</a:t>
            </a:r>
            <a:endParaRPr sz="216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0" name="f4-rect-054"/>
          <p:cNvSpPr>
            <a:spLocks noGrp="1"/>
          </p:cNvSpPr>
          <p:nvPr/>
        </p:nvSpPr>
        <p:spPr>
          <a:xfrm>
            <a:off x="10372344" y="4325112"/>
            <a:ext cx="822960" cy="603504"/>
          </a:xfrm>
          <a:prstGeom prst="roundRect">
            <a:avLst>
              <a:gd name="adj" fmla="val 10606"/>
            </a:avLst>
          </a:prstGeom>
          <a:solidFill>
            <a:srgbClr val="E9F3EF"/>
          </a:solidFill>
          <a:ln w="12802">
            <a:solidFill>
              <a:srgbClr val="268575"/>
            </a:solidFill>
            <a:prstDash val="solid"/>
          </a:ln>
        </p:spPr>
      </p:sp>
      <p:sp>
        <p:nvSpPr>
          <p:cNvPr id="61" name="f4-text-055-Iᴬ"/>
          <p:cNvSpPr>
            <a:spLocks noGrp="1"/>
          </p:cNvSpPr>
          <p:nvPr/>
        </p:nvSpPr>
        <p:spPr>
          <a:xfrm>
            <a:off x="10553774" y="4423867"/>
            <a:ext cx="460099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Iᴬ</a:t>
            </a:r>
            <a:endParaRPr sz="2160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2" name="f4-rect-056"/>
          <p:cNvSpPr>
            <a:spLocks noGrp="1"/>
          </p:cNvSpPr>
          <p:nvPr/>
        </p:nvSpPr>
        <p:spPr>
          <a:xfrm>
            <a:off x="11350752" y="4325112"/>
            <a:ext cx="3264408" cy="603504"/>
          </a:xfrm>
          <a:prstGeom prst="roundRect">
            <a:avLst>
              <a:gd name="adj" fmla="val 10606"/>
            </a:avLst>
          </a:prstGeom>
          <a:solidFill>
            <a:srgbClr val="EDF3FA"/>
          </a:solidFill>
          <a:ln w="12802">
            <a:solidFill>
              <a:srgbClr val="346CA0"/>
            </a:solidFill>
            <a:prstDash val="solid"/>
          </a:ln>
        </p:spPr>
      </p:sp>
      <p:sp>
        <p:nvSpPr>
          <p:cNvPr id="63" name="f4-text-057-FAST 动作 token"/>
          <p:cNvSpPr>
            <a:spLocks noGrp="1"/>
          </p:cNvSpPr>
          <p:nvPr/>
        </p:nvSpPr>
        <p:spPr>
          <a:xfrm>
            <a:off x="11880967" y="4423867"/>
            <a:ext cx="2203978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FAST 动作 token</a:t>
            </a:r>
            <a:endParaRPr sz="216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4" name="f4-text-058-灰色 tool-return 仅作上下文，不计算"/>
          <p:cNvSpPr>
            <a:spLocks noGrp="1"/>
          </p:cNvSpPr>
          <p:nvPr/>
        </p:nvSpPr>
        <p:spPr>
          <a:xfrm>
            <a:off x="4490847" y="4982383"/>
            <a:ext cx="4705344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灰色 tool-return 仅作上下文，不计算 CE</a:t>
            </a:r>
            <a:endParaRPr sz="201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5" name="f4-path-059"/>
          <p:cNvSpPr>
            <a:spLocks noGrp="1"/>
          </p:cNvSpPr>
          <p:nvPr/>
        </p:nvSpPr>
        <p:spPr>
          <a:xfrm>
            <a:off x="2782824" y="3401568"/>
            <a:ext cx="11996928" cy="804672"/>
          </a:xfrm>
          <a:custGeom>
            <a:avLst/>
            <a:gdLst/>
            <a:ahLst/>
            <a:cxnLst/>
            <a:pathLst>
              <a:path w="11996928" h="804672">
                <a:moveTo>
                  <a:pt x="10140696" y="0"/>
                </a:moveTo>
                <a:lnTo>
                  <a:pt x="11996928" y="0"/>
                </a:lnTo>
                <a:lnTo>
                  <a:pt x="11996928" y="804672"/>
                </a:lnTo>
                <a:lnTo>
                  <a:pt x="0" y="804672"/>
                </a:lnTo>
              </a:path>
            </a:pathLst>
          </a:custGeom>
          <a:noFill/>
          <a:ln w="22860">
            <a:solidFill>
              <a:srgbClr val="268575"/>
            </a:solidFill>
            <a:prstDash val="solid"/>
          </a:ln>
        </p:spPr>
      </p:sp>
      <p:sp>
        <p:nvSpPr>
          <p:cNvPr id="66" name="f4-path-060-arrow"/>
          <p:cNvSpPr>
            <a:spLocks noGrp="1"/>
          </p:cNvSpPr>
          <p:nvPr/>
        </p:nvSpPr>
        <p:spPr>
          <a:xfrm>
            <a:off x="2782824" y="4206240"/>
            <a:ext cx="9525" cy="91440"/>
          </a:xfrm>
          <a:custGeom>
            <a:avLst/>
            <a:gdLst/>
            <a:ahLst/>
            <a:cxnLst/>
            <a:pathLst>
              <a:path w="9525" h="91440">
                <a:moveTo>
                  <a:pt x="0" y="0"/>
                </a:moveTo>
                <a:lnTo>
                  <a:pt x="0" y="91440"/>
                </a:lnTo>
              </a:path>
            </a:pathLst>
          </a:custGeom>
          <a:noFill/>
          <a:ln w="22860">
            <a:solidFill>
              <a:srgbClr val="268575"/>
            </a:solidFill>
            <a:prstDash val="solid"/>
          </a:ln>
        </p:spPr>
      </p:sp>
      <p:sp>
        <p:nvSpPr>
          <p:cNvPr id="67" name="f4-path-060-arrow-head"/>
          <p:cNvSpPr>
            <a:spLocks noGrp="1"/>
          </p:cNvSpPr>
          <p:nvPr/>
        </p:nvSpPr>
        <p:spPr>
          <a:xfrm>
            <a:off x="2732349" y="4192524"/>
            <a:ext cx="100950" cy="105156"/>
          </a:xfrm>
          <a:custGeom>
            <a:avLst/>
            <a:gdLst/>
            <a:ahLst/>
            <a:cxnLst/>
            <a:pathLst>
              <a:path w="100950" h="105156">
                <a:moveTo>
                  <a:pt x="50475" y="105156"/>
                </a:moveTo>
                <a:lnTo>
                  <a:pt x="10095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68" name="f4-path-061-arrow"/>
          <p:cNvSpPr>
            <a:spLocks noGrp="1"/>
          </p:cNvSpPr>
          <p:nvPr/>
        </p:nvSpPr>
        <p:spPr>
          <a:xfrm>
            <a:off x="10783824" y="4206240"/>
            <a:ext cx="9525" cy="91440"/>
          </a:xfrm>
          <a:custGeom>
            <a:avLst/>
            <a:gdLst/>
            <a:ahLst/>
            <a:cxnLst/>
            <a:pathLst>
              <a:path w="9525" h="91440">
                <a:moveTo>
                  <a:pt x="0" y="0"/>
                </a:moveTo>
                <a:lnTo>
                  <a:pt x="0" y="91440"/>
                </a:lnTo>
              </a:path>
            </a:pathLst>
          </a:custGeom>
          <a:noFill/>
          <a:ln w="22860">
            <a:solidFill>
              <a:srgbClr val="268575"/>
            </a:solidFill>
            <a:prstDash val="solid"/>
          </a:ln>
        </p:spPr>
      </p:sp>
      <p:sp>
        <p:nvSpPr>
          <p:cNvPr id="69" name="f4-path-061-arrow-head"/>
          <p:cNvSpPr>
            <a:spLocks noGrp="1"/>
          </p:cNvSpPr>
          <p:nvPr/>
        </p:nvSpPr>
        <p:spPr>
          <a:xfrm>
            <a:off x="10733349" y="4192524"/>
            <a:ext cx="100950" cy="105156"/>
          </a:xfrm>
          <a:custGeom>
            <a:avLst/>
            <a:gdLst/>
            <a:ahLst/>
            <a:cxnLst/>
            <a:pathLst>
              <a:path w="100950" h="105156">
                <a:moveTo>
                  <a:pt x="50475" y="105156"/>
                </a:moveTo>
                <a:lnTo>
                  <a:pt x="100950" y="0"/>
                </a:lnTo>
                <a:lnTo>
                  <a:pt x="0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70" name="f4-rect-062"/>
          <p:cNvSpPr>
            <a:spLocks noGrp="1"/>
          </p:cNvSpPr>
          <p:nvPr/>
        </p:nvSpPr>
        <p:spPr>
          <a:xfrm>
            <a:off x="624840" y="5623560"/>
            <a:ext cx="5074920" cy="1225296"/>
          </a:xfrm>
          <a:prstGeom prst="roundRect">
            <a:avLst>
              <a:gd name="adj" fmla="val 9701"/>
            </a:avLst>
          </a:prstGeom>
          <a:solidFill>
            <a:srgbClr val="F0F5FA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71" name="f4-rect-063"/>
          <p:cNvSpPr>
            <a:spLocks noGrp="1"/>
          </p:cNvSpPr>
          <p:nvPr/>
        </p:nvSpPr>
        <p:spPr>
          <a:xfrm>
            <a:off x="990600" y="5678424"/>
            <a:ext cx="1682496" cy="740664"/>
          </a:xfrm>
          <a:prstGeom prst="roundRect">
            <a:avLst>
              <a:gd name="adj" fmla="val 14815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346CA0"/>
            </a:solidFill>
            <a:prstDash val="solid"/>
          </a:ln>
        </p:spPr>
      </p:sp>
      <p:sp>
        <p:nvSpPr>
          <p:cNvPr id="72" name="f4-rect-064"/>
          <p:cNvSpPr>
            <a:spLocks noGrp="1"/>
          </p:cNvSpPr>
          <p:nvPr/>
        </p:nvSpPr>
        <p:spPr>
          <a:xfrm>
            <a:off x="899160" y="5760720"/>
            <a:ext cx="1682496" cy="740664"/>
          </a:xfrm>
          <a:prstGeom prst="roundRect">
            <a:avLst>
              <a:gd name="adj" fmla="val 14815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346CA0"/>
            </a:solidFill>
            <a:prstDash val="solid"/>
          </a:ln>
        </p:spPr>
      </p:sp>
      <p:sp>
        <p:nvSpPr>
          <p:cNvPr id="73" name="f4-rect-065"/>
          <p:cNvSpPr>
            <a:spLocks noGrp="1"/>
          </p:cNvSpPr>
          <p:nvPr/>
        </p:nvSpPr>
        <p:spPr>
          <a:xfrm>
            <a:off x="807720" y="5843016"/>
            <a:ext cx="1682496" cy="740664"/>
          </a:xfrm>
          <a:prstGeom prst="roundRect">
            <a:avLst>
              <a:gd name="adj" fmla="val 14815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346CA0"/>
            </a:solidFill>
            <a:prstDash val="solid"/>
          </a:ln>
        </p:spPr>
      </p:sp>
      <p:sp>
        <p:nvSpPr>
          <p:cNvPr id="74" name="f4-text-066-VLM θ"/>
          <p:cNvSpPr>
            <a:spLocks noGrp="1"/>
          </p:cNvSpPr>
          <p:nvPr/>
        </p:nvSpPr>
        <p:spPr>
          <a:xfrm>
            <a:off x="1178228" y="6000476"/>
            <a:ext cx="941481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VLM θ</a:t>
            </a:r>
            <a:endParaRPr sz="23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5" name="f4-text-067-读写 / 子任务文本生成"/>
          <p:cNvSpPr>
            <a:spLocks noGrp="1"/>
          </p:cNvSpPr>
          <p:nvPr/>
        </p:nvSpPr>
        <p:spPr>
          <a:xfrm>
            <a:off x="2826639" y="5769132"/>
            <a:ext cx="2524643" cy="3332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读写 / 子任务文本生成</a:t>
            </a:r>
            <a:endParaRPr sz="194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6" name="f4-text-068-FAST 离散动作预测"/>
          <p:cNvSpPr>
            <a:spLocks noGrp="1"/>
          </p:cNvSpPr>
          <p:nvPr/>
        </p:nvSpPr>
        <p:spPr>
          <a:xfrm>
            <a:off x="2826639" y="6180612"/>
            <a:ext cx="2197513" cy="3332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94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FAST 离散动作预测</a:t>
            </a:r>
            <a:endParaRPr sz="194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7" name="f4-text-069-序列输入"/>
          <p:cNvSpPr>
            <a:spLocks noGrp="1"/>
          </p:cNvSpPr>
          <p:nvPr/>
        </p:nvSpPr>
        <p:spPr>
          <a:xfrm>
            <a:off x="714375" y="5028103"/>
            <a:ext cx="1119378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序列输入</a:t>
            </a:r>
            <a:endParaRPr sz="201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8" name="f4-path-070-arrow"/>
          <p:cNvSpPr>
            <a:spLocks noGrp="1"/>
          </p:cNvSpPr>
          <p:nvPr/>
        </p:nvSpPr>
        <p:spPr>
          <a:xfrm>
            <a:off x="2225040" y="4928616"/>
            <a:ext cx="9525" cy="630936"/>
          </a:xfrm>
          <a:custGeom>
            <a:avLst/>
            <a:gdLst/>
            <a:ahLst/>
            <a:cxnLst/>
            <a:pathLst>
              <a:path w="9525" h="630936">
                <a:moveTo>
                  <a:pt x="0" y="0"/>
                </a:moveTo>
                <a:lnTo>
                  <a:pt x="0" y="630936"/>
                </a:lnTo>
              </a:path>
            </a:pathLst>
          </a:custGeom>
          <a:noFill/>
          <a:ln w="22860">
            <a:solidFill>
              <a:srgbClr val="346CA0"/>
            </a:solidFill>
            <a:prstDash val="solid"/>
          </a:ln>
        </p:spPr>
      </p:sp>
      <p:sp>
        <p:nvSpPr>
          <p:cNvPr id="79" name="f4-path-070-arrow-head"/>
          <p:cNvSpPr>
            <a:spLocks noGrp="1"/>
          </p:cNvSpPr>
          <p:nvPr/>
        </p:nvSpPr>
        <p:spPr>
          <a:xfrm>
            <a:off x="2174565" y="5454396"/>
            <a:ext cx="100950" cy="105156"/>
          </a:xfrm>
          <a:custGeom>
            <a:avLst/>
            <a:gdLst/>
            <a:ahLst/>
            <a:cxnLst/>
            <a:pathLst>
              <a:path w="100950" h="105156">
                <a:moveTo>
                  <a:pt x="50475" y="105156"/>
                </a:moveTo>
                <a:lnTo>
                  <a:pt x="1009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80" name="f4-rect-071"/>
          <p:cNvSpPr>
            <a:spLocks noGrp="1"/>
          </p:cNvSpPr>
          <p:nvPr/>
        </p:nvSpPr>
        <p:spPr>
          <a:xfrm>
            <a:off x="9906000" y="5623560"/>
            <a:ext cx="4709160" cy="1225296"/>
          </a:xfrm>
          <a:prstGeom prst="roundRect">
            <a:avLst>
              <a:gd name="adj" fmla="val 9701"/>
            </a:avLst>
          </a:prstGeom>
          <a:solidFill>
            <a:srgbClr val="F0F5FA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81" name="f4-rect-072"/>
          <p:cNvSpPr>
            <a:spLocks noGrp="1"/>
          </p:cNvSpPr>
          <p:nvPr/>
        </p:nvSpPr>
        <p:spPr>
          <a:xfrm>
            <a:off x="10271760" y="5678424"/>
            <a:ext cx="1645920" cy="740664"/>
          </a:xfrm>
          <a:prstGeom prst="roundRect">
            <a:avLst>
              <a:gd name="adj" fmla="val 14815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346CA0"/>
            </a:solidFill>
            <a:prstDash val="solid"/>
          </a:ln>
        </p:spPr>
      </p:sp>
      <p:sp>
        <p:nvSpPr>
          <p:cNvPr id="82" name="f4-rect-073"/>
          <p:cNvSpPr>
            <a:spLocks noGrp="1"/>
          </p:cNvSpPr>
          <p:nvPr/>
        </p:nvSpPr>
        <p:spPr>
          <a:xfrm>
            <a:off x="10180320" y="5760720"/>
            <a:ext cx="1645920" cy="740664"/>
          </a:xfrm>
          <a:prstGeom prst="roundRect">
            <a:avLst>
              <a:gd name="adj" fmla="val 14815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346CA0"/>
            </a:solidFill>
            <a:prstDash val="solid"/>
          </a:ln>
        </p:spPr>
      </p:sp>
      <p:sp>
        <p:nvSpPr>
          <p:cNvPr id="83" name="f4-rect-074"/>
          <p:cNvSpPr>
            <a:spLocks noGrp="1"/>
          </p:cNvSpPr>
          <p:nvPr/>
        </p:nvSpPr>
        <p:spPr>
          <a:xfrm>
            <a:off x="10088880" y="5843016"/>
            <a:ext cx="1645920" cy="740664"/>
          </a:xfrm>
          <a:prstGeom prst="roundRect">
            <a:avLst>
              <a:gd name="adj" fmla="val 14815"/>
            </a:avLst>
          </a:prstGeom>
          <a:gradFill>
            <a:gsLst>
              <a:gs pos="0">
                <a:srgbClr val="EFF5FB"/>
              </a:gs>
              <a:gs pos="100000">
                <a:srgbClr val="D6E6F5"/>
              </a:gs>
            </a:gsLst>
            <a:lin ang="0"/>
          </a:gradFill>
          <a:ln w="13716">
            <a:solidFill>
              <a:srgbClr val="346CA0"/>
            </a:solidFill>
            <a:prstDash val="solid"/>
          </a:ln>
        </p:spPr>
      </p:sp>
      <p:sp>
        <p:nvSpPr>
          <p:cNvPr id="84" name="f4-text-075-专家 φ"/>
          <p:cNvSpPr>
            <a:spLocks noGrp="1"/>
          </p:cNvSpPr>
          <p:nvPr/>
        </p:nvSpPr>
        <p:spPr>
          <a:xfrm>
            <a:off x="10418579" y="6000476"/>
            <a:ext cx="986522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专家 φ</a:t>
            </a:r>
            <a:endParaRPr sz="23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5" name="f4-text-076-连续去噪"/>
          <p:cNvSpPr>
            <a:spLocks noGrp="1"/>
          </p:cNvSpPr>
          <p:nvPr/>
        </p:nvSpPr>
        <p:spPr>
          <a:xfrm>
            <a:off x="11961495" y="5721584"/>
            <a:ext cx="1265682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连续去噪</a:t>
            </a:r>
            <a:endParaRPr sz="230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6" name="f4-text-077-速度场预测"/>
          <p:cNvSpPr>
            <a:spLocks noGrp="1"/>
          </p:cNvSpPr>
          <p:nvPr/>
        </p:nvSpPr>
        <p:spPr>
          <a:xfrm>
            <a:off x="11961495" y="6133064"/>
            <a:ext cx="1558290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速度场预测</a:t>
            </a:r>
            <a:endParaRPr sz="230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7" name="f4-text-078-前缀 K / V（不含 FAST 答案）"/>
          <p:cNvSpPr>
            <a:spLocks noGrp="1"/>
          </p:cNvSpPr>
          <p:nvPr/>
        </p:nvSpPr>
        <p:spPr>
          <a:xfrm>
            <a:off x="6087993" y="5558455"/>
            <a:ext cx="3429774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前缀 K / V（不含 FAST 答案）</a:t>
            </a:r>
            <a:endParaRPr sz="2015" b="0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8" name="f4-path-079-arrow"/>
          <p:cNvSpPr>
            <a:spLocks noGrp="1"/>
          </p:cNvSpPr>
          <p:nvPr/>
        </p:nvSpPr>
        <p:spPr>
          <a:xfrm>
            <a:off x="5699760" y="6263640"/>
            <a:ext cx="1353312" cy="9525"/>
          </a:xfrm>
          <a:custGeom>
            <a:avLst/>
            <a:gdLst/>
            <a:ahLst/>
            <a:cxnLst/>
            <a:pathLst>
              <a:path w="1353312" h="9525">
                <a:moveTo>
                  <a:pt x="0" y="0"/>
                </a:moveTo>
                <a:lnTo>
                  <a:pt x="1353312" y="0"/>
                </a:lnTo>
              </a:path>
            </a:pathLst>
          </a:custGeom>
          <a:noFill/>
          <a:ln w="27432">
            <a:solidFill>
              <a:srgbClr val="346CA0"/>
            </a:solidFill>
            <a:prstDash val="solid"/>
          </a:ln>
        </p:spPr>
      </p:sp>
      <p:sp>
        <p:nvSpPr>
          <p:cNvPr id="89" name="f4-path-079-arrow-head"/>
          <p:cNvSpPr>
            <a:spLocks noGrp="1"/>
          </p:cNvSpPr>
          <p:nvPr/>
        </p:nvSpPr>
        <p:spPr>
          <a:xfrm>
            <a:off x="6926885" y="6203070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126187" y="60570"/>
                </a:moveTo>
                <a:lnTo>
                  <a:pt x="0" y="0"/>
                </a:lnTo>
                <a:lnTo>
                  <a:pt x="0" y="12114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90" name="f4-rect-080"/>
          <p:cNvSpPr>
            <a:spLocks noGrp="1"/>
          </p:cNvSpPr>
          <p:nvPr/>
        </p:nvSpPr>
        <p:spPr>
          <a:xfrm>
            <a:off x="7171944" y="6062472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FBEDEF"/>
          </a:solidFill>
          <a:ln w="16459">
            <a:noFill/>
            <a:prstDash val="solid"/>
          </a:ln>
        </p:spPr>
      </p:sp>
      <p:sp>
        <p:nvSpPr>
          <p:cNvPr id="91" name="f4-text-081-sg"/>
          <p:cNvSpPr>
            <a:spLocks noGrp="1"/>
          </p:cNvSpPr>
          <p:nvPr/>
        </p:nvSpPr>
        <p:spPr>
          <a:xfrm>
            <a:off x="7523181" y="6051499"/>
            <a:ext cx="394805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sg</a:t>
            </a:r>
            <a:endParaRPr sz="2160" b="1" i="0">
              <a:solidFill>
                <a:srgbClr val="BB536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2" name="f4-path-082-arrow"/>
          <p:cNvSpPr>
            <a:spLocks noGrp="1"/>
          </p:cNvSpPr>
          <p:nvPr/>
        </p:nvSpPr>
        <p:spPr>
          <a:xfrm>
            <a:off x="8388096" y="6263640"/>
            <a:ext cx="1453896" cy="9525"/>
          </a:xfrm>
          <a:custGeom>
            <a:avLst/>
            <a:gdLst/>
            <a:ahLst/>
            <a:cxnLst/>
            <a:pathLst>
              <a:path w="1453896" h="9525">
                <a:moveTo>
                  <a:pt x="0" y="0"/>
                </a:moveTo>
                <a:lnTo>
                  <a:pt x="1453896" y="0"/>
                </a:lnTo>
              </a:path>
            </a:pathLst>
          </a:custGeom>
          <a:noFill/>
          <a:ln w="27432">
            <a:solidFill>
              <a:srgbClr val="346CA0"/>
            </a:solidFill>
            <a:prstDash val="solid"/>
          </a:ln>
        </p:spPr>
      </p:sp>
      <p:sp>
        <p:nvSpPr>
          <p:cNvPr id="93" name="f4-path-082-arrow-head"/>
          <p:cNvSpPr>
            <a:spLocks noGrp="1"/>
          </p:cNvSpPr>
          <p:nvPr/>
        </p:nvSpPr>
        <p:spPr>
          <a:xfrm>
            <a:off x="9715805" y="6203070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126187" y="60570"/>
                </a:moveTo>
                <a:lnTo>
                  <a:pt x="0" y="0"/>
                </a:lnTo>
                <a:lnTo>
                  <a:pt x="0" y="12114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94" name="f4-text-083-FM 梯度在此停止"/>
          <p:cNvSpPr>
            <a:spLocks noGrp="1"/>
          </p:cNvSpPr>
          <p:nvPr/>
        </p:nvSpPr>
        <p:spPr>
          <a:xfrm>
            <a:off x="6738155" y="6491143"/>
            <a:ext cx="2038011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BB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FM 梯度在此停止</a:t>
            </a:r>
            <a:endParaRPr sz="2015" b="0" i="0">
              <a:solidFill>
                <a:srgbClr val="BB536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5" name="f4-path-084"/>
          <p:cNvSpPr>
            <a:spLocks noGrp="1"/>
          </p:cNvSpPr>
          <p:nvPr/>
        </p:nvSpPr>
        <p:spPr>
          <a:xfrm>
            <a:off x="624840" y="7123176"/>
            <a:ext cx="13990320" cy="9525"/>
          </a:xfrm>
          <a:custGeom>
            <a:avLst/>
            <a:gdLst/>
            <a:ahLst/>
            <a:cxnLst/>
            <a:pathLst>
              <a:path w="13990320" h="9525">
                <a:moveTo>
                  <a:pt x="0" y="0"/>
                </a:moveTo>
                <a:lnTo>
                  <a:pt x="13990320" y="0"/>
                </a:lnTo>
              </a:path>
            </a:pathLst>
          </a:custGeom>
          <a:noFill/>
          <a:ln w="18288">
            <a:solidFill>
              <a:srgbClr val="D9E0E6"/>
            </a:solidFill>
            <a:prstDash val="solid"/>
          </a:ln>
        </p:spPr>
      </p:sp>
      <p:sp>
        <p:nvSpPr>
          <p:cNvPr id="96" name="f4-text-085-c"/>
          <p:cNvSpPr>
            <a:spLocks noGrp="1"/>
          </p:cNvSpPr>
          <p:nvPr/>
        </p:nvSpPr>
        <p:spPr>
          <a:xfrm>
            <a:off x="577215" y="7172554"/>
            <a:ext cx="288006" cy="49377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88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c</a:t>
            </a:r>
            <a:endParaRPr sz="288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7" name="f4-text-086-高层生成与动作专家各自更新"/>
          <p:cNvSpPr>
            <a:spLocks noGrp="1"/>
          </p:cNvSpPr>
          <p:nvPr/>
        </p:nvSpPr>
        <p:spPr>
          <a:xfrm>
            <a:off x="970407" y="7229612"/>
            <a:ext cx="4136898" cy="4197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高层生成与动作专家各自更新</a:t>
            </a:r>
            <a:endParaRPr sz="24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8" name="f4-rect-087"/>
          <p:cNvSpPr>
            <a:spLocks noGrp="1"/>
          </p:cNvSpPr>
          <p:nvPr/>
        </p:nvSpPr>
        <p:spPr>
          <a:xfrm>
            <a:off x="624840" y="7964424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99" name="f4-text-088-L_H：高层条件 CE"/>
          <p:cNvSpPr>
            <a:spLocks noGrp="1"/>
          </p:cNvSpPr>
          <p:nvPr/>
        </p:nvSpPr>
        <p:spPr>
          <a:xfrm>
            <a:off x="789358" y="8036113"/>
            <a:ext cx="2322725" cy="3579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9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L_H：高层条件 CE</a:t>
            </a:r>
            <a:endParaRPr sz="209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0" name="f4-text-089-读写 token＋子任务文本"/>
          <p:cNvSpPr>
            <a:spLocks noGrp="1"/>
          </p:cNvSpPr>
          <p:nvPr/>
        </p:nvSpPr>
        <p:spPr>
          <a:xfrm>
            <a:off x="658591" y="8449056"/>
            <a:ext cx="258425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读写 token＋子任务文本</a:t>
            </a:r>
            <a:endParaRPr sz="180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1" name="f4-rect-090"/>
          <p:cNvSpPr>
            <a:spLocks noGrp="1"/>
          </p:cNvSpPr>
          <p:nvPr/>
        </p:nvSpPr>
        <p:spPr>
          <a:xfrm>
            <a:off x="3459480" y="7964424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102" name="f4-text-091-L_FAST：动作 CE"/>
          <p:cNvSpPr>
            <a:spLocks noGrp="1"/>
          </p:cNvSpPr>
          <p:nvPr/>
        </p:nvSpPr>
        <p:spPr>
          <a:xfrm>
            <a:off x="3606728" y="8055132"/>
            <a:ext cx="2082945" cy="3332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94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L_FAST：动作 CE</a:t>
            </a:r>
            <a:endParaRPr sz="194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3" name="f4-text-092-监督离散动作预测"/>
          <p:cNvSpPr>
            <a:spLocks noGrp="1"/>
          </p:cNvSpPr>
          <p:nvPr/>
        </p:nvSpPr>
        <p:spPr>
          <a:xfrm>
            <a:off x="3649599" y="8439546"/>
            <a:ext cx="1997202" cy="3209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监督离散动作预测</a:t>
            </a:r>
            <a:endParaRPr sz="187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4" name="f4-rect-093"/>
          <p:cNvSpPr>
            <a:spLocks noGrp="1"/>
          </p:cNvSpPr>
          <p:nvPr/>
        </p:nvSpPr>
        <p:spPr>
          <a:xfrm>
            <a:off x="11231880" y="7964424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105" name="f4-text-094-L_FM：流匹配损失"/>
          <p:cNvSpPr>
            <a:spLocks noGrp="1"/>
          </p:cNvSpPr>
          <p:nvPr/>
        </p:nvSpPr>
        <p:spPr>
          <a:xfrm>
            <a:off x="11698650" y="8026603"/>
            <a:ext cx="2449741" cy="3703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6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L_FM：流匹配损失</a:t>
            </a:r>
            <a:endParaRPr sz="216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6" name="f4-text-095-监督动作速度场"/>
          <p:cNvSpPr>
            <a:spLocks noGrp="1"/>
          </p:cNvSpPr>
          <p:nvPr/>
        </p:nvSpPr>
        <p:spPr>
          <a:xfrm>
            <a:off x="11979783" y="8420527"/>
            <a:ext cx="1887474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监督动作速度场</a:t>
            </a:r>
            <a:endParaRPr sz="201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7" name="f4-path-096-arrow"/>
          <p:cNvSpPr>
            <a:spLocks noGrp="1"/>
          </p:cNvSpPr>
          <p:nvPr/>
        </p:nvSpPr>
        <p:spPr>
          <a:xfrm>
            <a:off x="460248" y="6309360"/>
            <a:ext cx="1399032" cy="1655064"/>
          </a:xfrm>
          <a:custGeom>
            <a:avLst/>
            <a:gdLst/>
            <a:ahLst/>
            <a:cxnLst/>
            <a:pathLst>
              <a:path w="1399032" h="1655064">
                <a:moveTo>
                  <a:pt x="1399032" y="1655064"/>
                </a:moveTo>
                <a:lnTo>
                  <a:pt x="1399032" y="1481328"/>
                </a:lnTo>
                <a:lnTo>
                  <a:pt x="0" y="1481328"/>
                </a:lnTo>
                <a:lnTo>
                  <a:pt x="0" y="0"/>
                </a:lnTo>
                <a:lnTo>
                  <a:pt x="128016" y="0"/>
                </a:lnTo>
              </a:path>
            </a:pathLst>
          </a:custGeom>
          <a:noFill/>
          <a:ln w="27432">
            <a:solidFill>
              <a:srgbClr val="BB5360"/>
            </a:solidFill>
            <a:prstDash val="dash"/>
          </a:ln>
        </p:spPr>
      </p:sp>
      <p:sp>
        <p:nvSpPr>
          <p:cNvPr id="108" name="f4-path-096-arrow-head"/>
          <p:cNvSpPr>
            <a:spLocks noGrp="1"/>
          </p:cNvSpPr>
          <p:nvPr/>
        </p:nvSpPr>
        <p:spPr>
          <a:xfrm>
            <a:off x="462077" y="6248790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126187" y="60570"/>
                </a:moveTo>
                <a:lnTo>
                  <a:pt x="0" y="0"/>
                </a:lnTo>
                <a:lnTo>
                  <a:pt x="0" y="121140"/>
                </a:lnTo>
                <a:close/>
              </a:path>
            </a:pathLst>
          </a:custGeom>
          <a:solidFill>
            <a:srgbClr val="BB5360"/>
          </a:solidFill>
          <a:ln w="0">
            <a:noFill/>
            <a:prstDash val="solid"/>
          </a:ln>
        </p:spPr>
      </p:sp>
      <p:sp>
        <p:nvSpPr>
          <p:cNvPr id="109" name="f4-path-097-arrow"/>
          <p:cNvSpPr>
            <a:spLocks noGrp="1"/>
          </p:cNvSpPr>
          <p:nvPr/>
        </p:nvSpPr>
        <p:spPr>
          <a:xfrm>
            <a:off x="4648200" y="6885432"/>
            <a:ext cx="932688" cy="1078992"/>
          </a:xfrm>
          <a:custGeom>
            <a:avLst/>
            <a:gdLst/>
            <a:ahLst/>
            <a:cxnLst/>
            <a:pathLst>
              <a:path w="932688" h="1078992">
                <a:moveTo>
                  <a:pt x="0" y="1078992"/>
                </a:moveTo>
                <a:lnTo>
                  <a:pt x="0" y="896112"/>
                </a:lnTo>
                <a:lnTo>
                  <a:pt x="932688" y="896112"/>
                </a:lnTo>
                <a:lnTo>
                  <a:pt x="932688" y="0"/>
                </a:lnTo>
              </a:path>
            </a:pathLst>
          </a:custGeom>
          <a:noFill/>
          <a:ln w="27432">
            <a:solidFill>
              <a:srgbClr val="BB5360"/>
            </a:solidFill>
            <a:prstDash val="dash"/>
          </a:ln>
        </p:spPr>
      </p:sp>
      <p:sp>
        <p:nvSpPr>
          <p:cNvPr id="110" name="f4-path-097-arrow-head"/>
          <p:cNvSpPr>
            <a:spLocks noGrp="1"/>
          </p:cNvSpPr>
          <p:nvPr/>
        </p:nvSpPr>
        <p:spPr>
          <a:xfrm>
            <a:off x="5520318" y="6885432"/>
            <a:ext cx="121140" cy="126187"/>
          </a:xfrm>
          <a:custGeom>
            <a:avLst/>
            <a:gdLst/>
            <a:ahLst/>
            <a:cxnLst/>
            <a:pathLst>
              <a:path w="121140" h="126187">
                <a:moveTo>
                  <a:pt x="60570" y="0"/>
                </a:moveTo>
                <a:lnTo>
                  <a:pt x="0" y="126187"/>
                </a:lnTo>
                <a:lnTo>
                  <a:pt x="121140" y="126187"/>
                </a:lnTo>
                <a:close/>
              </a:path>
            </a:pathLst>
          </a:custGeom>
          <a:solidFill>
            <a:srgbClr val="BB5360"/>
          </a:solidFill>
          <a:ln w="0">
            <a:noFill/>
            <a:prstDash val="solid"/>
          </a:ln>
        </p:spPr>
      </p:sp>
      <p:sp>
        <p:nvSpPr>
          <p:cNvPr id="111" name="f4-path-098-arrow"/>
          <p:cNvSpPr>
            <a:spLocks noGrp="1"/>
          </p:cNvSpPr>
          <p:nvPr/>
        </p:nvSpPr>
        <p:spPr>
          <a:xfrm>
            <a:off x="12923520" y="6885432"/>
            <a:ext cx="9525" cy="1078992"/>
          </a:xfrm>
          <a:custGeom>
            <a:avLst/>
            <a:gdLst/>
            <a:ahLst/>
            <a:cxnLst/>
            <a:pathLst>
              <a:path w="9525" h="1078992">
                <a:moveTo>
                  <a:pt x="0" y="1078992"/>
                </a:moveTo>
                <a:lnTo>
                  <a:pt x="0" y="0"/>
                </a:lnTo>
              </a:path>
            </a:pathLst>
          </a:custGeom>
          <a:noFill/>
          <a:ln w="27432">
            <a:solidFill>
              <a:srgbClr val="BB5360"/>
            </a:solidFill>
            <a:prstDash val="dash"/>
          </a:ln>
        </p:spPr>
      </p:sp>
      <p:sp>
        <p:nvSpPr>
          <p:cNvPr id="112" name="f4-path-098-arrow-head"/>
          <p:cNvSpPr>
            <a:spLocks noGrp="1"/>
          </p:cNvSpPr>
          <p:nvPr/>
        </p:nvSpPr>
        <p:spPr>
          <a:xfrm>
            <a:off x="12862950" y="6885432"/>
            <a:ext cx="121140" cy="126187"/>
          </a:xfrm>
          <a:custGeom>
            <a:avLst/>
            <a:gdLst/>
            <a:ahLst/>
            <a:cxnLst/>
            <a:pathLst>
              <a:path w="121140" h="126187">
                <a:moveTo>
                  <a:pt x="60570" y="0"/>
                </a:moveTo>
                <a:lnTo>
                  <a:pt x="0" y="126187"/>
                </a:lnTo>
                <a:lnTo>
                  <a:pt x="121140" y="126187"/>
                </a:lnTo>
                <a:close/>
              </a:path>
            </a:pathLst>
          </a:custGeom>
          <a:solidFill>
            <a:srgbClr val="BB5360"/>
          </a:solidFill>
          <a:ln w="0">
            <a:noFill/>
            <a:prstDash val="solid"/>
          </a:ln>
        </p:spPr>
      </p:sp>
      <p:sp>
        <p:nvSpPr>
          <p:cNvPr id="113" name="f4-rect-099"/>
          <p:cNvSpPr>
            <a:spLocks noGrp="1"/>
          </p:cNvSpPr>
          <p:nvPr/>
        </p:nvSpPr>
        <p:spPr>
          <a:xfrm>
            <a:off x="6248400" y="7964424"/>
            <a:ext cx="3108960" cy="2212848"/>
          </a:xfrm>
          <a:prstGeom prst="roundRect">
            <a:avLst>
              <a:gd name="adj" fmla="val 4959"/>
            </a:avLst>
          </a:prstGeom>
          <a:solidFill>
            <a:srgbClr val="FFFCF7"/>
          </a:solidFill>
          <a:ln w="16459">
            <a:solidFill>
              <a:srgbClr val="BA8135"/>
            </a:solidFill>
            <a:prstDash val="solid"/>
          </a:ln>
        </p:spPr>
      </p:sp>
      <p:sp>
        <p:nvSpPr>
          <p:cNvPr id="114" name="f4-text-100-记录动作轨迹 A"/>
          <p:cNvSpPr>
            <a:spLocks noGrp="1"/>
          </p:cNvSpPr>
          <p:nvPr/>
        </p:nvSpPr>
        <p:spPr>
          <a:xfrm>
            <a:off x="6750442" y="8016728"/>
            <a:ext cx="2104876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记录动作轨迹 A</a:t>
            </a:r>
            <a:endParaRPr sz="230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5" name="f4-path-101"/>
          <p:cNvSpPr>
            <a:spLocks noGrp="1"/>
          </p:cNvSpPr>
          <p:nvPr/>
        </p:nvSpPr>
        <p:spPr>
          <a:xfrm>
            <a:off x="6531864" y="8531352"/>
            <a:ext cx="2542032" cy="795528"/>
          </a:xfrm>
          <a:custGeom>
            <a:avLst/>
            <a:gdLst/>
            <a:ahLst/>
            <a:cxnLst/>
            <a:pathLst>
              <a:path w="2542032" h="795528">
                <a:moveTo>
                  <a:pt x="0" y="795528"/>
                </a:moveTo>
                <a:lnTo>
                  <a:pt x="0" y="0"/>
                </a:lnTo>
                <a:moveTo>
                  <a:pt x="0" y="795528"/>
                </a:moveTo>
                <a:lnTo>
                  <a:pt x="2542032" y="795528"/>
                </a:lnTo>
              </a:path>
            </a:pathLst>
          </a:custGeom>
          <a:noFill/>
          <a:ln w="13716">
            <a:solidFill>
              <a:srgbClr val="D9E0E6"/>
            </a:solidFill>
            <a:prstDash val="solid"/>
          </a:ln>
        </p:spPr>
      </p:sp>
      <p:sp>
        <p:nvSpPr>
          <p:cNvPr id="116" name="f4-path-102"/>
          <p:cNvSpPr>
            <a:spLocks noGrp="1"/>
          </p:cNvSpPr>
          <p:nvPr/>
        </p:nvSpPr>
        <p:spPr>
          <a:xfrm>
            <a:off x="6531864" y="8752637"/>
            <a:ext cx="2542032" cy="337414"/>
          </a:xfrm>
          <a:custGeom>
            <a:avLst/>
            <a:gdLst/>
            <a:ahLst/>
            <a:cxnLst/>
            <a:pathLst>
              <a:path w="2542032" h="337414">
                <a:moveTo>
                  <a:pt x="0" y="176479"/>
                </a:moveTo>
                <a:lnTo>
                  <a:pt x="57607" y="213970"/>
                </a:lnTo>
                <a:lnTo>
                  <a:pt x="115214" y="247802"/>
                </a:lnTo>
                <a:lnTo>
                  <a:pt x="173736" y="276149"/>
                </a:lnTo>
                <a:lnTo>
                  <a:pt x="231343" y="298094"/>
                </a:lnTo>
                <a:lnTo>
                  <a:pt x="288950" y="312725"/>
                </a:lnTo>
                <a:lnTo>
                  <a:pt x="346558" y="320040"/>
                </a:lnTo>
                <a:lnTo>
                  <a:pt x="404165" y="322783"/>
                </a:lnTo>
                <a:lnTo>
                  <a:pt x="461772" y="322783"/>
                </a:lnTo>
                <a:lnTo>
                  <a:pt x="520294" y="321869"/>
                </a:lnTo>
                <a:lnTo>
                  <a:pt x="577901" y="321869"/>
                </a:lnTo>
                <a:lnTo>
                  <a:pt x="635508" y="324612"/>
                </a:lnTo>
                <a:lnTo>
                  <a:pt x="693115" y="329184"/>
                </a:lnTo>
                <a:lnTo>
                  <a:pt x="750722" y="333756"/>
                </a:lnTo>
                <a:lnTo>
                  <a:pt x="809244" y="337414"/>
                </a:lnTo>
                <a:lnTo>
                  <a:pt x="866851" y="337414"/>
                </a:lnTo>
                <a:lnTo>
                  <a:pt x="924458" y="331927"/>
                </a:lnTo>
                <a:lnTo>
                  <a:pt x="982066" y="318211"/>
                </a:lnTo>
                <a:lnTo>
                  <a:pt x="1039673" y="297180"/>
                </a:lnTo>
                <a:lnTo>
                  <a:pt x="1097280" y="268834"/>
                </a:lnTo>
                <a:lnTo>
                  <a:pt x="1155802" y="235001"/>
                </a:lnTo>
                <a:lnTo>
                  <a:pt x="1213409" y="197510"/>
                </a:lnTo>
                <a:lnTo>
                  <a:pt x="1271016" y="160934"/>
                </a:lnTo>
                <a:lnTo>
                  <a:pt x="1328623" y="127102"/>
                </a:lnTo>
                <a:lnTo>
                  <a:pt x="1386230" y="98755"/>
                </a:lnTo>
                <a:lnTo>
                  <a:pt x="1444752" y="77724"/>
                </a:lnTo>
                <a:lnTo>
                  <a:pt x="1502359" y="63094"/>
                </a:lnTo>
                <a:lnTo>
                  <a:pt x="1559966" y="53950"/>
                </a:lnTo>
                <a:lnTo>
                  <a:pt x="1617574" y="48463"/>
                </a:lnTo>
                <a:lnTo>
                  <a:pt x="1675181" y="44806"/>
                </a:lnTo>
                <a:lnTo>
                  <a:pt x="1732788" y="41148"/>
                </a:lnTo>
                <a:lnTo>
                  <a:pt x="1791310" y="36576"/>
                </a:lnTo>
                <a:lnTo>
                  <a:pt x="1848917" y="28346"/>
                </a:lnTo>
                <a:lnTo>
                  <a:pt x="1906524" y="19202"/>
                </a:lnTo>
                <a:lnTo>
                  <a:pt x="1964131" y="10058"/>
                </a:lnTo>
                <a:lnTo>
                  <a:pt x="2021738" y="2743"/>
                </a:lnTo>
                <a:lnTo>
                  <a:pt x="2080260" y="0"/>
                </a:lnTo>
                <a:lnTo>
                  <a:pt x="2137867" y="4572"/>
                </a:lnTo>
                <a:lnTo>
                  <a:pt x="2195474" y="16459"/>
                </a:lnTo>
                <a:lnTo>
                  <a:pt x="2253082" y="37490"/>
                </a:lnTo>
                <a:lnTo>
                  <a:pt x="2310689" y="64922"/>
                </a:lnTo>
                <a:lnTo>
                  <a:pt x="2368296" y="97841"/>
                </a:lnTo>
                <a:lnTo>
                  <a:pt x="2426818" y="134417"/>
                </a:lnTo>
                <a:lnTo>
                  <a:pt x="2484425" y="170078"/>
                </a:lnTo>
                <a:lnTo>
                  <a:pt x="2542032" y="202082"/>
                </a:lnTo>
              </a:path>
            </a:pathLst>
          </a:custGeom>
          <a:noFill/>
          <a:ln w="24689">
            <a:solidFill>
              <a:srgbClr val="BA8135"/>
            </a:solidFill>
            <a:prstDash val="solid"/>
          </a:ln>
        </p:spPr>
      </p:sp>
      <p:sp>
        <p:nvSpPr>
          <p:cNvPr id="117" name="f4-path-103"/>
          <p:cNvSpPr>
            <a:spLocks noGrp="1"/>
          </p:cNvSpPr>
          <p:nvPr/>
        </p:nvSpPr>
        <p:spPr>
          <a:xfrm>
            <a:off x="6531864" y="8760866"/>
            <a:ext cx="2542032" cy="395935"/>
          </a:xfrm>
          <a:custGeom>
            <a:avLst/>
            <a:gdLst/>
            <a:ahLst/>
            <a:cxnLst/>
            <a:pathLst>
              <a:path w="2542032" h="395935">
                <a:moveTo>
                  <a:pt x="0" y="382219"/>
                </a:moveTo>
                <a:lnTo>
                  <a:pt x="57607" y="394106"/>
                </a:lnTo>
                <a:lnTo>
                  <a:pt x="115214" y="395935"/>
                </a:lnTo>
                <a:lnTo>
                  <a:pt x="173736" y="389534"/>
                </a:lnTo>
                <a:lnTo>
                  <a:pt x="231343" y="375818"/>
                </a:lnTo>
                <a:lnTo>
                  <a:pt x="288950" y="356616"/>
                </a:lnTo>
                <a:lnTo>
                  <a:pt x="346558" y="334670"/>
                </a:lnTo>
                <a:lnTo>
                  <a:pt x="404165" y="312725"/>
                </a:lnTo>
                <a:lnTo>
                  <a:pt x="461772" y="293522"/>
                </a:lnTo>
                <a:lnTo>
                  <a:pt x="520294" y="276149"/>
                </a:lnTo>
                <a:lnTo>
                  <a:pt x="577901" y="262433"/>
                </a:lnTo>
                <a:lnTo>
                  <a:pt x="635508" y="251460"/>
                </a:lnTo>
                <a:lnTo>
                  <a:pt x="693115" y="239573"/>
                </a:lnTo>
                <a:lnTo>
                  <a:pt x="750722" y="226771"/>
                </a:lnTo>
                <a:lnTo>
                  <a:pt x="809244" y="210312"/>
                </a:lnTo>
                <a:lnTo>
                  <a:pt x="866851" y="188366"/>
                </a:lnTo>
                <a:lnTo>
                  <a:pt x="924458" y="161849"/>
                </a:lnTo>
                <a:lnTo>
                  <a:pt x="982066" y="131674"/>
                </a:lnTo>
                <a:lnTo>
                  <a:pt x="1039673" y="99670"/>
                </a:lnTo>
                <a:lnTo>
                  <a:pt x="1097280" y="67666"/>
                </a:lnTo>
                <a:lnTo>
                  <a:pt x="1155802" y="39319"/>
                </a:lnTo>
                <a:lnTo>
                  <a:pt x="1213409" y="18288"/>
                </a:lnTo>
                <a:lnTo>
                  <a:pt x="1271016" y="4572"/>
                </a:lnTo>
                <a:lnTo>
                  <a:pt x="1328623" y="0"/>
                </a:lnTo>
                <a:lnTo>
                  <a:pt x="1386230" y="4572"/>
                </a:lnTo>
                <a:lnTo>
                  <a:pt x="1444752" y="15545"/>
                </a:lnTo>
                <a:lnTo>
                  <a:pt x="1502359" y="31090"/>
                </a:lnTo>
                <a:lnTo>
                  <a:pt x="1559966" y="49378"/>
                </a:lnTo>
                <a:lnTo>
                  <a:pt x="1617574" y="66751"/>
                </a:lnTo>
                <a:lnTo>
                  <a:pt x="1675181" y="82296"/>
                </a:lnTo>
                <a:lnTo>
                  <a:pt x="1732788" y="95098"/>
                </a:lnTo>
                <a:lnTo>
                  <a:pt x="1791310" y="105156"/>
                </a:lnTo>
                <a:lnTo>
                  <a:pt x="1848917" y="114300"/>
                </a:lnTo>
                <a:lnTo>
                  <a:pt x="1906524" y="124358"/>
                </a:lnTo>
                <a:lnTo>
                  <a:pt x="1964131" y="137160"/>
                </a:lnTo>
                <a:lnTo>
                  <a:pt x="2021738" y="155448"/>
                </a:lnTo>
                <a:lnTo>
                  <a:pt x="2080260" y="178308"/>
                </a:lnTo>
                <a:lnTo>
                  <a:pt x="2137867" y="206654"/>
                </a:lnTo>
                <a:lnTo>
                  <a:pt x="2195474" y="239573"/>
                </a:lnTo>
                <a:lnTo>
                  <a:pt x="2253082" y="274320"/>
                </a:lnTo>
                <a:lnTo>
                  <a:pt x="2310689" y="308153"/>
                </a:lnTo>
                <a:lnTo>
                  <a:pt x="2368296" y="337414"/>
                </a:lnTo>
                <a:lnTo>
                  <a:pt x="2426818" y="361188"/>
                </a:lnTo>
                <a:lnTo>
                  <a:pt x="2484425" y="375818"/>
                </a:lnTo>
                <a:lnTo>
                  <a:pt x="2542032" y="382219"/>
                </a:lnTo>
              </a:path>
            </a:pathLst>
          </a:custGeom>
          <a:noFill/>
          <a:ln w="24689">
            <a:solidFill>
              <a:srgbClr val="268575"/>
            </a:solidFill>
            <a:prstDash val="solid"/>
          </a:ln>
        </p:spPr>
      </p:sp>
      <p:sp>
        <p:nvSpPr>
          <p:cNvPr id="118" name="f4-path-104"/>
          <p:cNvSpPr>
            <a:spLocks noGrp="1"/>
          </p:cNvSpPr>
          <p:nvPr/>
        </p:nvSpPr>
        <p:spPr>
          <a:xfrm>
            <a:off x="6531864" y="8795614"/>
            <a:ext cx="2542032" cy="384962"/>
          </a:xfrm>
          <a:custGeom>
            <a:avLst/>
            <a:gdLst/>
            <a:ahLst/>
            <a:cxnLst/>
            <a:pathLst>
              <a:path w="2542032" h="384962">
                <a:moveTo>
                  <a:pt x="0" y="331927"/>
                </a:moveTo>
                <a:lnTo>
                  <a:pt x="57607" y="304495"/>
                </a:lnTo>
                <a:lnTo>
                  <a:pt x="115214" y="271577"/>
                </a:lnTo>
                <a:lnTo>
                  <a:pt x="173736" y="235915"/>
                </a:lnTo>
                <a:lnTo>
                  <a:pt x="231343" y="200254"/>
                </a:lnTo>
                <a:lnTo>
                  <a:pt x="288950" y="168250"/>
                </a:lnTo>
                <a:lnTo>
                  <a:pt x="346558" y="139903"/>
                </a:lnTo>
                <a:lnTo>
                  <a:pt x="404165" y="118872"/>
                </a:lnTo>
                <a:lnTo>
                  <a:pt x="461772" y="103327"/>
                </a:lnTo>
                <a:lnTo>
                  <a:pt x="520294" y="92354"/>
                </a:lnTo>
                <a:lnTo>
                  <a:pt x="577901" y="85039"/>
                </a:lnTo>
                <a:lnTo>
                  <a:pt x="635508" y="77724"/>
                </a:lnTo>
                <a:lnTo>
                  <a:pt x="693115" y="69494"/>
                </a:lnTo>
                <a:lnTo>
                  <a:pt x="750722" y="58522"/>
                </a:lnTo>
                <a:lnTo>
                  <a:pt x="809244" y="45720"/>
                </a:lnTo>
                <a:lnTo>
                  <a:pt x="866851" y="32004"/>
                </a:lnTo>
                <a:lnTo>
                  <a:pt x="924458" y="17374"/>
                </a:lnTo>
                <a:lnTo>
                  <a:pt x="982066" y="6401"/>
                </a:lnTo>
                <a:lnTo>
                  <a:pt x="1039673" y="0"/>
                </a:lnTo>
                <a:lnTo>
                  <a:pt x="1097280" y="914"/>
                </a:lnTo>
                <a:lnTo>
                  <a:pt x="1155802" y="10973"/>
                </a:lnTo>
                <a:lnTo>
                  <a:pt x="1213409" y="29261"/>
                </a:lnTo>
                <a:lnTo>
                  <a:pt x="1271016" y="55778"/>
                </a:lnTo>
                <a:lnTo>
                  <a:pt x="1328623" y="86868"/>
                </a:lnTo>
                <a:lnTo>
                  <a:pt x="1386230" y="120701"/>
                </a:lnTo>
                <a:lnTo>
                  <a:pt x="1444752" y="154534"/>
                </a:lnTo>
                <a:lnTo>
                  <a:pt x="1502359" y="185623"/>
                </a:lnTo>
                <a:lnTo>
                  <a:pt x="1559966" y="211226"/>
                </a:lnTo>
                <a:lnTo>
                  <a:pt x="1617574" y="232258"/>
                </a:lnTo>
                <a:lnTo>
                  <a:pt x="1675181" y="246888"/>
                </a:lnTo>
                <a:lnTo>
                  <a:pt x="1732788" y="258775"/>
                </a:lnTo>
                <a:lnTo>
                  <a:pt x="1791310" y="268834"/>
                </a:lnTo>
                <a:lnTo>
                  <a:pt x="1848917" y="278892"/>
                </a:lnTo>
                <a:lnTo>
                  <a:pt x="1906524" y="290779"/>
                </a:lnTo>
                <a:lnTo>
                  <a:pt x="1964131" y="305410"/>
                </a:lnTo>
                <a:lnTo>
                  <a:pt x="2021738" y="322783"/>
                </a:lnTo>
                <a:lnTo>
                  <a:pt x="2080260" y="341986"/>
                </a:lnTo>
                <a:lnTo>
                  <a:pt x="2137867" y="360274"/>
                </a:lnTo>
                <a:lnTo>
                  <a:pt x="2195474" y="374904"/>
                </a:lnTo>
                <a:lnTo>
                  <a:pt x="2253082" y="384048"/>
                </a:lnTo>
                <a:lnTo>
                  <a:pt x="2310689" y="384962"/>
                </a:lnTo>
                <a:lnTo>
                  <a:pt x="2368296" y="376733"/>
                </a:lnTo>
                <a:lnTo>
                  <a:pt x="2426818" y="359359"/>
                </a:lnTo>
                <a:lnTo>
                  <a:pt x="2484425" y="335585"/>
                </a:lnTo>
                <a:lnTo>
                  <a:pt x="2542032" y="306324"/>
                </a:lnTo>
              </a:path>
            </a:pathLst>
          </a:custGeom>
          <a:noFill/>
          <a:ln w="24689">
            <a:solidFill>
              <a:srgbClr val="BA8135"/>
            </a:solidFill>
            <a:prstDash val="solid"/>
          </a:ln>
        </p:spPr>
      </p:sp>
      <p:sp>
        <p:nvSpPr>
          <p:cNvPr id="119" name="f4-text-105-来自 rollout 的标签"/>
          <p:cNvSpPr>
            <a:spLocks noGrp="1"/>
          </p:cNvSpPr>
          <p:nvPr/>
        </p:nvSpPr>
        <p:spPr>
          <a:xfrm>
            <a:off x="6655734" y="9545239"/>
            <a:ext cx="2294293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来自 rollout 的标签</a:t>
            </a:r>
            <a:endParaRPr sz="201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20" name="f4-rect-106"/>
          <p:cNvSpPr>
            <a:spLocks noGrp="1"/>
          </p:cNvSpPr>
          <p:nvPr/>
        </p:nvSpPr>
        <p:spPr>
          <a:xfrm>
            <a:off x="3322320" y="9372600"/>
            <a:ext cx="2468880" cy="804672"/>
          </a:xfrm>
          <a:prstGeom prst="roundRect">
            <a:avLst>
              <a:gd name="adj" fmla="val 10227"/>
            </a:avLst>
          </a:prstGeom>
          <a:solidFill>
            <a:srgbClr val="ECF3FA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121" name="f4-text-107-FAST(A)"/>
          <p:cNvSpPr>
            <a:spLocks noGrp="1"/>
          </p:cNvSpPr>
          <p:nvPr/>
        </p:nvSpPr>
        <p:spPr>
          <a:xfrm>
            <a:off x="3952449" y="9397472"/>
            <a:ext cx="1208621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FAST(A)</a:t>
            </a:r>
            <a:endParaRPr sz="23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22" name="f4-text-108-编码为离散 token"/>
          <p:cNvSpPr>
            <a:spLocks noGrp="1"/>
          </p:cNvSpPr>
          <p:nvPr/>
        </p:nvSpPr>
        <p:spPr>
          <a:xfrm>
            <a:off x="3499348" y="9773839"/>
            <a:ext cx="2114824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编码为离散 token</a:t>
            </a:r>
            <a:endParaRPr sz="201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23" name="f4-path-109-arrow"/>
          <p:cNvSpPr>
            <a:spLocks noGrp="1"/>
          </p:cNvSpPr>
          <p:nvPr/>
        </p:nvSpPr>
        <p:spPr>
          <a:xfrm>
            <a:off x="5855208" y="9765792"/>
            <a:ext cx="393192" cy="9525"/>
          </a:xfrm>
          <a:custGeom>
            <a:avLst/>
            <a:gdLst/>
            <a:ahLst/>
            <a:cxnLst/>
            <a:pathLst>
              <a:path w="393192" h="9525">
                <a:moveTo>
                  <a:pt x="393192" y="0"/>
                </a:moveTo>
                <a:lnTo>
                  <a:pt x="0" y="0"/>
                </a:lnTo>
              </a:path>
            </a:pathLst>
          </a:custGeom>
          <a:noFill/>
          <a:ln w="27432">
            <a:solidFill>
              <a:srgbClr val="346CA0"/>
            </a:solidFill>
            <a:prstDash val="solid"/>
          </a:ln>
        </p:spPr>
      </p:sp>
      <p:sp>
        <p:nvSpPr>
          <p:cNvPr id="124" name="f4-path-109-arrow-head"/>
          <p:cNvSpPr>
            <a:spLocks noGrp="1"/>
          </p:cNvSpPr>
          <p:nvPr/>
        </p:nvSpPr>
        <p:spPr>
          <a:xfrm>
            <a:off x="5855208" y="9705222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0" y="60570"/>
                </a:moveTo>
                <a:lnTo>
                  <a:pt x="126187" y="121140"/>
                </a:lnTo>
                <a:lnTo>
                  <a:pt x="126187" y="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125" name="f4-path-110-arrow"/>
          <p:cNvSpPr>
            <a:spLocks noGrp="1"/>
          </p:cNvSpPr>
          <p:nvPr/>
        </p:nvSpPr>
        <p:spPr>
          <a:xfrm>
            <a:off x="4556760" y="8924544"/>
            <a:ext cx="9525" cy="438912"/>
          </a:xfrm>
          <a:custGeom>
            <a:avLst/>
            <a:gdLst/>
            <a:ahLst/>
            <a:cxnLst/>
            <a:pathLst>
              <a:path w="9525" h="438912">
                <a:moveTo>
                  <a:pt x="0" y="438912"/>
                </a:moveTo>
                <a:lnTo>
                  <a:pt x="0" y="0"/>
                </a:lnTo>
              </a:path>
            </a:pathLst>
          </a:custGeom>
          <a:noFill/>
          <a:ln w="27432">
            <a:solidFill>
              <a:srgbClr val="346CA0"/>
            </a:solidFill>
            <a:prstDash val="solid"/>
          </a:ln>
        </p:spPr>
      </p:sp>
      <p:sp>
        <p:nvSpPr>
          <p:cNvPr id="126" name="f4-path-110-arrow-head"/>
          <p:cNvSpPr>
            <a:spLocks noGrp="1"/>
          </p:cNvSpPr>
          <p:nvPr/>
        </p:nvSpPr>
        <p:spPr>
          <a:xfrm>
            <a:off x="4496190" y="8924544"/>
            <a:ext cx="121140" cy="126187"/>
          </a:xfrm>
          <a:custGeom>
            <a:avLst/>
            <a:gdLst/>
            <a:ahLst/>
            <a:cxnLst/>
            <a:pathLst>
              <a:path w="121140" h="126187">
                <a:moveTo>
                  <a:pt x="60570" y="0"/>
                </a:moveTo>
                <a:lnTo>
                  <a:pt x="0" y="126187"/>
                </a:lnTo>
                <a:lnTo>
                  <a:pt x="121140" y="126187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127" name="f4-rect-111"/>
          <p:cNvSpPr>
            <a:spLocks noGrp="1"/>
          </p:cNvSpPr>
          <p:nvPr/>
        </p:nvSpPr>
        <p:spPr>
          <a:xfrm>
            <a:off x="9860280" y="9372600"/>
            <a:ext cx="4754880" cy="804672"/>
          </a:xfrm>
          <a:prstGeom prst="roundRect">
            <a:avLst>
              <a:gd name="adj" fmla="val 10227"/>
            </a:avLst>
          </a:prstGeom>
          <a:solidFill>
            <a:srgbClr val="ECF3FA"/>
          </a:solidFill>
          <a:ln w="16459">
            <a:solidFill>
              <a:srgbClr val="346CA0"/>
            </a:solidFill>
            <a:prstDash val="solid"/>
          </a:ln>
        </p:spPr>
      </p:sp>
      <p:sp>
        <p:nvSpPr>
          <p:cNvPr id="128" name="f4-text-112-A + 噪声 ε + 时间 τ"/>
          <p:cNvSpPr>
            <a:spLocks noGrp="1"/>
          </p:cNvSpPr>
          <p:nvPr/>
        </p:nvSpPr>
        <p:spPr>
          <a:xfrm>
            <a:off x="10981774" y="9397472"/>
            <a:ext cx="2511891" cy="39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 + 噪声 ε + 时间 τ</a:t>
            </a:r>
            <a:endParaRPr sz="23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29" name="f4-text-113-构造流匹配输入与目标"/>
          <p:cNvSpPr>
            <a:spLocks noGrp="1"/>
          </p:cNvSpPr>
          <p:nvPr/>
        </p:nvSpPr>
        <p:spPr>
          <a:xfrm>
            <a:off x="10909935" y="9773839"/>
            <a:ext cx="2655570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构造流匹配输入与目标</a:t>
            </a:r>
            <a:endParaRPr sz="201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30" name="f4-path-114-arrow"/>
          <p:cNvSpPr>
            <a:spLocks noGrp="1"/>
          </p:cNvSpPr>
          <p:nvPr/>
        </p:nvSpPr>
        <p:spPr>
          <a:xfrm>
            <a:off x="9357360" y="9765792"/>
            <a:ext cx="438912" cy="9525"/>
          </a:xfrm>
          <a:custGeom>
            <a:avLst/>
            <a:gdLst/>
            <a:ahLst/>
            <a:cxnLst/>
            <a:pathLst>
              <a:path w="438912" h="9525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7432">
            <a:solidFill>
              <a:srgbClr val="346CA0"/>
            </a:solidFill>
            <a:prstDash val="solid"/>
          </a:ln>
        </p:spPr>
      </p:sp>
      <p:sp>
        <p:nvSpPr>
          <p:cNvPr id="131" name="f4-path-114-arrow-head"/>
          <p:cNvSpPr>
            <a:spLocks noGrp="1"/>
          </p:cNvSpPr>
          <p:nvPr/>
        </p:nvSpPr>
        <p:spPr>
          <a:xfrm>
            <a:off x="9670085" y="9705222"/>
            <a:ext cx="126187" cy="121140"/>
          </a:xfrm>
          <a:custGeom>
            <a:avLst/>
            <a:gdLst/>
            <a:ahLst/>
            <a:cxnLst/>
            <a:pathLst>
              <a:path w="126187" h="121140">
                <a:moveTo>
                  <a:pt x="126187" y="60570"/>
                </a:moveTo>
                <a:lnTo>
                  <a:pt x="0" y="0"/>
                </a:lnTo>
                <a:lnTo>
                  <a:pt x="0" y="12114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132" name="f4-path-115-arrow"/>
          <p:cNvSpPr>
            <a:spLocks noGrp="1"/>
          </p:cNvSpPr>
          <p:nvPr/>
        </p:nvSpPr>
        <p:spPr>
          <a:xfrm>
            <a:off x="12923520" y="8924544"/>
            <a:ext cx="9525" cy="438912"/>
          </a:xfrm>
          <a:custGeom>
            <a:avLst/>
            <a:gdLst/>
            <a:ahLst/>
            <a:cxnLst/>
            <a:pathLst>
              <a:path w="9525" h="438912">
                <a:moveTo>
                  <a:pt x="0" y="438912"/>
                </a:moveTo>
                <a:lnTo>
                  <a:pt x="0" y="0"/>
                </a:lnTo>
              </a:path>
            </a:pathLst>
          </a:custGeom>
          <a:noFill/>
          <a:ln w="27432">
            <a:solidFill>
              <a:srgbClr val="346CA0"/>
            </a:solidFill>
            <a:prstDash val="solid"/>
          </a:ln>
        </p:spPr>
      </p:sp>
      <p:sp>
        <p:nvSpPr>
          <p:cNvPr id="133" name="f4-path-115-arrow-head"/>
          <p:cNvSpPr>
            <a:spLocks noGrp="1"/>
          </p:cNvSpPr>
          <p:nvPr/>
        </p:nvSpPr>
        <p:spPr>
          <a:xfrm>
            <a:off x="12862950" y="8924544"/>
            <a:ext cx="121140" cy="126187"/>
          </a:xfrm>
          <a:custGeom>
            <a:avLst/>
            <a:gdLst/>
            <a:ahLst/>
            <a:cxnLst/>
            <a:pathLst>
              <a:path w="121140" h="126187">
                <a:moveTo>
                  <a:pt x="60570" y="0"/>
                </a:moveTo>
                <a:lnTo>
                  <a:pt x="0" y="126187"/>
                </a:lnTo>
                <a:lnTo>
                  <a:pt x="121140" y="126187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134" name="f4-path-116-arrow"/>
          <p:cNvSpPr>
            <a:spLocks noGrp="1"/>
          </p:cNvSpPr>
          <p:nvPr/>
        </p:nvSpPr>
        <p:spPr>
          <a:xfrm>
            <a:off x="14615160" y="6364224"/>
            <a:ext cx="164592" cy="3401568"/>
          </a:xfrm>
          <a:custGeom>
            <a:avLst/>
            <a:gdLst/>
            <a:ahLst/>
            <a:cxnLst/>
            <a:pathLst>
              <a:path w="164592" h="3401568">
                <a:moveTo>
                  <a:pt x="0" y="3401568"/>
                </a:moveTo>
                <a:lnTo>
                  <a:pt x="164592" y="3401568"/>
                </a:lnTo>
                <a:lnTo>
                  <a:pt x="164592" y="0"/>
                </a:lnTo>
                <a:lnTo>
                  <a:pt x="36576" y="0"/>
                </a:lnTo>
              </a:path>
            </a:pathLst>
          </a:custGeom>
          <a:noFill/>
          <a:ln w="21946">
            <a:solidFill>
              <a:srgbClr val="346CA0"/>
            </a:solidFill>
            <a:prstDash val="solid"/>
          </a:ln>
        </p:spPr>
      </p:sp>
      <p:sp>
        <p:nvSpPr>
          <p:cNvPr id="135" name="f4-path-116-arrow-head"/>
          <p:cNvSpPr>
            <a:spLocks noGrp="1"/>
          </p:cNvSpPr>
          <p:nvPr/>
        </p:nvSpPr>
        <p:spPr>
          <a:xfrm>
            <a:off x="14651736" y="6313932"/>
            <a:ext cx="104775" cy="100584"/>
          </a:xfrm>
          <a:custGeom>
            <a:avLst/>
            <a:gdLst/>
            <a:ahLst/>
            <a:cxnLst/>
            <a:pathLst>
              <a:path w="104775" h="100584">
                <a:moveTo>
                  <a:pt x="0" y="50292"/>
                </a:moveTo>
                <a:lnTo>
                  <a:pt x="104775" y="100584"/>
                </a:lnTo>
                <a:lnTo>
                  <a:pt x="104775" y="0"/>
                </a:lnTo>
                <a:close/>
              </a:path>
            </a:pathLst>
          </a:custGeom>
          <a:solidFill>
            <a:srgbClr val="346CA0"/>
          </a:solidFill>
          <a:ln w="0">
            <a:noFill/>
            <a:prstDash val="solid"/>
          </a:ln>
        </p:spPr>
      </p:sp>
      <p:sp>
        <p:nvSpPr>
          <p:cNvPr id="136" name="f4-rect-117"/>
          <p:cNvSpPr>
            <a:spLocks noGrp="1"/>
          </p:cNvSpPr>
          <p:nvPr/>
        </p:nvSpPr>
        <p:spPr>
          <a:xfrm>
            <a:off x="624840" y="10360152"/>
            <a:ext cx="13990320" cy="594360"/>
          </a:xfrm>
          <a:prstGeom prst="roundRect">
            <a:avLst>
              <a:gd name="adj" fmla="val 13846"/>
            </a:avLst>
          </a:prstGeom>
          <a:solidFill>
            <a:srgbClr val="F4F7F9"/>
          </a:solidFill>
          <a:ln w="16459">
            <a:noFill/>
            <a:prstDash val="solid"/>
          </a:ln>
        </p:spPr>
      </p:sp>
      <p:sp>
        <p:nvSpPr>
          <p:cNvPr id="137" name="f4-text-118-先 SFT 暖启动读写和子任务生成；回报条件训练"/>
          <p:cNvSpPr>
            <a:spLocks noGrp="1"/>
          </p:cNvSpPr>
          <p:nvPr/>
        </p:nvSpPr>
        <p:spPr>
          <a:xfrm>
            <a:off x="760095" y="10368199"/>
            <a:ext cx="7826109" cy="3456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01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先 SFT 暖启动读写和子任务生成；回报条件训练保留示范监督锚定。</a:t>
            </a:r>
            <a:endParaRPr sz="201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38" name="f4-text-119-推理：自身 VLM 生成文本，连续专家输出动作；"/>
          <p:cNvSpPr>
            <a:spLocks noGrp="1"/>
          </p:cNvSpPr>
          <p:nvPr/>
        </p:nvSpPr>
        <p:spPr>
          <a:xfrm>
            <a:off x="760095" y="10633740"/>
            <a:ext cx="7475494" cy="3332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94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推理：自身 VLM 生成文本，连续专家输出动作；FAST 仅用于训练。</a:t>
            </a:r>
            <a:endParaRPr sz="194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39" name="f4-text-120-拟研究方案；Iᴴ 在 READ 前，Iᴬ 在子任"/>
          <p:cNvSpPr>
            <a:spLocks noGrp="1"/>
          </p:cNvSpPr>
          <p:nvPr/>
        </p:nvSpPr>
        <p:spPr>
          <a:xfrm>
            <a:off x="577215" y="10899282"/>
            <a:ext cx="9130004" cy="3209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87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拟研究方案；Iᴴ 在 READ 前，Iᴬ 在子任务后；绿色为标签数据流，红虚线才是梯度。</a:t>
            </a:r>
            <a:endParaRPr sz="187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3" name="f5-rect-000"/>
          <p:cNvSpPr>
            <a:spLocks noGrp="1"/>
          </p:cNvSpPr>
          <p:nvPr/>
        </p:nvSpPr>
        <p:spPr>
          <a:xfrm>
            <a:off x="0" y="476250"/>
            <a:ext cx="15240000" cy="10477500"/>
          </a:xfrm>
          <a:prstGeom prst="roundRect">
            <a:avLst>
              <a:gd name="adj" fmla="val 1091"/>
            </a:avLst>
          </a:prstGeom>
          <a:solidFill>
            <a:srgbClr val="FFFFFF"/>
          </a:solidFill>
          <a:ln w="17145">
            <a:noFill/>
            <a:prstDash val="solid"/>
          </a:ln>
        </p:spPr>
      </p:sp>
      <p:sp>
        <p:nvSpPr>
          <p:cNvPr id="2" name="f5-text-001-a"/>
          <p:cNvSpPr>
            <a:spLocks noGrp="1"/>
          </p:cNvSpPr>
          <p:nvPr/>
        </p:nvSpPr>
        <p:spPr>
          <a:xfrm>
            <a:off x="238125" y="575310"/>
            <a:ext cx="320427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30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" name="f5-text-002-同一起点、相同后续参数"/>
          <p:cNvSpPr>
            <a:spLocks noGrp="1"/>
          </p:cNvSpPr>
          <p:nvPr/>
        </p:nvSpPr>
        <p:spPr>
          <a:xfrm>
            <a:off x="647700" y="634746"/>
            <a:ext cx="365760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同一起点、相同后续参数</a:t>
            </a:r>
            <a:endParaRPr sz="25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rcRect t="10709" r="50000" b="50948"/>
          <a:stretch>
            <a:fillRect/>
          </a:stretch>
        </p:blipFill>
        <p:spPr>
          <a:xfrm>
            <a:off x="285750" y="1304925"/>
            <a:ext cx="3800475" cy="2286000"/>
          </a:xfrm>
          <a:prstGeom prst="roundRect">
            <a:avLst>
              <a:gd name="adj" fmla="val 4167"/>
            </a:avLst>
          </a:prstGeom>
        </p:spPr>
      </p:pic>
      <p:sp>
        <p:nvSpPr>
          <p:cNvPr id="5" name="f5-rect-004"/>
          <p:cNvSpPr>
            <a:spLocks noGrp="1"/>
          </p:cNvSpPr>
          <p:nvPr/>
        </p:nvSpPr>
        <p:spPr>
          <a:xfrm>
            <a:off x="285750" y="1304925"/>
            <a:ext cx="3800475" cy="2286000"/>
          </a:xfrm>
          <a:prstGeom prst="roundRect">
            <a:avLst>
              <a:gd name="adj" fmla="val 4167"/>
            </a:avLst>
          </a:prstGeom>
          <a:noFill/>
          <a:ln w="14288">
            <a:solidFill>
              <a:srgbClr val="D9E0E6"/>
            </a:solidFill>
            <a:prstDash val="solid"/>
          </a:ln>
        </p:spPr>
      </p:sp>
      <p:sp>
        <p:nvSpPr>
          <p:cNvPr id="9" name="f5-rect-008"/>
          <p:cNvSpPr>
            <a:spLocks noGrp="1"/>
          </p:cNvSpPr>
          <p:nvPr/>
        </p:nvSpPr>
        <p:spPr>
          <a:xfrm>
            <a:off x="4438650" y="1304925"/>
            <a:ext cx="10420350" cy="2286000"/>
          </a:xfrm>
          <a:prstGeom prst="roundRect">
            <a:avLst>
              <a:gd name="adj" fmla="val 5000"/>
            </a:avLst>
          </a:prstGeom>
          <a:solidFill>
            <a:srgbClr val="F3F7FB"/>
          </a:solidFill>
          <a:ln w="17145">
            <a:solidFill>
              <a:srgbClr val="346CA0"/>
            </a:solidFill>
            <a:prstDash val="solid"/>
          </a:ln>
        </p:spPr>
      </p:sp>
      <p:sp>
        <p:nvSpPr>
          <p:cNvPr id="10" name="f5-text-009-可重建扩展状态 x"/>
          <p:cNvSpPr>
            <a:spLocks noGrp="1"/>
          </p:cNvSpPr>
          <p:nvPr/>
        </p:nvSpPr>
        <p:spPr>
          <a:xfrm>
            <a:off x="4648200" y="1396746"/>
            <a:ext cx="2617719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可重建扩展状态 x</a:t>
            </a:r>
            <a:endParaRPr sz="2550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" name="f5-text-010-物理／控制器／RNG／历史／记忆库／动作缓存"/>
          <p:cNvSpPr>
            <a:spLocks noGrp="1"/>
          </p:cNvSpPr>
          <p:nvPr/>
        </p:nvSpPr>
        <p:spPr>
          <a:xfrm>
            <a:off x="4648200" y="1912239"/>
            <a:ext cx="6309903" cy="3986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25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物理／控制器／RNG／历史／记忆库／动作缓存</a:t>
            </a:r>
            <a:endParaRPr sz="2325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2" name="f5-text-011-固定参数快照 κᵣ：VLM θ ＋ 动作专家 φ"/>
          <p:cNvSpPr>
            <a:spLocks noGrp="1"/>
          </p:cNvSpPr>
          <p:nvPr/>
        </p:nvSpPr>
        <p:spPr>
          <a:xfrm>
            <a:off x="4648200" y="2388108"/>
            <a:ext cx="5564609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固定参数快照 κᵣ：VLM θ ＋ 动作专家 φ</a:t>
            </a:r>
            <a:endParaRPr sz="240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3" name="f5-text-012-先用相同操作重复续跑，检查重建噪声"/>
          <p:cNvSpPr>
            <a:spLocks noGrp="1"/>
          </p:cNvSpPr>
          <p:nvPr/>
        </p:nvSpPr>
        <p:spPr>
          <a:xfrm>
            <a:off x="4648200" y="2960370"/>
            <a:ext cx="4953000" cy="3857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25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先用相同操作重复续跑，检查重建噪声</a:t>
            </a:r>
            <a:endParaRPr sz="225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4" name="f5-path-013-arrow"/>
          <p:cNvSpPr>
            <a:spLocks noGrp="1"/>
          </p:cNvSpPr>
          <p:nvPr/>
        </p:nvSpPr>
        <p:spPr>
          <a:xfrm>
            <a:off x="3886200" y="3600450"/>
            <a:ext cx="3733800" cy="476250"/>
          </a:xfrm>
          <a:custGeom>
            <a:avLst/>
            <a:gdLst/>
            <a:ahLst/>
            <a:cxnLst/>
            <a:pathLst>
              <a:path w="3733800" h="476250">
                <a:moveTo>
                  <a:pt x="3733800" y="0"/>
                </a:moveTo>
                <a:lnTo>
                  <a:pt x="3733800" y="209550"/>
                </a:lnTo>
                <a:lnTo>
                  <a:pt x="0" y="209550"/>
                </a:lnTo>
                <a:lnTo>
                  <a:pt x="0" y="476250"/>
                </a:lnTo>
              </a:path>
            </a:pathLst>
          </a:custGeom>
          <a:noFill/>
          <a:ln w="28575">
            <a:solidFill>
              <a:srgbClr val="647383"/>
            </a:solidFill>
            <a:prstDash val="solid"/>
          </a:ln>
        </p:spPr>
      </p:sp>
      <p:sp>
        <p:nvSpPr>
          <p:cNvPr id="15" name="f5-path-013-arrow-head"/>
          <p:cNvSpPr>
            <a:spLocks noGrp="1"/>
          </p:cNvSpPr>
          <p:nvPr/>
        </p:nvSpPr>
        <p:spPr>
          <a:xfrm>
            <a:off x="3823106" y="3945255"/>
            <a:ext cx="126187" cy="131445"/>
          </a:xfrm>
          <a:custGeom>
            <a:avLst/>
            <a:gdLst/>
            <a:ahLst/>
            <a:cxnLst/>
            <a:pathLst>
              <a:path w="126187" h="131445">
                <a:moveTo>
                  <a:pt x="63094" y="131445"/>
                </a:moveTo>
                <a:lnTo>
                  <a:pt x="126187" y="0"/>
                </a:lnTo>
                <a:lnTo>
                  <a:pt x="0" y="0"/>
                </a:lnTo>
                <a:close/>
              </a:path>
            </a:pathLst>
          </a:custGeom>
          <a:solidFill>
            <a:srgbClr val="647383"/>
          </a:solidFill>
          <a:ln w="0">
            <a:noFill/>
            <a:prstDash val="solid"/>
          </a:ln>
        </p:spPr>
      </p:sp>
      <p:sp>
        <p:nvSpPr>
          <p:cNvPr id="16" name="f5-path-014-arrow"/>
          <p:cNvSpPr>
            <a:spLocks noGrp="1"/>
          </p:cNvSpPr>
          <p:nvPr/>
        </p:nvSpPr>
        <p:spPr>
          <a:xfrm>
            <a:off x="7620000" y="3810000"/>
            <a:ext cx="3714750" cy="266700"/>
          </a:xfrm>
          <a:custGeom>
            <a:avLst/>
            <a:gdLst/>
            <a:ahLst/>
            <a:cxnLst/>
            <a:pathLst>
              <a:path w="3714750" h="266700">
                <a:moveTo>
                  <a:pt x="0" y="0"/>
                </a:moveTo>
                <a:lnTo>
                  <a:pt x="3714750" y="0"/>
                </a:lnTo>
                <a:lnTo>
                  <a:pt x="3714750" y="266700"/>
                </a:lnTo>
              </a:path>
            </a:pathLst>
          </a:custGeom>
          <a:noFill/>
          <a:ln w="28575">
            <a:solidFill>
              <a:srgbClr val="647383"/>
            </a:solidFill>
            <a:prstDash val="solid"/>
          </a:ln>
        </p:spPr>
      </p:sp>
      <p:sp>
        <p:nvSpPr>
          <p:cNvPr id="17" name="f5-path-014-arrow-head"/>
          <p:cNvSpPr>
            <a:spLocks noGrp="1"/>
          </p:cNvSpPr>
          <p:nvPr/>
        </p:nvSpPr>
        <p:spPr>
          <a:xfrm>
            <a:off x="11271656" y="3945255"/>
            <a:ext cx="126187" cy="131445"/>
          </a:xfrm>
          <a:custGeom>
            <a:avLst/>
            <a:gdLst/>
            <a:ahLst/>
            <a:cxnLst/>
            <a:pathLst>
              <a:path w="126187" h="131445">
                <a:moveTo>
                  <a:pt x="63094" y="131445"/>
                </a:moveTo>
                <a:lnTo>
                  <a:pt x="126187" y="0"/>
                </a:lnTo>
                <a:lnTo>
                  <a:pt x="0" y="0"/>
                </a:lnTo>
                <a:close/>
              </a:path>
            </a:pathLst>
          </a:custGeom>
          <a:solidFill>
            <a:srgbClr val="647383"/>
          </a:solidFill>
          <a:ln w="0">
            <a:noFill/>
            <a:prstDash val="solid"/>
          </a:ln>
        </p:spPr>
      </p:sp>
      <p:sp>
        <p:nvSpPr>
          <p:cNvPr id="18" name="f5-text-015-b"/>
          <p:cNvSpPr>
            <a:spLocks noGrp="1"/>
          </p:cNvSpPr>
          <p:nvPr/>
        </p:nvSpPr>
        <p:spPr>
          <a:xfrm>
            <a:off x="238125" y="4023360"/>
            <a:ext cx="340612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30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9" name="f5-text-016-并列干预合法记忆操作"/>
          <p:cNvSpPr>
            <a:spLocks noGrp="1"/>
          </p:cNvSpPr>
          <p:nvPr/>
        </p:nvSpPr>
        <p:spPr>
          <a:xfrm>
            <a:off x="647700" y="4082796"/>
            <a:ext cx="333375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并列干预合法记忆操作</a:t>
            </a:r>
            <a:endParaRPr sz="25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0" name="f5-rect-017"/>
          <p:cNvSpPr>
            <a:spLocks noGrp="1"/>
          </p:cNvSpPr>
          <p:nvPr/>
        </p:nvSpPr>
        <p:spPr>
          <a:xfrm>
            <a:off x="285750" y="4733925"/>
            <a:ext cx="7029450" cy="1352550"/>
          </a:xfrm>
          <a:prstGeom prst="roundRect">
            <a:avLst>
              <a:gd name="adj" fmla="val 8451"/>
            </a:avLst>
          </a:prstGeom>
          <a:solidFill>
            <a:srgbClr val="EDF7F3"/>
          </a:solidFill>
          <a:ln w="17145">
            <a:solidFill>
              <a:srgbClr val="268575"/>
            </a:solidFill>
            <a:prstDash val="solid"/>
          </a:ln>
        </p:spPr>
      </p:sp>
      <p:sp>
        <p:nvSpPr>
          <p:cNvPr id="21" name="f5-rect-018"/>
          <p:cNvSpPr>
            <a:spLocks noGrp="1"/>
          </p:cNvSpPr>
          <p:nvPr/>
        </p:nvSpPr>
        <p:spPr>
          <a:xfrm>
            <a:off x="7696200" y="4733925"/>
            <a:ext cx="7162800" cy="1352550"/>
          </a:xfrm>
          <a:prstGeom prst="roundRect">
            <a:avLst>
              <a:gd name="adj" fmla="val 8451"/>
            </a:avLst>
          </a:prstGeom>
          <a:solidFill>
            <a:srgbClr val="FBF3E8"/>
          </a:solidFill>
          <a:ln w="17145">
            <a:solidFill>
              <a:srgbClr val="BA8135"/>
            </a:solidFill>
            <a:prstDash val="solid"/>
          </a:ln>
        </p:spPr>
      </p:sp>
      <p:sp>
        <p:nvSpPr>
          <p:cNvPr id="22" name="f5-text-019-候选操作 u：READ / WRITE"/>
          <p:cNvSpPr>
            <a:spLocks noGrp="1"/>
          </p:cNvSpPr>
          <p:nvPr/>
        </p:nvSpPr>
        <p:spPr>
          <a:xfrm>
            <a:off x="476250" y="4826127"/>
            <a:ext cx="4031847" cy="42433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7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候选操作 u：READ / WRITE</a:t>
            </a:r>
            <a:endParaRPr sz="2475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3" name="f5-text-020-参考操作 u₀：合法对照"/>
          <p:cNvSpPr>
            <a:spLocks noGrp="1"/>
          </p:cNvSpPr>
          <p:nvPr/>
        </p:nvSpPr>
        <p:spPr>
          <a:xfrm>
            <a:off x="7886700" y="4826127"/>
            <a:ext cx="3510074" cy="42433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7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参考操作 u₀：合法对照</a:t>
            </a:r>
            <a:endParaRPr sz="247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4" name="f5-text-021-信息、原始bank与预算相同"/>
          <p:cNvSpPr>
            <a:spLocks noGrp="1"/>
          </p:cNvSpPr>
          <p:nvPr/>
        </p:nvSpPr>
        <p:spPr>
          <a:xfrm>
            <a:off x="476250" y="5351145"/>
            <a:ext cx="3617695" cy="3857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信息、原始bank与预算相同</a:t>
            </a:r>
            <a:endParaRPr sz="225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5" name="f5-text-022-不读取未来真值或结果标签"/>
          <p:cNvSpPr>
            <a:spLocks noGrp="1"/>
          </p:cNvSpPr>
          <p:nvPr/>
        </p:nvSpPr>
        <p:spPr>
          <a:xfrm>
            <a:off x="7886700" y="5351145"/>
            <a:ext cx="3524250" cy="3857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250" b="0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不读取未来真值或结果标签</a:t>
            </a:r>
            <a:endParaRPr sz="2250" b="0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6" name="f5-path-023-arrow"/>
          <p:cNvSpPr>
            <a:spLocks noGrp="1"/>
          </p:cNvSpPr>
          <p:nvPr/>
        </p:nvSpPr>
        <p:spPr>
          <a:xfrm>
            <a:off x="3800475" y="6096000"/>
            <a:ext cx="9525" cy="342900"/>
          </a:xfrm>
          <a:custGeom>
            <a:avLst/>
            <a:gdLst/>
            <a:ahLst/>
            <a:cxnLst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28575">
            <a:solidFill>
              <a:srgbClr val="268575"/>
            </a:solidFill>
            <a:prstDash val="solid"/>
          </a:ln>
        </p:spPr>
      </p:sp>
      <p:sp>
        <p:nvSpPr>
          <p:cNvPr id="27" name="f5-path-023-arrow-head"/>
          <p:cNvSpPr>
            <a:spLocks noGrp="1"/>
          </p:cNvSpPr>
          <p:nvPr/>
        </p:nvSpPr>
        <p:spPr>
          <a:xfrm>
            <a:off x="3737381" y="6307455"/>
            <a:ext cx="126187" cy="131445"/>
          </a:xfrm>
          <a:custGeom>
            <a:avLst/>
            <a:gdLst/>
            <a:ahLst/>
            <a:cxnLst/>
            <a:pathLst>
              <a:path w="126187" h="131445">
                <a:moveTo>
                  <a:pt x="63094" y="131445"/>
                </a:moveTo>
                <a:lnTo>
                  <a:pt x="12618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28" name="f5-path-024-arrow"/>
          <p:cNvSpPr>
            <a:spLocks noGrp="1"/>
          </p:cNvSpPr>
          <p:nvPr/>
        </p:nvSpPr>
        <p:spPr>
          <a:xfrm>
            <a:off x="11277600" y="6096000"/>
            <a:ext cx="9525" cy="342900"/>
          </a:xfrm>
          <a:custGeom>
            <a:avLst/>
            <a:gdLst/>
            <a:ahLst/>
            <a:cxnLst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28575">
            <a:solidFill>
              <a:srgbClr val="BA8135"/>
            </a:solidFill>
            <a:prstDash val="solid"/>
          </a:ln>
        </p:spPr>
      </p:sp>
      <p:sp>
        <p:nvSpPr>
          <p:cNvPr id="29" name="f5-path-024-arrow-head"/>
          <p:cNvSpPr>
            <a:spLocks noGrp="1"/>
          </p:cNvSpPr>
          <p:nvPr/>
        </p:nvSpPr>
        <p:spPr>
          <a:xfrm>
            <a:off x="11214506" y="6307455"/>
            <a:ext cx="126187" cy="131445"/>
          </a:xfrm>
          <a:custGeom>
            <a:avLst/>
            <a:gdLst/>
            <a:ahLst/>
            <a:cxnLst/>
            <a:pathLst>
              <a:path w="126187" h="131445">
                <a:moveTo>
                  <a:pt x="63094" y="131445"/>
                </a:moveTo>
                <a:lnTo>
                  <a:pt x="126187" y="0"/>
                </a:lnTo>
                <a:lnTo>
                  <a:pt x="0" y="0"/>
                </a:lnTo>
                <a:close/>
              </a:path>
            </a:pathLst>
          </a:custGeom>
          <a:solidFill>
            <a:srgbClr val="BA8135"/>
          </a:solidFill>
          <a:ln w="0">
            <a:noFill/>
            <a:prstDash val="solid"/>
          </a:ln>
        </p:spPr>
      </p:sp>
      <p:sp>
        <p:nvSpPr>
          <p:cNvPr id="30" name="f5-text-025-c"/>
          <p:cNvSpPr>
            <a:spLocks noGrp="1"/>
          </p:cNvSpPr>
          <p:nvPr/>
        </p:nvSpPr>
        <p:spPr>
          <a:xfrm>
            <a:off x="238125" y="6376035"/>
            <a:ext cx="296038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0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c</a:t>
            </a:r>
            <a:endParaRPr sz="30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1" name="f5-text-026-后续决策可不同，不锁定未来轨迹"/>
          <p:cNvSpPr>
            <a:spLocks noGrp="1"/>
          </p:cNvSpPr>
          <p:nvPr/>
        </p:nvSpPr>
        <p:spPr>
          <a:xfrm>
            <a:off x="647700" y="6435471"/>
            <a:ext cx="495300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后续决策可不同，不锁定未来轨迹</a:t>
            </a:r>
            <a:endParaRPr sz="255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2" name="f5-rect-027"/>
          <p:cNvSpPr>
            <a:spLocks noGrp="1"/>
          </p:cNvSpPr>
          <p:nvPr/>
        </p:nvSpPr>
        <p:spPr>
          <a:xfrm>
            <a:off x="285750" y="7029450"/>
            <a:ext cx="7029450" cy="2790825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7145">
            <a:solidFill>
              <a:srgbClr val="268575"/>
            </a:solidFill>
            <a:prstDash val="solid"/>
          </a:ln>
        </p:spPr>
      </p:sp>
      <p:sp>
        <p:nvSpPr>
          <p:cNvPr id="33" name="f5-rect-028"/>
          <p:cNvSpPr>
            <a:spLocks noGrp="1"/>
          </p:cNvSpPr>
          <p:nvPr/>
        </p:nvSpPr>
        <p:spPr>
          <a:xfrm>
            <a:off x="7696200" y="7029450"/>
            <a:ext cx="7162800" cy="2790825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7145">
            <a:solidFill>
              <a:srgbClr val="BA8135"/>
            </a:solidFill>
            <a:prstDash val="solid"/>
          </a:ln>
        </p:spPr>
      </p:sp>
      <p:sp>
        <p:nvSpPr>
          <p:cNvPr id="34" name="f5-text-029-示意：可能选择重试A"/>
          <p:cNvSpPr>
            <a:spLocks noGrp="1"/>
          </p:cNvSpPr>
          <p:nvPr/>
        </p:nvSpPr>
        <p:spPr>
          <a:xfrm>
            <a:off x="571500" y="7179564"/>
            <a:ext cx="2941997" cy="3986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25" b="1" i="0">
                <a:solidFill>
                  <a:srgbClr val="26857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示意：可能选择重试A</a:t>
            </a:r>
            <a:endParaRPr sz="2325" b="1" i="0">
              <a:solidFill>
                <a:srgbClr val="26857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5" name="f5-path-030"/>
          <p:cNvSpPr>
            <a:spLocks noGrp="1"/>
          </p:cNvSpPr>
          <p:nvPr/>
        </p:nvSpPr>
        <p:spPr>
          <a:xfrm>
            <a:off x="733425" y="7715250"/>
            <a:ext cx="2286000" cy="1284922"/>
          </a:xfrm>
          <a:custGeom>
            <a:avLst/>
            <a:gdLst/>
            <a:ahLst/>
            <a:cxnLst/>
            <a:pathLst>
              <a:path w="2286000" h="1284922">
                <a:moveTo>
                  <a:pt x="0" y="378714"/>
                </a:moveTo>
                <a:lnTo>
                  <a:pt x="1928813" y="0"/>
                </a:lnTo>
                <a:lnTo>
                  <a:pt x="2286000" y="852107"/>
                </a:lnTo>
                <a:lnTo>
                  <a:pt x="238125" y="1284922"/>
                </a:lnTo>
                <a:close/>
              </a:path>
            </a:pathLst>
          </a:custGeom>
          <a:solidFill>
            <a:srgbClr val="F0F2F3"/>
          </a:solidFill>
          <a:ln w="19050">
            <a:solidFill>
              <a:srgbClr val="BFCBD4"/>
            </a:solidFill>
            <a:prstDash val="solid"/>
          </a:ln>
        </p:spPr>
      </p:sp>
      <p:sp>
        <p:nvSpPr>
          <p:cNvPr id="36" name="f5-path-031"/>
          <p:cNvSpPr>
            <a:spLocks noGrp="1"/>
          </p:cNvSpPr>
          <p:nvPr/>
        </p:nvSpPr>
        <p:spPr>
          <a:xfrm>
            <a:off x="971550" y="8567357"/>
            <a:ext cx="2047875" cy="500443"/>
          </a:xfrm>
          <a:custGeom>
            <a:avLst/>
            <a:gdLst/>
            <a:ahLst/>
            <a:cxnLst/>
            <a:pathLst>
              <a:path w="2047875" h="500443">
                <a:moveTo>
                  <a:pt x="0" y="432816"/>
                </a:moveTo>
                <a:lnTo>
                  <a:pt x="2047875" y="0"/>
                </a:lnTo>
                <a:lnTo>
                  <a:pt x="2047875" y="94678"/>
                </a:lnTo>
                <a:lnTo>
                  <a:pt x="0" y="500443"/>
                </a:lnTo>
                <a:close/>
              </a:path>
            </a:pathLst>
          </a:custGeom>
          <a:solidFill>
            <a:srgbClr val="DCE4E8"/>
          </a:solidFill>
          <a:ln w="17145">
            <a:noFill/>
            <a:prstDash val="solid"/>
          </a:ln>
        </p:spPr>
      </p:sp>
      <p:sp>
        <p:nvSpPr>
          <p:cNvPr id="37" name="f5-rect-032"/>
          <p:cNvSpPr>
            <a:spLocks noGrp="1"/>
          </p:cNvSpPr>
          <p:nvPr/>
        </p:nvSpPr>
        <p:spPr>
          <a:xfrm>
            <a:off x="1876425" y="8026337"/>
            <a:ext cx="428625" cy="378714"/>
          </a:xfrm>
          <a:prstGeom prst="roundRect">
            <a:avLst>
              <a:gd name="adj" fmla="val 10060"/>
            </a:avLst>
          </a:prstGeom>
          <a:solidFill>
            <a:srgbClr val="DFEEE9"/>
          </a:solidFill>
          <a:ln w="14288">
            <a:solidFill>
              <a:srgbClr val="268575"/>
            </a:solidFill>
            <a:prstDash val="solid"/>
          </a:ln>
        </p:spPr>
      </p:sp>
      <p:sp>
        <p:nvSpPr>
          <p:cNvPr id="38" name="f5-rect-033"/>
          <p:cNvSpPr>
            <a:spLocks noGrp="1"/>
          </p:cNvSpPr>
          <p:nvPr/>
        </p:nvSpPr>
        <p:spPr>
          <a:xfrm>
            <a:off x="1098709" y="7923276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346CA0"/>
            </a:solidFill>
            <a:prstDash val="solid"/>
          </a:ln>
        </p:spPr>
      </p:sp>
      <p:sp>
        <p:nvSpPr>
          <p:cNvPr id="39" name="f5-rect-034"/>
          <p:cNvSpPr>
            <a:spLocks noGrp="1"/>
          </p:cNvSpPr>
          <p:nvPr/>
        </p:nvSpPr>
        <p:spPr>
          <a:xfrm>
            <a:off x="1149763" y="7859459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346CA0"/>
            </a:solidFill>
            <a:prstDash val="solid"/>
          </a:ln>
        </p:spPr>
      </p:sp>
      <p:sp>
        <p:nvSpPr>
          <p:cNvPr id="40" name="f5-rect-035"/>
          <p:cNvSpPr>
            <a:spLocks noGrp="1"/>
          </p:cNvSpPr>
          <p:nvPr/>
        </p:nvSpPr>
        <p:spPr>
          <a:xfrm>
            <a:off x="1130618" y="7782878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346CA0"/>
          </a:solidFill>
          <a:ln w="11487">
            <a:noFill/>
            <a:prstDash val="solid"/>
          </a:ln>
        </p:spPr>
      </p:sp>
      <p:sp>
        <p:nvSpPr>
          <p:cNvPr id="41" name="f5-rect-036"/>
          <p:cNvSpPr>
            <a:spLocks noGrp="1"/>
          </p:cNvSpPr>
          <p:nvPr/>
        </p:nvSpPr>
        <p:spPr>
          <a:xfrm>
            <a:off x="1143381" y="8108347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42" name="f5-text-037-A"/>
          <p:cNvSpPr>
            <a:spLocks noGrp="1"/>
          </p:cNvSpPr>
          <p:nvPr/>
        </p:nvSpPr>
        <p:spPr>
          <a:xfrm>
            <a:off x="1175721" y="8113963"/>
            <a:ext cx="209736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14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3" name="f5-path-038"/>
          <p:cNvSpPr>
            <a:spLocks noGrp="1"/>
          </p:cNvSpPr>
          <p:nvPr/>
        </p:nvSpPr>
        <p:spPr>
          <a:xfrm>
            <a:off x="1149763" y="7987094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44" name="f5-rect-039"/>
          <p:cNvSpPr>
            <a:spLocks noGrp="1"/>
          </p:cNvSpPr>
          <p:nvPr/>
        </p:nvSpPr>
        <p:spPr>
          <a:xfrm>
            <a:off x="2384584" y="7869174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BA8135"/>
            </a:solidFill>
            <a:prstDash val="solid"/>
          </a:ln>
        </p:spPr>
      </p:sp>
      <p:sp>
        <p:nvSpPr>
          <p:cNvPr id="45" name="f5-rect-040"/>
          <p:cNvSpPr>
            <a:spLocks noGrp="1"/>
          </p:cNvSpPr>
          <p:nvPr/>
        </p:nvSpPr>
        <p:spPr>
          <a:xfrm>
            <a:off x="2435638" y="7805356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BA8135"/>
            </a:solidFill>
            <a:prstDash val="solid"/>
          </a:ln>
        </p:spPr>
      </p:sp>
      <p:sp>
        <p:nvSpPr>
          <p:cNvPr id="46" name="f5-rect-041"/>
          <p:cNvSpPr>
            <a:spLocks noGrp="1"/>
          </p:cNvSpPr>
          <p:nvPr/>
        </p:nvSpPr>
        <p:spPr>
          <a:xfrm>
            <a:off x="2416493" y="7728776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BA8135"/>
          </a:solidFill>
          <a:ln w="11487">
            <a:noFill/>
            <a:prstDash val="solid"/>
          </a:ln>
        </p:spPr>
      </p:sp>
      <p:sp>
        <p:nvSpPr>
          <p:cNvPr id="47" name="f5-rect-042"/>
          <p:cNvSpPr>
            <a:spLocks noGrp="1"/>
          </p:cNvSpPr>
          <p:nvPr/>
        </p:nvSpPr>
        <p:spPr>
          <a:xfrm>
            <a:off x="2429256" y="8054245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48" name="f5-text-043-B"/>
          <p:cNvSpPr>
            <a:spLocks noGrp="1"/>
          </p:cNvSpPr>
          <p:nvPr/>
        </p:nvSpPr>
        <p:spPr>
          <a:xfrm>
            <a:off x="2458024" y="8059861"/>
            <a:ext cx="216880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140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9" name="f5-path-044"/>
          <p:cNvSpPr>
            <a:spLocks noGrp="1"/>
          </p:cNvSpPr>
          <p:nvPr/>
        </p:nvSpPr>
        <p:spPr>
          <a:xfrm>
            <a:off x="2435638" y="7932992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50" name="f5-path-045"/>
          <p:cNvSpPr>
            <a:spLocks noGrp="1"/>
          </p:cNvSpPr>
          <p:nvPr/>
        </p:nvSpPr>
        <p:spPr>
          <a:xfrm>
            <a:off x="1233488" y="7823454"/>
            <a:ext cx="452438" cy="1014413"/>
          </a:xfrm>
          <a:custGeom>
            <a:avLst/>
            <a:gdLst/>
            <a:ahLst/>
            <a:cxnLst/>
            <a:pathLst>
              <a:path w="452438" h="1014413">
                <a:moveTo>
                  <a:pt x="404813" y="1014413"/>
                </a:moveTo>
                <a:quadBezTo>
                  <a:pt x="452438" y="297561"/>
                  <a:pt x="0" y="0"/>
                </a:quadBezTo>
              </a:path>
            </a:pathLst>
          </a:custGeom>
          <a:noFill/>
          <a:ln w="28575">
            <a:solidFill>
              <a:srgbClr val="268575"/>
            </a:solidFill>
            <a:prstDash val="dash"/>
          </a:ln>
        </p:spPr>
      </p:sp>
      <p:sp>
        <p:nvSpPr>
          <p:cNvPr id="51" name="f5-path-046-arrow"/>
          <p:cNvSpPr>
            <a:spLocks noGrp="1"/>
          </p:cNvSpPr>
          <p:nvPr/>
        </p:nvSpPr>
        <p:spPr>
          <a:xfrm>
            <a:off x="3209925" y="8324850"/>
            <a:ext cx="552450" cy="9525"/>
          </a:xfrm>
          <a:custGeom>
            <a:avLst/>
            <a:gdLst/>
            <a:ahLst/>
            <a:cxnLst/>
            <a:pathLst>
              <a:path w="552450" h="952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28575">
            <a:solidFill>
              <a:srgbClr val="268575"/>
            </a:solidFill>
            <a:prstDash val="solid"/>
          </a:ln>
        </p:spPr>
      </p:sp>
      <p:sp>
        <p:nvSpPr>
          <p:cNvPr id="52" name="f5-path-046-arrow-head"/>
          <p:cNvSpPr>
            <a:spLocks noGrp="1"/>
          </p:cNvSpPr>
          <p:nvPr/>
        </p:nvSpPr>
        <p:spPr>
          <a:xfrm>
            <a:off x="3630930" y="82617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53" name="f5-path-047"/>
          <p:cNvSpPr>
            <a:spLocks noGrp="1"/>
          </p:cNvSpPr>
          <p:nvPr/>
        </p:nvSpPr>
        <p:spPr>
          <a:xfrm>
            <a:off x="4048125" y="7715250"/>
            <a:ext cx="2286000" cy="1284922"/>
          </a:xfrm>
          <a:custGeom>
            <a:avLst/>
            <a:gdLst/>
            <a:ahLst/>
            <a:cxnLst/>
            <a:pathLst>
              <a:path w="2286000" h="1284922">
                <a:moveTo>
                  <a:pt x="0" y="378714"/>
                </a:moveTo>
                <a:lnTo>
                  <a:pt x="1928813" y="0"/>
                </a:lnTo>
                <a:lnTo>
                  <a:pt x="2286000" y="852107"/>
                </a:lnTo>
                <a:lnTo>
                  <a:pt x="238125" y="1284922"/>
                </a:lnTo>
                <a:close/>
              </a:path>
            </a:pathLst>
          </a:custGeom>
          <a:solidFill>
            <a:srgbClr val="F0F2F3"/>
          </a:solidFill>
          <a:ln w="19050">
            <a:solidFill>
              <a:srgbClr val="BFCBD4"/>
            </a:solidFill>
            <a:prstDash val="solid"/>
          </a:ln>
        </p:spPr>
      </p:sp>
      <p:sp>
        <p:nvSpPr>
          <p:cNvPr id="54" name="f5-path-048"/>
          <p:cNvSpPr>
            <a:spLocks noGrp="1"/>
          </p:cNvSpPr>
          <p:nvPr/>
        </p:nvSpPr>
        <p:spPr>
          <a:xfrm>
            <a:off x="4286250" y="8567357"/>
            <a:ext cx="2047875" cy="500443"/>
          </a:xfrm>
          <a:custGeom>
            <a:avLst/>
            <a:gdLst/>
            <a:ahLst/>
            <a:cxnLst/>
            <a:pathLst>
              <a:path w="2047875" h="500443">
                <a:moveTo>
                  <a:pt x="0" y="432816"/>
                </a:moveTo>
                <a:lnTo>
                  <a:pt x="2047875" y="0"/>
                </a:lnTo>
                <a:lnTo>
                  <a:pt x="2047875" y="94678"/>
                </a:lnTo>
                <a:lnTo>
                  <a:pt x="0" y="500443"/>
                </a:lnTo>
                <a:close/>
              </a:path>
            </a:pathLst>
          </a:custGeom>
          <a:solidFill>
            <a:srgbClr val="DCE4E8"/>
          </a:solidFill>
          <a:ln w="17145">
            <a:noFill/>
            <a:prstDash val="solid"/>
          </a:ln>
        </p:spPr>
      </p:sp>
      <p:sp>
        <p:nvSpPr>
          <p:cNvPr id="55" name="f5-rect-049"/>
          <p:cNvSpPr>
            <a:spLocks noGrp="1"/>
          </p:cNvSpPr>
          <p:nvPr/>
        </p:nvSpPr>
        <p:spPr>
          <a:xfrm>
            <a:off x="5191125" y="8026337"/>
            <a:ext cx="428625" cy="378714"/>
          </a:xfrm>
          <a:prstGeom prst="roundRect">
            <a:avLst>
              <a:gd name="adj" fmla="val 10060"/>
            </a:avLst>
          </a:prstGeom>
          <a:solidFill>
            <a:srgbClr val="DFEEE9"/>
          </a:solidFill>
          <a:ln w="14288">
            <a:solidFill>
              <a:srgbClr val="268575"/>
            </a:solidFill>
            <a:prstDash val="solid"/>
          </a:ln>
        </p:spPr>
      </p:sp>
      <p:sp>
        <p:nvSpPr>
          <p:cNvPr id="56" name="f5-rect-050"/>
          <p:cNvSpPr>
            <a:spLocks noGrp="1"/>
          </p:cNvSpPr>
          <p:nvPr/>
        </p:nvSpPr>
        <p:spPr>
          <a:xfrm>
            <a:off x="4413409" y="7923276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346CA0"/>
            </a:solidFill>
            <a:prstDash val="solid"/>
          </a:ln>
        </p:spPr>
      </p:sp>
      <p:sp>
        <p:nvSpPr>
          <p:cNvPr id="57" name="f5-rect-051"/>
          <p:cNvSpPr>
            <a:spLocks noGrp="1"/>
          </p:cNvSpPr>
          <p:nvPr/>
        </p:nvSpPr>
        <p:spPr>
          <a:xfrm>
            <a:off x="4464463" y="7859459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346CA0"/>
            </a:solidFill>
            <a:prstDash val="solid"/>
          </a:ln>
        </p:spPr>
      </p:sp>
      <p:sp>
        <p:nvSpPr>
          <p:cNvPr id="58" name="f5-rect-052"/>
          <p:cNvSpPr>
            <a:spLocks noGrp="1"/>
          </p:cNvSpPr>
          <p:nvPr/>
        </p:nvSpPr>
        <p:spPr>
          <a:xfrm>
            <a:off x="4445318" y="7782878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346CA0"/>
          </a:solidFill>
          <a:ln w="11487">
            <a:noFill/>
            <a:prstDash val="solid"/>
          </a:ln>
        </p:spPr>
      </p:sp>
      <p:sp>
        <p:nvSpPr>
          <p:cNvPr id="59" name="f5-rect-053"/>
          <p:cNvSpPr>
            <a:spLocks noGrp="1"/>
          </p:cNvSpPr>
          <p:nvPr/>
        </p:nvSpPr>
        <p:spPr>
          <a:xfrm>
            <a:off x="4458081" y="8108347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60" name="f5-text-054-A"/>
          <p:cNvSpPr>
            <a:spLocks noGrp="1"/>
          </p:cNvSpPr>
          <p:nvPr/>
        </p:nvSpPr>
        <p:spPr>
          <a:xfrm>
            <a:off x="4490421" y="8113963"/>
            <a:ext cx="209736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14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1" name="f5-path-055"/>
          <p:cNvSpPr>
            <a:spLocks noGrp="1"/>
          </p:cNvSpPr>
          <p:nvPr/>
        </p:nvSpPr>
        <p:spPr>
          <a:xfrm>
            <a:off x="4464463" y="7987094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62" name="f5-rect-056"/>
          <p:cNvSpPr>
            <a:spLocks noGrp="1"/>
          </p:cNvSpPr>
          <p:nvPr/>
        </p:nvSpPr>
        <p:spPr>
          <a:xfrm>
            <a:off x="5699284" y="7869174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BA8135"/>
            </a:solidFill>
            <a:prstDash val="solid"/>
          </a:ln>
        </p:spPr>
      </p:sp>
      <p:sp>
        <p:nvSpPr>
          <p:cNvPr id="63" name="f5-rect-057"/>
          <p:cNvSpPr>
            <a:spLocks noGrp="1"/>
          </p:cNvSpPr>
          <p:nvPr/>
        </p:nvSpPr>
        <p:spPr>
          <a:xfrm>
            <a:off x="5750338" y="7805356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BA8135"/>
            </a:solidFill>
            <a:prstDash val="solid"/>
          </a:ln>
        </p:spPr>
      </p:sp>
      <p:sp>
        <p:nvSpPr>
          <p:cNvPr id="64" name="f5-rect-058"/>
          <p:cNvSpPr>
            <a:spLocks noGrp="1"/>
          </p:cNvSpPr>
          <p:nvPr/>
        </p:nvSpPr>
        <p:spPr>
          <a:xfrm>
            <a:off x="5731193" y="7728776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BA8135"/>
          </a:solidFill>
          <a:ln w="11487">
            <a:noFill/>
            <a:prstDash val="solid"/>
          </a:ln>
        </p:spPr>
      </p:sp>
      <p:sp>
        <p:nvSpPr>
          <p:cNvPr id="65" name="f5-rect-059"/>
          <p:cNvSpPr>
            <a:spLocks noGrp="1"/>
          </p:cNvSpPr>
          <p:nvPr/>
        </p:nvSpPr>
        <p:spPr>
          <a:xfrm>
            <a:off x="5743956" y="8054245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66" name="f5-text-060-B"/>
          <p:cNvSpPr>
            <a:spLocks noGrp="1"/>
          </p:cNvSpPr>
          <p:nvPr/>
        </p:nvSpPr>
        <p:spPr>
          <a:xfrm>
            <a:off x="5772724" y="8059861"/>
            <a:ext cx="216880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140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7" name="f5-path-061"/>
          <p:cNvSpPr>
            <a:spLocks noGrp="1"/>
          </p:cNvSpPr>
          <p:nvPr/>
        </p:nvSpPr>
        <p:spPr>
          <a:xfrm>
            <a:off x="5750338" y="7932992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68" name="f5-text-062-子任务与动作"/>
          <p:cNvSpPr>
            <a:spLocks noGrp="1"/>
          </p:cNvSpPr>
          <p:nvPr/>
        </p:nvSpPr>
        <p:spPr>
          <a:xfrm>
            <a:off x="876300" y="9237726"/>
            <a:ext cx="1752600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子任务与动作</a:t>
            </a:r>
            <a:endParaRPr sz="21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9" name="f5-text-063-物理状态与回报"/>
          <p:cNvSpPr>
            <a:spLocks noGrp="1"/>
          </p:cNvSpPr>
          <p:nvPr/>
        </p:nvSpPr>
        <p:spPr>
          <a:xfrm>
            <a:off x="4129088" y="9237726"/>
            <a:ext cx="2028825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物理状态与回报</a:t>
            </a:r>
            <a:endParaRPr sz="21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0" name="f5-text-064-示意：可能选择处理B"/>
          <p:cNvSpPr>
            <a:spLocks noGrp="1"/>
          </p:cNvSpPr>
          <p:nvPr/>
        </p:nvSpPr>
        <p:spPr>
          <a:xfrm>
            <a:off x="7972425" y="7179564"/>
            <a:ext cx="2953810" cy="3986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32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示意：可能选择处理B</a:t>
            </a:r>
            <a:endParaRPr sz="232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1" name="f5-path-065"/>
          <p:cNvSpPr>
            <a:spLocks noGrp="1"/>
          </p:cNvSpPr>
          <p:nvPr/>
        </p:nvSpPr>
        <p:spPr>
          <a:xfrm>
            <a:off x="8134350" y="7715250"/>
            <a:ext cx="2286000" cy="1284922"/>
          </a:xfrm>
          <a:custGeom>
            <a:avLst/>
            <a:gdLst/>
            <a:ahLst/>
            <a:cxnLst/>
            <a:pathLst>
              <a:path w="2286000" h="1284922">
                <a:moveTo>
                  <a:pt x="0" y="378714"/>
                </a:moveTo>
                <a:lnTo>
                  <a:pt x="1928813" y="0"/>
                </a:lnTo>
                <a:lnTo>
                  <a:pt x="2286000" y="852107"/>
                </a:lnTo>
                <a:lnTo>
                  <a:pt x="238125" y="1284922"/>
                </a:lnTo>
                <a:close/>
              </a:path>
            </a:pathLst>
          </a:custGeom>
          <a:solidFill>
            <a:srgbClr val="F0F2F3"/>
          </a:solidFill>
          <a:ln w="19050">
            <a:solidFill>
              <a:srgbClr val="BFCBD4"/>
            </a:solidFill>
            <a:prstDash val="solid"/>
          </a:ln>
        </p:spPr>
      </p:sp>
      <p:sp>
        <p:nvSpPr>
          <p:cNvPr id="72" name="f5-path-066"/>
          <p:cNvSpPr>
            <a:spLocks noGrp="1"/>
          </p:cNvSpPr>
          <p:nvPr/>
        </p:nvSpPr>
        <p:spPr>
          <a:xfrm>
            <a:off x="8372475" y="8567357"/>
            <a:ext cx="2047875" cy="500443"/>
          </a:xfrm>
          <a:custGeom>
            <a:avLst/>
            <a:gdLst/>
            <a:ahLst/>
            <a:cxnLst/>
            <a:pathLst>
              <a:path w="2047875" h="500443">
                <a:moveTo>
                  <a:pt x="0" y="432816"/>
                </a:moveTo>
                <a:lnTo>
                  <a:pt x="2047875" y="0"/>
                </a:lnTo>
                <a:lnTo>
                  <a:pt x="2047875" y="94678"/>
                </a:lnTo>
                <a:lnTo>
                  <a:pt x="0" y="500443"/>
                </a:lnTo>
                <a:close/>
              </a:path>
            </a:pathLst>
          </a:custGeom>
          <a:solidFill>
            <a:srgbClr val="DCE4E8"/>
          </a:solidFill>
          <a:ln w="17145">
            <a:noFill/>
            <a:prstDash val="solid"/>
          </a:ln>
        </p:spPr>
      </p:sp>
      <p:sp>
        <p:nvSpPr>
          <p:cNvPr id="73" name="f5-rect-067"/>
          <p:cNvSpPr>
            <a:spLocks noGrp="1"/>
          </p:cNvSpPr>
          <p:nvPr/>
        </p:nvSpPr>
        <p:spPr>
          <a:xfrm>
            <a:off x="9277350" y="8026337"/>
            <a:ext cx="428625" cy="378714"/>
          </a:xfrm>
          <a:prstGeom prst="roundRect">
            <a:avLst>
              <a:gd name="adj" fmla="val 10060"/>
            </a:avLst>
          </a:prstGeom>
          <a:solidFill>
            <a:srgbClr val="DFEEE9"/>
          </a:solidFill>
          <a:ln w="14288">
            <a:solidFill>
              <a:srgbClr val="268575"/>
            </a:solidFill>
            <a:prstDash val="solid"/>
          </a:ln>
        </p:spPr>
      </p:sp>
      <p:sp>
        <p:nvSpPr>
          <p:cNvPr id="74" name="f5-rect-068"/>
          <p:cNvSpPr>
            <a:spLocks noGrp="1"/>
          </p:cNvSpPr>
          <p:nvPr/>
        </p:nvSpPr>
        <p:spPr>
          <a:xfrm>
            <a:off x="8499634" y="7923276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346CA0"/>
            </a:solidFill>
            <a:prstDash val="solid"/>
          </a:ln>
        </p:spPr>
      </p:sp>
      <p:sp>
        <p:nvSpPr>
          <p:cNvPr id="75" name="f5-rect-069"/>
          <p:cNvSpPr>
            <a:spLocks noGrp="1"/>
          </p:cNvSpPr>
          <p:nvPr/>
        </p:nvSpPr>
        <p:spPr>
          <a:xfrm>
            <a:off x="8550688" y="7859459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346CA0"/>
            </a:solidFill>
            <a:prstDash val="solid"/>
          </a:ln>
        </p:spPr>
      </p:sp>
      <p:sp>
        <p:nvSpPr>
          <p:cNvPr id="76" name="f5-rect-070"/>
          <p:cNvSpPr>
            <a:spLocks noGrp="1"/>
          </p:cNvSpPr>
          <p:nvPr/>
        </p:nvSpPr>
        <p:spPr>
          <a:xfrm>
            <a:off x="8531543" y="7782878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346CA0"/>
          </a:solidFill>
          <a:ln w="11487">
            <a:noFill/>
            <a:prstDash val="solid"/>
          </a:ln>
        </p:spPr>
      </p:sp>
      <p:sp>
        <p:nvSpPr>
          <p:cNvPr id="77" name="f5-rect-071"/>
          <p:cNvSpPr>
            <a:spLocks noGrp="1"/>
          </p:cNvSpPr>
          <p:nvPr/>
        </p:nvSpPr>
        <p:spPr>
          <a:xfrm>
            <a:off x="8544306" y="8108347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78" name="f5-text-072-A"/>
          <p:cNvSpPr>
            <a:spLocks noGrp="1"/>
          </p:cNvSpPr>
          <p:nvPr/>
        </p:nvSpPr>
        <p:spPr>
          <a:xfrm>
            <a:off x="8576646" y="8113963"/>
            <a:ext cx="209736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14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9" name="f5-path-073"/>
          <p:cNvSpPr>
            <a:spLocks noGrp="1"/>
          </p:cNvSpPr>
          <p:nvPr/>
        </p:nvSpPr>
        <p:spPr>
          <a:xfrm>
            <a:off x="8550688" y="7987094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80" name="f5-rect-074"/>
          <p:cNvSpPr>
            <a:spLocks noGrp="1"/>
          </p:cNvSpPr>
          <p:nvPr/>
        </p:nvSpPr>
        <p:spPr>
          <a:xfrm>
            <a:off x="9785509" y="7869174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BA8135"/>
            </a:solidFill>
            <a:prstDash val="solid"/>
          </a:ln>
        </p:spPr>
      </p:sp>
      <p:sp>
        <p:nvSpPr>
          <p:cNvPr id="81" name="f5-rect-075"/>
          <p:cNvSpPr>
            <a:spLocks noGrp="1"/>
          </p:cNvSpPr>
          <p:nvPr/>
        </p:nvSpPr>
        <p:spPr>
          <a:xfrm>
            <a:off x="9836563" y="7805356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BA8135"/>
            </a:solidFill>
            <a:prstDash val="solid"/>
          </a:ln>
        </p:spPr>
      </p:sp>
      <p:sp>
        <p:nvSpPr>
          <p:cNvPr id="82" name="f5-rect-076"/>
          <p:cNvSpPr>
            <a:spLocks noGrp="1"/>
          </p:cNvSpPr>
          <p:nvPr/>
        </p:nvSpPr>
        <p:spPr>
          <a:xfrm>
            <a:off x="9817418" y="7728776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BA8135"/>
          </a:solidFill>
          <a:ln w="11487">
            <a:noFill/>
            <a:prstDash val="solid"/>
          </a:ln>
        </p:spPr>
      </p:sp>
      <p:sp>
        <p:nvSpPr>
          <p:cNvPr id="83" name="f5-rect-077"/>
          <p:cNvSpPr>
            <a:spLocks noGrp="1"/>
          </p:cNvSpPr>
          <p:nvPr/>
        </p:nvSpPr>
        <p:spPr>
          <a:xfrm>
            <a:off x="9830181" y="8054245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84" name="f5-text-078-B"/>
          <p:cNvSpPr>
            <a:spLocks noGrp="1"/>
          </p:cNvSpPr>
          <p:nvPr/>
        </p:nvSpPr>
        <p:spPr>
          <a:xfrm>
            <a:off x="9858949" y="8059861"/>
            <a:ext cx="216880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140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5" name="f5-path-079"/>
          <p:cNvSpPr>
            <a:spLocks noGrp="1"/>
          </p:cNvSpPr>
          <p:nvPr/>
        </p:nvSpPr>
        <p:spPr>
          <a:xfrm>
            <a:off x="9836563" y="7932992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86" name="f5-path-080"/>
          <p:cNvSpPr>
            <a:spLocks noGrp="1"/>
          </p:cNvSpPr>
          <p:nvPr/>
        </p:nvSpPr>
        <p:spPr>
          <a:xfrm>
            <a:off x="9039225" y="7823454"/>
            <a:ext cx="857250" cy="1014413"/>
          </a:xfrm>
          <a:custGeom>
            <a:avLst/>
            <a:gdLst/>
            <a:ahLst/>
            <a:cxnLst/>
            <a:pathLst>
              <a:path w="857250" h="1014413">
                <a:moveTo>
                  <a:pt x="0" y="1014413"/>
                </a:moveTo>
                <a:quadBezTo>
                  <a:pt x="47625" y="297561"/>
                  <a:pt x="857250" y="0"/>
                </a:quadBezTo>
              </a:path>
            </a:pathLst>
          </a:custGeom>
          <a:noFill/>
          <a:ln w="28575">
            <a:solidFill>
              <a:srgbClr val="346CA0"/>
            </a:solidFill>
            <a:prstDash val="dash"/>
          </a:ln>
        </p:spPr>
      </p:sp>
      <p:sp>
        <p:nvSpPr>
          <p:cNvPr id="87" name="f5-path-081-arrow"/>
          <p:cNvSpPr>
            <a:spLocks noGrp="1"/>
          </p:cNvSpPr>
          <p:nvPr/>
        </p:nvSpPr>
        <p:spPr>
          <a:xfrm>
            <a:off x="10610850" y="8324850"/>
            <a:ext cx="552450" cy="9525"/>
          </a:xfrm>
          <a:custGeom>
            <a:avLst/>
            <a:gdLst/>
            <a:ahLst/>
            <a:cxnLst/>
            <a:pathLst>
              <a:path w="552450" h="952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28575">
            <a:solidFill>
              <a:srgbClr val="BA8135"/>
            </a:solidFill>
            <a:prstDash val="solid"/>
          </a:ln>
        </p:spPr>
      </p:sp>
      <p:sp>
        <p:nvSpPr>
          <p:cNvPr id="88" name="f5-path-081-arrow-head"/>
          <p:cNvSpPr>
            <a:spLocks noGrp="1"/>
          </p:cNvSpPr>
          <p:nvPr/>
        </p:nvSpPr>
        <p:spPr>
          <a:xfrm>
            <a:off x="11031855" y="82617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BA8135"/>
          </a:solidFill>
          <a:ln w="0">
            <a:noFill/>
            <a:prstDash val="solid"/>
          </a:ln>
        </p:spPr>
      </p:sp>
      <p:sp>
        <p:nvSpPr>
          <p:cNvPr id="89" name="f5-path-082"/>
          <p:cNvSpPr>
            <a:spLocks noGrp="1"/>
          </p:cNvSpPr>
          <p:nvPr/>
        </p:nvSpPr>
        <p:spPr>
          <a:xfrm>
            <a:off x="11449050" y="7715250"/>
            <a:ext cx="2286000" cy="1284922"/>
          </a:xfrm>
          <a:custGeom>
            <a:avLst/>
            <a:gdLst/>
            <a:ahLst/>
            <a:cxnLst/>
            <a:pathLst>
              <a:path w="2286000" h="1284922">
                <a:moveTo>
                  <a:pt x="0" y="378714"/>
                </a:moveTo>
                <a:lnTo>
                  <a:pt x="1928813" y="0"/>
                </a:lnTo>
                <a:lnTo>
                  <a:pt x="2286000" y="852107"/>
                </a:lnTo>
                <a:lnTo>
                  <a:pt x="238125" y="1284922"/>
                </a:lnTo>
                <a:close/>
              </a:path>
            </a:pathLst>
          </a:custGeom>
          <a:solidFill>
            <a:srgbClr val="F0F2F3"/>
          </a:solidFill>
          <a:ln w="19050">
            <a:solidFill>
              <a:srgbClr val="BFCBD4"/>
            </a:solidFill>
            <a:prstDash val="solid"/>
          </a:ln>
        </p:spPr>
      </p:sp>
      <p:sp>
        <p:nvSpPr>
          <p:cNvPr id="90" name="f5-path-083"/>
          <p:cNvSpPr>
            <a:spLocks noGrp="1"/>
          </p:cNvSpPr>
          <p:nvPr/>
        </p:nvSpPr>
        <p:spPr>
          <a:xfrm>
            <a:off x="11687175" y="8567357"/>
            <a:ext cx="2047875" cy="500443"/>
          </a:xfrm>
          <a:custGeom>
            <a:avLst/>
            <a:gdLst/>
            <a:ahLst/>
            <a:cxnLst/>
            <a:pathLst>
              <a:path w="2047875" h="500443">
                <a:moveTo>
                  <a:pt x="0" y="432816"/>
                </a:moveTo>
                <a:lnTo>
                  <a:pt x="2047875" y="0"/>
                </a:lnTo>
                <a:lnTo>
                  <a:pt x="2047875" y="94678"/>
                </a:lnTo>
                <a:lnTo>
                  <a:pt x="0" y="500443"/>
                </a:lnTo>
                <a:close/>
              </a:path>
            </a:pathLst>
          </a:custGeom>
          <a:solidFill>
            <a:srgbClr val="DCE4E8"/>
          </a:solidFill>
          <a:ln w="17145">
            <a:noFill/>
            <a:prstDash val="solid"/>
          </a:ln>
        </p:spPr>
      </p:sp>
      <p:sp>
        <p:nvSpPr>
          <p:cNvPr id="91" name="f5-rect-084"/>
          <p:cNvSpPr>
            <a:spLocks noGrp="1"/>
          </p:cNvSpPr>
          <p:nvPr/>
        </p:nvSpPr>
        <p:spPr>
          <a:xfrm>
            <a:off x="12592050" y="8026337"/>
            <a:ext cx="428625" cy="378714"/>
          </a:xfrm>
          <a:prstGeom prst="roundRect">
            <a:avLst>
              <a:gd name="adj" fmla="val 10060"/>
            </a:avLst>
          </a:prstGeom>
          <a:solidFill>
            <a:srgbClr val="DFEEE9"/>
          </a:solidFill>
          <a:ln w="14288">
            <a:solidFill>
              <a:srgbClr val="268575"/>
            </a:solidFill>
            <a:prstDash val="solid"/>
          </a:ln>
        </p:spPr>
      </p:sp>
      <p:sp>
        <p:nvSpPr>
          <p:cNvPr id="92" name="f5-rect-085"/>
          <p:cNvSpPr>
            <a:spLocks noGrp="1"/>
          </p:cNvSpPr>
          <p:nvPr/>
        </p:nvSpPr>
        <p:spPr>
          <a:xfrm>
            <a:off x="11814334" y="7923276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346CA0"/>
            </a:solidFill>
            <a:prstDash val="solid"/>
          </a:ln>
        </p:spPr>
      </p:sp>
      <p:sp>
        <p:nvSpPr>
          <p:cNvPr id="93" name="f5-rect-086"/>
          <p:cNvSpPr>
            <a:spLocks noGrp="1"/>
          </p:cNvSpPr>
          <p:nvPr/>
        </p:nvSpPr>
        <p:spPr>
          <a:xfrm>
            <a:off x="11865388" y="7859459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346CA0"/>
            </a:solidFill>
            <a:prstDash val="solid"/>
          </a:ln>
        </p:spPr>
      </p:sp>
      <p:sp>
        <p:nvSpPr>
          <p:cNvPr id="94" name="f5-rect-087"/>
          <p:cNvSpPr>
            <a:spLocks noGrp="1"/>
          </p:cNvSpPr>
          <p:nvPr/>
        </p:nvSpPr>
        <p:spPr>
          <a:xfrm>
            <a:off x="11846243" y="7782878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346CA0"/>
          </a:solidFill>
          <a:ln w="11487">
            <a:noFill/>
            <a:prstDash val="solid"/>
          </a:ln>
        </p:spPr>
      </p:sp>
      <p:sp>
        <p:nvSpPr>
          <p:cNvPr id="95" name="f5-rect-088"/>
          <p:cNvSpPr>
            <a:spLocks noGrp="1"/>
          </p:cNvSpPr>
          <p:nvPr/>
        </p:nvSpPr>
        <p:spPr>
          <a:xfrm>
            <a:off x="11859006" y="8108347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96" name="f5-text-089-A"/>
          <p:cNvSpPr>
            <a:spLocks noGrp="1"/>
          </p:cNvSpPr>
          <p:nvPr/>
        </p:nvSpPr>
        <p:spPr>
          <a:xfrm>
            <a:off x="11891346" y="8113963"/>
            <a:ext cx="209736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346CA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</a:t>
            </a:r>
            <a:endParaRPr sz="1405" b="1" i="0">
              <a:solidFill>
                <a:srgbClr val="346CA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97" name="f5-path-090"/>
          <p:cNvSpPr>
            <a:spLocks noGrp="1"/>
          </p:cNvSpPr>
          <p:nvPr/>
        </p:nvSpPr>
        <p:spPr>
          <a:xfrm>
            <a:off x="11865388" y="7987094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98" name="f5-rect-091"/>
          <p:cNvSpPr>
            <a:spLocks noGrp="1"/>
          </p:cNvSpPr>
          <p:nvPr/>
        </p:nvSpPr>
        <p:spPr>
          <a:xfrm>
            <a:off x="13100209" y="7869174"/>
            <a:ext cx="363760" cy="599885"/>
          </a:xfrm>
          <a:prstGeom prst="roundRect">
            <a:avLst>
              <a:gd name="adj" fmla="val 17544"/>
            </a:avLst>
          </a:prstGeom>
          <a:gradFill>
            <a:gsLst>
              <a:gs pos="0">
                <a:srgbClr val="DAE7EE">
                  <a:alpha val="50000"/>
                </a:srgbClr>
              </a:gs>
              <a:gs pos="45000">
                <a:srgbClr val="FFFFFF">
                  <a:alpha val="90000"/>
                </a:srgbClr>
              </a:gs>
              <a:gs pos="100000">
                <a:srgbClr val="CCDDE6">
                  <a:alpha val="60000"/>
                </a:srgbClr>
              </a:gs>
            </a:gsLst>
            <a:lin ang="0"/>
          </a:gradFill>
          <a:ln w="14040">
            <a:solidFill>
              <a:srgbClr val="BA8135"/>
            </a:solidFill>
            <a:prstDash val="solid"/>
          </a:ln>
        </p:spPr>
      </p:sp>
      <p:sp>
        <p:nvSpPr>
          <p:cNvPr id="99" name="f5-rect-092"/>
          <p:cNvSpPr>
            <a:spLocks noGrp="1"/>
          </p:cNvSpPr>
          <p:nvPr/>
        </p:nvSpPr>
        <p:spPr>
          <a:xfrm>
            <a:off x="13151263" y="7805356"/>
            <a:ext cx="261652" cy="114872"/>
          </a:xfrm>
          <a:prstGeom prst="roundRect">
            <a:avLst>
              <a:gd name="adj" fmla="val 11111"/>
            </a:avLst>
          </a:prstGeom>
          <a:solidFill>
            <a:srgbClr val="DFE8ED"/>
          </a:solidFill>
          <a:ln w="9573">
            <a:solidFill>
              <a:srgbClr val="BA8135"/>
            </a:solidFill>
            <a:prstDash val="solid"/>
          </a:ln>
        </p:spPr>
      </p:sp>
      <p:sp>
        <p:nvSpPr>
          <p:cNvPr id="100" name="f5-rect-093"/>
          <p:cNvSpPr>
            <a:spLocks noGrp="1"/>
          </p:cNvSpPr>
          <p:nvPr/>
        </p:nvSpPr>
        <p:spPr>
          <a:xfrm>
            <a:off x="13132118" y="7728776"/>
            <a:ext cx="299942" cy="127635"/>
          </a:xfrm>
          <a:prstGeom prst="roundRect">
            <a:avLst>
              <a:gd name="adj" fmla="val 20000"/>
            </a:avLst>
          </a:prstGeom>
          <a:solidFill>
            <a:srgbClr val="BA8135"/>
          </a:solidFill>
          <a:ln w="11487">
            <a:noFill/>
            <a:prstDash val="solid"/>
          </a:ln>
        </p:spPr>
      </p:sp>
      <p:sp>
        <p:nvSpPr>
          <p:cNvPr id="101" name="f5-rect-094"/>
          <p:cNvSpPr>
            <a:spLocks noGrp="1"/>
          </p:cNvSpPr>
          <p:nvPr/>
        </p:nvSpPr>
        <p:spPr>
          <a:xfrm>
            <a:off x="13144881" y="8054245"/>
            <a:ext cx="274415" cy="26165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1487">
            <a:noFill/>
            <a:prstDash val="solid"/>
          </a:ln>
        </p:spPr>
      </p:sp>
      <p:sp>
        <p:nvSpPr>
          <p:cNvPr id="102" name="f5-text-095-B"/>
          <p:cNvSpPr>
            <a:spLocks noGrp="1"/>
          </p:cNvSpPr>
          <p:nvPr/>
        </p:nvSpPr>
        <p:spPr>
          <a:xfrm>
            <a:off x="13173649" y="8059861"/>
            <a:ext cx="216880" cy="241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1405" b="1" i="0">
                <a:solidFill>
                  <a:srgbClr val="BA813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</a:t>
            </a:r>
            <a:endParaRPr sz="1405" b="1" i="0">
              <a:solidFill>
                <a:srgbClr val="BA813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3" name="f5-path-096"/>
          <p:cNvSpPr>
            <a:spLocks noGrp="1"/>
          </p:cNvSpPr>
          <p:nvPr/>
        </p:nvSpPr>
        <p:spPr>
          <a:xfrm>
            <a:off x="13151263" y="7932992"/>
            <a:ext cx="9525" cy="472249"/>
          </a:xfrm>
          <a:custGeom>
            <a:avLst/>
            <a:gdLst/>
            <a:ahLst/>
            <a:cxnLst/>
            <a:pathLst>
              <a:path w="9525" h="472249">
                <a:moveTo>
                  <a:pt x="0" y="0"/>
                </a:moveTo>
                <a:lnTo>
                  <a:pt x="0" y="472249"/>
                </a:lnTo>
              </a:path>
            </a:pathLst>
          </a:custGeom>
          <a:noFill/>
          <a:ln w="25527">
            <a:solidFill>
              <a:srgbClr val="FFFFFF"/>
            </a:solidFill>
            <a:prstDash val="solid"/>
          </a:ln>
        </p:spPr>
      </p:sp>
      <p:sp>
        <p:nvSpPr>
          <p:cNvPr id="104" name="f5-text-097-子任务与动作"/>
          <p:cNvSpPr>
            <a:spLocks noGrp="1"/>
          </p:cNvSpPr>
          <p:nvPr/>
        </p:nvSpPr>
        <p:spPr>
          <a:xfrm>
            <a:off x="8277225" y="9237726"/>
            <a:ext cx="1752600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子任务与动作</a:t>
            </a:r>
            <a:endParaRPr sz="21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5" name="f5-text-098-物理状态与回报"/>
          <p:cNvSpPr>
            <a:spLocks noGrp="1"/>
          </p:cNvSpPr>
          <p:nvPr/>
        </p:nvSpPr>
        <p:spPr>
          <a:xfrm>
            <a:off x="11530013" y="9237726"/>
            <a:ext cx="2028825" cy="3729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75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物理状态与回报</a:t>
            </a:r>
            <a:endParaRPr sz="2175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6" name="f5-path-099-arrow"/>
          <p:cNvSpPr>
            <a:spLocks noGrp="1"/>
          </p:cNvSpPr>
          <p:nvPr/>
        </p:nvSpPr>
        <p:spPr>
          <a:xfrm>
            <a:off x="3800475" y="9829800"/>
            <a:ext cx="3771900" cy="209550"/>
          </a:xfrm>
          <a:custGeom>
            <a:avLst/>
            <a:gdLst/>
            <a:ahLst/>
            <a:cxnLst/>
            <a:pathLst>
              <a:path w="3771900" h="209550">
                <a:moveTo>
                  <a:pt x="0" y="0"/>
                </a:moveTo>
                <a:lnTo>
                  <a:pt x="0" y="209550"/>
                </a:lnTo>
                <a:lnTo>
                  <a:pt x="3771900" y="209550"/>
                </a:lnTo>
              </a:path>
            </a:pathLst>
          </a:custGeom>
          <a:noFill/>
          <a:ln w="28575">
            <a:solidFill>
              <a:srgbClr val="268575"/>
            </a:solidFill>
            <a:prstDash val="solid"/>
          </a:ln>
        </p:spPr>
      </p:sp>
      <p:sp>
        <p:nvSpPr>
          <p:cNvPr id="107" name="f5-path-099-arrow-head"/>
          <p:cNvSpPr>
            <a:spLocks noGrp="1"/>
          </p:cNvSpPr>
          <p:nvPr/>
        </p:nvSpPr>
        <p:spPr>
          <a:xfrm>
            <a:off x="7440930" y="99762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268575"/>
          </a:solidFill>
          <a:ln w="0">
            <a:noFill/>
            <a:prstDash val="solid"/>
          </a:ln>
        </p:spPr>
      </p:sp>
      <p:sp>
        <p:nvSpPr>
          <p:cNvPr id="108" name="f5-path-100-arrow"/>
          <p:cNvSpPr>
            <a:spLocks noGrp="1"/>
          </p:cNvSpPr>
          <p:nvPr/>
        </p:nvSpPr>
        <p:spPr>
          <a:xfrm>
            <a:off x="7667625" y="9829800"/>
            <a:ext cx="3609975" cy="209550"/>
          </a:xfrm>
          <a:custGeom>
            <a:avLst/>
            <a:gdLst/>
            <a:ahLst/>
            <a:cxnLst/>
            <a:pathLst>
              <a:path w="3609975" h="209550">
                <a:moveTo>
                  <a:pt x="3609975" y="0"/>
                </a:moveTo>
                <a:lnTo>
                  <a:pt x="3609975" y="209550"/>
                </a:lnTo>
                <a:lnTo>
                  <a:pt x="0" y="209550"/>
                </a:lnTo>
              </a:path>
            </a:pathLst>
          </a:custGeom>
          <a:noFill/>
          <a:ln w="28575">
            <a:solidFill>
              <a:srgbClr val="BA8135"/>
            </a:solidFill>
            <a:prstDash val="solid"/>
          </a:ln>
        </p:spPr>
      </p:sp>
      <p:sp>
        <p:nvSpPr>
          <p:cNvPr id="109" name="f5-path-100-arrow-head"/>
          <p:cNvSpPr>
            <a:spLocks noGrp="1"/>
          </p:cNvSpPr>
          <p:nvPr/>
        </p:nvSpPr>
        <p:spPr>
          <a:xfrm>
            <a:off x="7667625" y="99762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0" y="63094"/>
                </a:moveTo>
                <a:lnTo>
                  <a:pt x="131445" y="126187"/>
                </a:lnTo>
                <a:lnTo>
                  <a:pt x="131445" y="0"/>
                </a:lnTo>
                <a:close/>
              </a:path>
            </a:pathLst>
          </a:custGeom>
          <a:solidFill>
            <a:srgbClr val="BA8135"/>
          </a:solidFill>
          <a:ln w="0">
            <a:noFill/>
            <a:prstDash val="solid"/>
          </a:ln>
        </p:spPr>
      </p:sp>
      <p:sp>
        <p:nvSpPr>
          <p:cNvPr id="110" name="f5-rect-101"/>
          <p:cNvSpPr>
            <a:spLocks noGrp="1"/>
          </p:cNvSpPr>
          <p:nvPr/>
        </p:nvSpPr>
        <p:spPr>
          <a:xfrm>
            <a:off x="2667000" y="10134600"/>
            <a:ext cx="9906000" cy="523875"/>
          </a:xfrm>
          <a:prstGeom prst="roundRect">
            <a:avLst>
              <a:gd name="adj" fmla="val 18182"/>
            </a:avLst>
          </a:prstGeom>
          <a:solidFill>
            <a:srgbClr val="F3F7FB"/>
          </a:solidFill>
          <a:ln w="17145">
            <a:solidFill>
              <a:srgbClr val="346CA0"/>
            </a:solidFill>
            <a:prstDash val="solid"/>
          </a:ln>
        </p:spPr>
      </p:sp>
      <p:sp>
        <p:nvSpPr>
          <p:cNvPr id="111" name="f5-text-102-可信效用差 → 读写偏好；不确定 → 不标注"/>
          <p:cNvSpPr>
            <a:spLocks noGrp="1"/>
          </p:cNvSpPr>
          <p:nvPr/>
        </p:nvSpPr>
        <p:spPr>
          <a:xfrm>
            <a:off x="4690802" y="10189083"/>
            <a:ext cx="5858396" cy="411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400" b="1" i="0">
                <a:solidFill>
                  <a:srgbClr val="24314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可信效用差 → 读写偏好；不确定 → 不标注</a:t>
            </a:r>
            <a:endParaRPr sz="2400" b="1" i="0">
              <a:solidFill>
                <a:srgbClr val="24314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2" name="f5-text-103-两侧轨迹均供基础训练；全部分支交互计入成本"/>
          <p:cNvSpPr>
            <a:spLocks noGrp="1"/>
          </p:cNvSpPr>
          <p:nvPr/>
        </p:nvSpPr>
        <p:spPr>
          <a:xfrm>
            <a:off x="4772025" y="10609707"/>
            <a:ext cx="56959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ctr">
              <a:def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647383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两侧轨迹均供基础训练；全部分支交互计入成本</a:t>
            </a:r>
            <a:endParaRPr sz="2100" b="0" i="0">
              <a:solidFill>
                <a:srgbClr val="647383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f6-text-000-验证顺序：先证明需要记忆，再检验信用机制是否值得"/>
          <p:cNvSpPr>
            <a:spLocks noGrp="1"/>
          </p:cNvSpPr>
          <p:nvPr/>
        </p:nvSpPr>
        <p:spPr>
          <a:xfrm>
            <a:off x="285750" y="669417"/>
            <a:ext cx="9925050" cy="5529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3225" b="1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验证顺序：先证明需要记忆，再检验信用机制是否值得</a:t>
            </a:r>
            <a:endParaRPr sz="3225" b="1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" name="f6-text-001-阶段计划图，不表示已完成训练或获得性能提升"/>
          <p:cNvSpPr>
            <a:spLocks noGrp="1"/>
          </p:cNvSpPr>
          <p:nvPr/>
        </p:nvSpPr>
        <p:spPr>
          <a:xfrm>
            <a:off x="285750" y="1322832"/>
            <a:ext cx="56959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阶段计划图，不表示已完成训练或获得性能提升</a:t>
            </a:r>
            <a:endParaRPr sz="2100" b="0" i="0">
              <a:solidFill>
                <a:srgbClr val="6A778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3" name="f6-rect-002"/>
          <p:cNvSpPr>
            <a:spLocks noGrp="1"/>
          </p:cNvSpPr>
          <p:nvPr/>
        </p:nvSpPr>
        <p:spPr>
          <a:xfrm>
            <a:off x="333375" y="2190750"/>
            <a:ext cx="4286250" cy="2143125"/>
          </a:xfrm>
          <a:prstGeom prst="roundRect">
            <a:avLst>
              <a:gd name="adj" fmla="val 4889"/>
            </a:avLst>
          </a:prstGeom>
          <a:solidFill>
            <a:srgbClr val="F1F6FA"/>
          </a:solidFill>
          <a:ln w="23813">
            <a:solidFill>
              <a:srgbClr val="346FA4"/>
            </a:solidFill>
            <a:prstDash val="solid"/>
          </a:ln>
        </p:spPr>
      </p:sp>
      <p:sp>
        <p:nvSpPr>
          <p:cNvPr id="4" name="f6-text-003-A  接口与动作能力"/>
          <p:cNvSpPr>
            <a:spLocks noGrp="1"/>
          </p:cNvSpPr>
          <p:nvPr/>
        </p:nvSpPr>
        <p:spPr>
          <a:xfrm>
            <a:off x="504825" y="2301621"/>
            <a:ext cx="270417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A  接口与动作能力</a:t>
            </a:r>
            <a:endParaRPr sz="2550" b="0" i="0">
              <a:solidFill>
                <a:srgbClr val="346FA4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5" name="f6-text-004-自身 VLM 生成合法子任务文本"/>
          <p:cNvSpPr>
            <a:spLocks noGrp="1"/>
          </p:cNvSpPr>
          <p:nvPr/>
        </p:nvSpPr>
        <p:spPr>
          <a:xfrm>
            <a:off x="504825" y="2846832"/>
            <a:ext cx="3663144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自身 VLM 生成合法子任务文本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6" name="f6-text-005-记忆接口、mask 与梯度正确"/>
          <p:cNvSpPr>
            <a:spLocks noGrp="1"/>
          </p:cNvSpPr>
          <p:nvPr/>
        </p:nvSpPr>
        <p:spPr>
          <a:xfrm>
            <a:off x="504825" y="3265932"/>
            <a:ext cx="3491117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记忆接口、mask 与梯度正确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7" name="f6-text-006-2–3 类能力有非零可复测 SR"/>
          <p:cNvSpPr>
            <a:spLocks noGrp="1"/>
          </p:cNvSpPr>
          <p:nvPr/>
        </p:nvSpPr>
        <p:spPr>
          <a:xfrm>
            <a:off x="504825" y="3685032"/>
            <a:ext cx="3382287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2–3 类能力有非零可复测 SR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8" name="f6-rect-007"/>
          <p:cNvSpPr>
            <a:spLocks noGrp="1"/>
          </p:cNvSpPr>
          <p:nvPr/>
        </p:nvSpPr>
        <p:spPr>
          <a:xfrm>
            <a:off x="5476875" y="2190750"/>
            <a:ext cx="4286250" cy="2143125"/>
          </a:xfrm>
          <a:prstGeom prst="roundRect">
            <a:avLst>
              <a:gd name="adj" fmla="val 4889"/>
            </a:avLst>
          </a:prstGeom>
          <a:solidFill>
            <a:srgbClr val="F1F6FA"/>
          </a:solidFill>
          <a:ln w="23813">
            <a:solidFill>
              <a:srgbClr val="346FA4"/>
            </a:solidFill>
            <a:prstDash val="solid"/>
          </a:ln>
        </p:spPr>
      </p:sp>
      <p:sp>
        <p:nvSpPr>
          <p:cNvPr id="9" name="f6-text-008-B  记忆需求"/>
          <p:cNvSpPr>
            <a:spLocks noGrp="1"/>
          </p:cNvSpPr>
          <p:nvPr/>
        </p:nvSpPr>
        <p:spPr>
          <a:xfrm>
            <a:off x="5648325" y="2301621"/>
            <a:ext cx="1748489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B  记忆需求</a:t>
            </a:r>
            <a:endParaRPr sz="2550" b="0" i="0">
              <a:solidFill>
                <a:srgbClr val="346FA4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0" name="f6-text-009-相近画面，不同处理历史"/>
          <p:cNvSpPr>
            <a:spLocks noGrp="1"/>
          </p:cNvSpPr>
          <p:nvPr/>
        </p:nvSpPr>
        <p:spPr>
          <a:xfrm>
            <a:off x="5648325" y="2846832"/>
            <a:ext cx="30289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相近画面，不同处理历史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1" name="f6-text-010-排除位置、目录、时间泄漏"/>
          <p:cNvSpPr>
            <a:spLocks noGrp="1"/>
          </p:cNvSpPr>
          <p:nvPr/>
        </p:nvSpPr>
        <p:spPr>
          <a:xfrm>
            <a:off x="5648325" y="3265932"/>
            <a:ext cx="32956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排除位置、目录、时间泄漏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2" name="f6-rect-011"/>
          <p:cNvSpPr>
            <a:spLocks noGrp="1"/>
          </p:cNvSpPr>
          <p:nvPr/>
        </p:nvSpPr>
        <p:spPr>
          <a:xfrm>
            <a:off x="10620375" y="2190750"/>
            <a:ext cx="4286250" cy="2143125"/>
          </a:xfrm>
          <a:prstGeom prst="roundRect">
            <a:avLst>
              <a:gd name="adj" fmla="val 4889"/>
            </a:avLst>
          </a:prstGeom>
          <a:solidFill>
            <a:srgbClr val="F1F6FA"/>
          </a:solidFill>
          <a:ln w="23813">
            <a:solidFill>
              <a:srgbClr val="346FA4"/>
            </a:solidFill>
            <a:prstDash val="solid"/>
          </a:ln>
        </p:spPr>
      </p:sp>
      <p:sp>
        <p:nvSpPr>
          <p:cNvPr id="13" name="f6-text-012-C  联合 RECAP"/>
          <p:cNvSpPr>
            <a:spLocks noGrp="1"/>
          </p:cNvSpPr>
          <p:nvPr/>
        </p:nvSpPr>
        <p:spPr>
          <a:xfrm>
            <a:off x="10791825" y="2301621"/>
            <a:ext cx="2172053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C  联合 RECAP</a:t>
            </a:r>
            <a:endParaRPr sz="2550" b="0" i="0">
              <a:solidFill>
                <a:srgbClr val="346FA4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4" name="f6-text-013-同架构强 SFT、规则记忆"/>
          <p:cNvSpPr>
            <a:spLocks noGrp="1"/>
          </p:cNvSpPr>
          <p:nvPr/>
        </p:nvSpPr>
        <p:spPr>
          <a:xfrm>
            <a:off x="10791825" y="2846832"/>
            <a:ext cx="3021192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同架构强 SFT、规则记忆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5" name="f6-text-014-检验简单回报条件是否足够"/>
          <p:cNvSpPr>
            <a:spLocks noGrp="1"/>
          </p:cNvSpPr>
          <p:nvPr/>
        </p:nvSpPr>
        <p:spPr>
          <a:xfrm>
            <a:off x="10791825" y="3265932"/>
            <a:ext cx="32956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检验简单回报条件是否足够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6" name="f6-rect-015"/>
          <p:cNvSpPr>
            <a:spLocks noGrp="1"/>
          </p:cNvSpPr>
          <p:nvPr/>
        </p:nvSpPr>
        <p:spPr>
          <a:xfrm>
            <a:off x="333375" y="5810250"/>
            <a:ext cx="4286250" cy="2143125"/>
          </a:xfrm>
          <a:prstGeom prst="roundRect">
            <a:avLst>
              <a:gd name="adj" fmla="val 4889"/>
            </a:avLst>
          </a:prstGeom>
          <a:solidFill>
            <a:srgbClr val="F1F6FA"/>
          </a:solidFill>
          <a:ln w="23813">
            <a:solidFill>
              <a:srgbClr val="346FA4"/>
            </a:solidFill>
            <a:prstDash val="solid"/>
          </a:ln>
        </p:spPr>
      </p:sp>
      <p:sp>
        <p:nvSpPr>
          <p:cNvPr id="17" name="f6-text-016-D  配对信用"/>
          <p:cNvSpPr>
            <a:spLocks noGrp="1"/>
          </p:cNvSpPr>
          <p:nvPr/>
        </p:nvSpPr>
        <p:spPr>
          <a:xfrm>
            <a:off x="504825" y="5921121"/>
            <a:ext cx="1758535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D  配对信用</a:t>
            </a:r>
            <a:endParaRPr sz="2550" b="0" i="0">
              <a:solidFill>
                <a:srgbClr val="346FA4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8" name="f6-text-017-同起点重建＋同操作噪声"/>
          <p:cNvSpPr>
            <a:spLocks noGrp="1"/>
          </p:cNvSpPr>
          <p:nvPr/>
        </p:nvSpPr>
        <p:spPr>
          <a:xfrm>
            <a:off x="504825" y="6466332"/>
            <a:ext cx="30289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同起点重建＋同操作噪声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19" name="f6-text-018-可信差异才进入偏好训练"/>
          <p:cNvSpPr>
            <a:spLocks noGrp="1"/>
          </p:cNvSpPr>
          <p:nvPr/>
        </p:nvSpPr>
        <p:spPr>
          <a:xfrm>
            <a:off x="504825" y="6885432"/>
            <a:ext cx="30289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可信差异才进入偏好训练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0" name="f6-rect-019"/>
          <p:cNvSpPr>
            <a:spLocks noGrp="1"/>
          </p:cNvSpPr>
          <p:nvPr/>
        </p:nvSpPr>
        <p:spPr>
          <a:xfrm>
            <a:off x="5476875" y="5810250"/>
            <a:ext cx="4286250" cy="2143125"/>
          </a:xfrm>
          <a:prstGeom prst="roundRect">
            <a:avLst>
              <a:gd name="adj" fmla="val 4889"/>
            </a:avLst>
          </a:prstGeom>
          <a:solidFill>
            <a:srgbClr val="F1F6FA"/>
          </a:solidFill>
          <a:ln w="23813">
            <a:solidFill>
              <a:srgbClr val="346FA4"/>
            </a:solidFill>
            <a:prstDash val="solid"/>
          </a:ln>
        </p:spPr>
      </p:sp>
      <p:sp>
        <p:nvSpPr>
          <p:cNvPr id="21" name="f6-text-020-E  等成本比较"/>
          <p:cNvSpPr>
            <a:spLocks noGrp="1"/>
          </p:cNvSpPr>
          <p:nvPr/>
        </p:nvSpPr>
        <p:spPr>
          <a:xfrm>
            <a:off x="5648325" y="5921121"/>
            <a:ext cx="2050312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E  等成本比较</a:t>
            </a:r>
            <a:endParaRPr sz="2550" b="0" i="0">
              <a:solidFill>
                <a:srgbClr val="346FA4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2" name="f6-text-021-相同分支数据有／无辅助"/>
          <p:cNvSpPr>
            <a:spLocks noGrp="1"/>
          </p:cNvSpPr>
          <p:nvPr/>
        </p:nvSpPr>
        <p:spPr>
          <a:xfrm>
            <a:off x="5648325" y="6466332"/>
            <a:ext cx="30289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相同分支数据有／无辅助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3" name="f6-text-022-额外预算采普通 rollout 对照"/>
          <p:cNvSpPr>
            <a:spLocks noGrp="1"/>
          </p:cNvSpPr>
          <p:nvPr/>
        </p:nvSpPr>
        <p:spPr>
          <a:xfrm>
            <a:off x="5648325" y="6885432"/>
            <a:ext cx="3452719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额外预算采普通 rollout 对照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4" name="f6-rect-023"/>
          <p:cNvSpPr>
            <a:spLocks noGrp="1"/>
          </p:cNvSpPr>
          <p:nvPr/>
        </p:nvSpPr>
        <p:spPr>
          <a:xfrm>
            <a:off x="10620375" y="5810250"/>
            <a:ext cx="4286250" cy="2143125"/>
          </a:xfrm>
          <a:prstGeom prst="roundRect">
            <a:avLst>
              <a:gd name="adj" fmla="val 4889"/>
            </a:avLst>
          </a:prstGeom>
          <a:solidFill>
            <a:srgbClr val="F1F6FA"/>
          </a:solidFill>
          <a:ln w="23813">
            <a:solidFill>
              <a:srgbClr val="346FA4"/>
            </a:solidFill>
            <a:prstDash val="solid"/>
          </a:ln>
        </p:spPr>
      </p:sp>
      <p:sp>
        <p:nvSpPr>
          <p:cNvPr id="25" name="f6-text-024-F  适用边界"/>
          <p:cNvSpPr>
            <a:spLocks noGrp="1"/>
          </p:cNvSpPr>
          <p:nvPr/>
        </p:nvSpPr>
        <p:spPr>
          <a:xfrm>
            <a:off x="10791825" y="5921121"/>
            <a:ext cx="1714481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346FA4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F  适用边界</a:t>
            </a:r>
            <a:endParaRPr sz="2550" b="0" i="0">
              <a:solidFill>
                <a:srgbClr val="346FA4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6" name="f6-text-025-策略变化后的信用刷新"/>
          <p:cNvSpPr>
            <a:spLocks noGrp="1"/>
          </p:cNvSpPr>
          <p:nvPr/>
        </p:nvSpPr>
        <p:spPr>
          <a:xfrm>
            <a:off x="10791825" y="6466332"/>
            <a:ext cx="27622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策略变化后的信用刷新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7" name="f6-text-026-选定干式真机验证与失败分析"/>
          <p:cNvSpPr>
            <a:spLocks noGrp="1"/>
          </p:cNvSpPr>
          <p:nvPr/>
        </p:nvSpPr>
        <p:spPr>
          <a:xfrm>
            <a:off x="10791825" y="6885432"/>
            <a:ext cx="3562350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选定干式真机验证与失败分析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28" name="f6-path-027-arrow"/>
          <p:cNvSpPr>
            <a:spLocks noGrp="1"/>
          </p:cNvSpPr>
          <p:nvPr/>
        </p:nvSpPr>
        <p:spPr>
          <a:xfrm>
            <a:off x="4619625" y="3257550"/>
            <a:ext cx="857250" cy="9525"/>
          </a:xfrm>
          <a:custGeom>
            <a:avLst/>
            <a:gdLst/>
            <a:ahLst/>
            <a:cxnLst/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/>
          <a:ln w="28575">
            <a:solidFill>
              <a:srgbClr val="6A7785"/>
            </a:solidFill>
            <a:prstDash val="solid"/>
          </a:ln>
        </p:spPr>
      </p:sp>
      <p:sp>
        <p:nvSpPr>
          <p:cNvPr id="29" name="f6-path-027-arrow-head"/>
          <p:cNvSpPr>
            <a:spLocks noGrp="1"/>
          </p:cNvSpPr>
          <p:nvPr/>
        </p:nvSpPr>
        <p:spPr>
          <a:xfrm>
            <a:off x="5345430" y="31944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6A7785"/>
          </a:solidFill>
          <a:ln w="0">
            <a:noFill/>
            <a:prstDash val="solid"/>
          </a:ln>
        </p:spPr>
      </p:sp>
      <p:sp>
        <p:nvSpPr>
          <p:cNvPr id="30" name="f6-path-028-arrow"/>
          <p:cNvSpPr>
            <a:spLocks noGrp="1"/>
          </p:cNvSpPr>
          <p:nvPr/>
        </p:nvSpPr>
        <p:spPr>
          <a:xfrm>
            <a:off x="9763125" y="3257550"/>
            <a:ext cx="857250" cy="9525"/>
          </a:xfrm>
          <a:custGeom>
            <a:avLst/>
            <a:gdLst/>
            <a:ahLst/>
            <a:cxnLst/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/>
          <a:ln w="28575">
            <a:solidFill>
              <a:srgbClr val="6A7785"/>
            </a:solidFill>
            <a:prstDash val="solid"/>
          </a:ln>
        </p:spPr>
      </p:sp>
      <p:sp>
        <p:nvSpPr>
          <p:cNvPr id="31" name="f6-path-028-arrow-head"/>
          <p:cNvSpPr>
            <a:spLocks noGrp="1"/>
          </p:cNvSpPr>
          <p:nvPr/>
        </p:nvSpPr>
        <p:spPr>
          <a:xfrm>
            <a:off x="10488930" y="31944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6A7785"/>
          </a:solidFill>
          <a:ln w="0">
            <a:noFill/>
            <a:prstDash val="solid"/>
          </a:ln>
        </p:spPr>
      </p:sp>
      <p:sp>
        <p:nvSpPr>
          <p:cNvPr id="32" name="f6-path-029-arrow"/>
          <p:cNvSpPr>
            <a:spLocks noGrp="1"/>
          </p:cNvSpPr>
          <p:nvPr/>
        </p:nvSpPr>
        <p:spPr>
          <a:xfrm>
            <a:off x="2476500" y="4333875"/>
            <a:ext cx="10287000" cy="1476375"/>
          </a:xfrm>
          <a:custGeom>
            <a:avLst/>
            <a:gdLst/>
            <a:ahLst/>
            <a:cxnLst/>
            <a:pathLst>
              <a:path w="10287000" h="1476375">
                <a:moveTo>
                  <a:pt x="10287000" y="0"/>
                </a:moveTo>
                <a:lnTo>
                  <a:pt x="10287000" y="619125"/>
                </a:lnTo>
                <a:lnTo>
                  <a:pt x="0" y="619125"/>
                </a:lnTo>
                <a:lnTo>
                  <a:pt x="0" y="1476375"/>
                </a:lnTo>
              </a:path>
            </a:pathLst>
          </a:custGeom>
          <a:noFill/>
          <a:ln w="28575">
            <a:solidFill>
              <a:srgbClr val="6A7785"/>
            </a:solidFill>
            <a:prstDash val="solid"/>
          </a:ln>
        </p:spPr>
      </p:sp>
      <p:sp>
        <p:nvSpPr>
          <p:cNvPr id="33" name="f6-path-029-arrow-head"/>
          <p:cNvSpPr>
            <a:spLocks noGrp="1"/>
          </p:cNvSpPr>
          <p:nvPr/>
        </p:nvSpPr>
        <p:spPr>
          <a:xfrm>
            <a:off x="2413406" y="5678805"/>
            <a:ext cx="126187" cy="131445"/>
          </a:xfrm>
          <a:custGeom>
            <a:avLst/>
            <a:gdLst/>
            <a:ahLst/>
            <a:cxnLst/>
            <a:pathLst>
              <a:path w="126187" h="131445">
                <a:moveTo>
                  <a:pt x="63094" y="131445"/>
                </a:moveTo>
                <a:lnTo>
                  <a:pt x="126187" y="0"/>
                </a:lnTo>
                <a:lnTo>
                  <a:pt x="0" y="0"/>
                </a:lnTo>
                <a:close/>
              </a:path>
            </a:pathLst>
          </a:custGeom>
          <a:solidFill>
            <a:srgbClr val="6A7785"/>
          </a:solidFill>
          <a:ln w="0">
            <a:noFill/>
            <a:prstDash val="solid"/>
          </a:ln>
        </p:spPr>
      </p:sp>
      <p:sp>
        <p:nvSpPr>
          <p:cNvPr id="34" name="f6-path-030-arrow"/>
          <p:cNvSpPr>
            <a:spLocks noGrp="1"/>
          </p:cNvSpPr>
          <p:nvPr/>
        </p:nvSpPr>
        <p:spPr>
          <a:xfrm>
            <a:off x="4619625" y="6877050"/>
            <a:ext cx="857250" cy="9525"/>
          </a:xfrm>
          <a:custGeom>
            <a:avLst/>
            <a:gdLst/>
            <a:ahLst/>
            <a:cxnLst/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/>
          <a:ln w="28575">
            <a:solidFill>
              <a:srgbClr val="6A7785"/>
            </a:solidFill>
            <a:prstDash val="solid"/>
          </a:ln>
        </p:spPr>
      </p:sp>
      <p:sp>
        <p:nvSpPr>
          <p:cNvPr id="35" name="f6-path-030-arrow-head"/>
          <p:cNvSpPr>
            <a:spLocks noGrp="1"/>
          </p:cNvSpPr>
          <p:nvPr/>
        </p:nvSpPr>
        <p:spPr>
          <a:xfrm>
            <a:off x="5345430" y="68139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6A7785"/>
          </a:solidFill>
          <a:ln w="0">
            <a:noFill/>
            <a:prstDash val="solid"/>
          </a:ln>
        </p:spPr>
      </p:sp>
      <p:sp>
        <p:nvSpPr>
          <p:cNvPr id="36" name="f6-path-031-arrow"/>
          <p:cNvSpPr>
            <a:spLocks noGrp="1"/>
          </p:cNvSpPr>
          <p:nvPr/>
        </p:nvSpPr>
        <p:spPr>
          <a:xfrm>
            <a:off x="9763125" y="6877050"/>
            <a:ext cx="857250" cy="9525"/>
          </a:xfrm>
          <a:custGeom>
            <a:avLst/>
            <a:gdLst/>
            <a:ahLst/>
            <a:cxnLst/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/>
          <a:ln w="28575">
            <a:solidFill>
              <a:srgbClr val="6A7785"/>
            </a:solidFill>
            <a:prstDash val="solid"/>
          </a:ln>
        </p:spPr>
      </p:sp>
      <p:sp>
        <p:nvSpPr>
          <p:cNvPr id="37" name="f6-path-031-arrow-head"/>
          <p:cNvSpPr>
            <a:spLocks noGrp="1"/>
          </p:cNvSpPr>
          <p:nvPr/>
        </p:nvSpPr>
        <p:spPr>
          <a:xfrm>
            <a:off x="10488930" y="6813956"/>
            <a:ext cx="131445" cy="126187"/>
          </a:xfrm>
          <a:custGeom>
            <a:avLst/>
            <a:gdLst/>
            <a:ahLst/>
            <a:cxnLst/>
            <a:pathLst>
              <a:path w="131445" h="126187">
                <a:moveTo>
                  <a:pt x="131445" y="63094"/>
                </a:moveTo>
                <a:lnTo>
                  <a:pt x="0" y="0"/>
                </a:lnTo>
                <a:lnTo>
                  <a:pt x="0" y="126187"/>
                </a:lnTo>
                <a:close/>
              </a:path>
            </a:pathLst>
          </a:custGeom>
          <a:solidFill>
            <a:srgbClr val="6A7785"/>
          </a:solidFill>
          <a:ln w="0">
            <a:noFill/>
            <a:prstDash val="solid"/>
          </a:ln>
        </p:spPr>
      </p:sp>
      <p:sp>
        <p:nvSpPr>
          <p:cNvPr id="38" name="f6-path-032"/>
          <p:cNvSpPr>
            <a:spLocks noGrp="1"/>
          </p:cNvSpPr>
          <p:nvPr/>
        </p:nvSpPr>
        <p:spPr>
          <a:xfrm>
            <a:off x="333375" y="8486775"/>
            <a:ext cx="14573250" cy="9525"/>
          </a:xfrm>
          <a:custGeom>
            <a:avLst/>
            <a:gdLst/>
            <a:ahLst/>
            <a:cxnLst/>
            <a:pathLst>
              <a:path w="14573250" h="9525">
                <a:moveTo>
                  <a:pt x="0" y="0"/>
                </a:moveTo>
                <a:lnTo>
                  <a:pt x="14573250" y="0"/>
                </a:lnTo>
              </a:path>
            </a:pathLst>
          </a:custGeom>
          <a:noFill/>
          <a:ln w="19050">
            <a:solidFill>
              <a:srgbClr val="CFD8DF"/>
            </a:solidFill>
            <a:prstDash val="solid"/>
          </a:ln>
        </p:spPr>
      </p:sp>
      <p:sp>
        <p:nvSpPr>
          <p:cNvPr id="39" name="f6-text-033-预先规定的收缩条件"/>
          <p:cNvSpPr>
            <a:spLocks noGrp="1"/>
          </p:cNvSpPr>
          <p:nvPr/>
        </p:nvSpPr>
        <p:spPr>
          <a:xfrm>
            <a:off x="285750" y="8664321"/>
            <a:ext cx="3009900" cy="4371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550" b="0" i="0">
                <a:solidFill>
                  <a:srgbClr val="BF5360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预先规定的收缩条件</a:t>
            </a:r>
            <a:endParaRPr sz="2550" b="0" i="0">
              <a:solidFill>
                <a:srgbClr val="BF5360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0" name="f6-text-034-强 SFT／规则已足够；重建不可靠；同成本普通采"/>
          <p:cNvSpPr>
            <a:spLocks noGrp="1"/>
          </p:cNvSpPr>
          <p:nvPr/>
        </p:nvSpPr>
        <p:spPr>
          <a:xfrm>
            <a:off x="285750" y="9238107"/>
            <a:ext cx="10309008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43746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强 SFT／规则已足够；重建不可靠；同成本普通采样更好；收益来自 oracle 或缺技能。</a:t>
            </a:r>
            <a:endParaRPr sz="2100" b="0" i="0">
              <a:solidFill>
                <a:srgbClr val="243746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1" name="f6-text-035-主指标：整程 SR、错误记录、遗漏／重复、恢复率"/>
          <p:cNvSpPr>
            <a:spLocks noGrp="1"/>
          </p:cNvSpPr>
          <p:nvPr/>
        </p:nvSpPr>
        <p:spPr>
          <a:xfrm>
            <a:off x="285750" y="9914382"/>
            <a:ext cx="10084482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288A7D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主指标：整程 SR、错误记录、遗漏／重复、恢复率、基础技能保持、全部交互成本。</a:t>
            </a:r>
            <a:endParaRPr sz="2100" b="0" i="0">
              <a:solidFill>
                <a:srgbClr val="288A7D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  <p:sp>
        <p:nvSpPr>
          <p:cNvPr id="42" name="f6-text-036-动作能力验收限定首轮任务范围，不设置固定子任务库"/>
          <p:cNvSpPr>
            <a:spLocks noGrp="1"/>
          </p:cNvSpPr>
          <p:nvPr/>
        </p:nvSpPr>
        <p:spPr>
          <a:xfrm>
            <a:off x="285750" y="10409682"/>
            <a:ext cx="8744043" cy="3600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defPPr>
            <a:lvl1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1pPr>
            <a:lvl2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2pPr>
            <a:lvl3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3pPr>
            <a:lvl4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4pPr>
            <a:lvl5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5pPr>
            <a:lvl6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6pPr>
            <a:lvl7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7pPr>
            <a:lvl8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8pPr>
            <a:lvl9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lvl9pPr>
          </a:lstStyle>
          <a:p>
            <a:pPr algn="l">
              <a:def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defRPr>
            </a:pPr>
            <a:r>
              <a:rPr sz="2100" b="0" i="0">
                <a:solidFill>
                  <a:srgbClr val="6A7785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</a:rPr>
              <a:t>动作能力验收限定首轮任务范围，不设置固定子任务库或技能 ID 分类头。</a:t>
            </a:r>
            <a:endParaRPr sz="2100" b="0" i="0">
              <a:solidFill>
                <a:srgbClr val="6A7785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4EF4B6B6-AB4C-4957-BCB1-3AB6CFA8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4439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rPr>
              <a:t>π0.5在未见厨房中的任务执行</a:t>
            </a:r>
          </a:p>
        </p:txBody>
      </p:sp>
      <p:sp>
        <p:nvSpPr>
          <p:cNvPr id="2" name="evidence-subtitle">
            <a:extLst xmlns:a="http://schemas.openxmlformats.org/drawingml/2006/main">
              <a:ext uri="{FF2B5EF4-FFF2-40B4-BE49-F238E27FC236}">
                <a16:creationId xmlns:a16="http://schemas.microsoft.com/office/drawing/2014/main" id="{71323656-85AB-4D3C-B85E-C2815019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47800"/>
            <a:ext cx="1438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关柜门、收纳物品、擦拭及放置餐具等任务示例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2F6F9-461E-49BD-8C06-CE5DC1DE34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1dbc84f5b4a78"/>
          <a:stretch xmlns:a="http://schemas.openxmlformats.org/drawingml/2006/main"/>
        </p:blipFill>
        <p:spPr>
          <a:xfrm xmlns:a="http://schemas.openxmlformats.org/drawingml/2006/main">
            <a:off x="457200" y="3238500"/>
            <a:ext cx="14325600" cy="2714932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-zh">
            <a:extLst xmlns:a="http://schemas.openxmlformats.org/drawingml/2006/main">
              <a:ext uri="{FF2B5EF4-FFF2-40B4-BE49-F238E27FC236}">
                <a16:creationId xmlns:a16="http://schemas.microsoft.com/office/drawing/2014/main" id="{CEE70613-A3F7-46FB-BC0F-97456919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58050"/>
            <a:ext cx="14401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rPr>
              <a:t>图1.1  π0.5在未见家庭厨房中的多任务操作示例</a:t>
            </a:r>
          </a:p>
        </p:txBody>
      </p:sp>
      <p:sp>
        <p:nvSpPr>
          <p:cNvPr id="5" name="figure-caption-en">
            <a:extLst xmlns:a="http://schemas.openxmlformats.org/drawingml/2006/main">
              <a:ext uri="{FF2B5EF4-FFF2-40B4-BE49-F238E27FC236}">
                <a16:creationId xmlns:a16="http://schemas.microsoft.com/office/drawing/2014/main" id="{71947217-DF2A-40E0-93C5-8BDEF562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48600"/>
            <a:ext cx="14401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Figure 1.1  Examples of π0.5 performing tasks in an unseen home kitchen</a:t>
            </a:r>
          </a:p>
        </p:txBody>
      </p:sp>
      <p:sp>
        <p:nvSpPr>
          <p:cNvPr id="6" name="figure-source">
            <a:extLst xmlns:a="http://schemas.openxmlformats.org/drawingml/2006/main">
              <a:ext uri="{FF2B5EF4-FFF2-40B4-BE49-F238E27FC236}">
                <a16:creationId xmlns:a16="http://schemas.microsoft.com/office/drawing/2014/main" id="{B3D3CFBB-A51A-4058-AD6C-F55E47AD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734425"/>
            <a:ext cx="1440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引自文献[2]原图2，arXiv:2504.16054v1，2025-04-22</a:t>
            </a:r>
          </a:p>
        </p:txBody>
      </p:sp>
      <p:sp>
        <p:nvSpPr>
          <p:cNvPr id="7" name="figure-scope">
            <a:extLst xmlns:a="http://schemas.openxmlformats.org/drawingml/2006/main">
              <a:ext uri="{FF2B5EF4-FFF2-40B4-BE49-F238E27FC236}">
                <a16:creationId xmlns:a16="http://schemas.microsoft.com/office/drawing/2014/main" id="{88062C70-F1BE-4778-81EB-5588F3BE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315450"/>
            <a:ext cx="1440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原作者在其机器人与数据条件下展示的效果，各画面不是单一任务的连续轨迹。</a:t>
            </a:r>
          </a:p>
        </p:txBody>
      </p:sp>
    </p:spTree>
    <p:extLst>
      <p:ext uri="{BB962C8B-B14F-4D97-AF65-F5344CB8AC3E}">
        <p14:creationId xmlns:p14="http://schemas.microsoft.com/office/powerpoint/2010/main" val="17443853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7587341A-36C5-4488-B536-E6226084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4439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rPr>
              <a:t>RoboChemist的真实化学实验操作</a:t>
            </a:r>
          </a:p>
        </p:txBody>
      </p:sp>
      <p:sp>
        <p:nvSpPr>
          <p:cNvPr id="2" name="evidence-subtitle">
            <a:extLst xmlns:a="http://schemas.openxmlformats.org/drawingml/2006/main">
              <a:ext uri="{FF2B5EF4-FFF2-40B4-BE49-F238E27FC236}">
                <a16:creationId xmlns:a16="http://schemas.microsoft.com/office/drawing/2014/main" id="{19DC5AD5-0055-4E6E-9261-DBFD9E7F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47800"/>
            <a:ext cx="1438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混合、铜焰色试验及酸碱中和的真实执行画面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68695-2DC9-4735-B1C4-44E253D0E1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62f6f40d5c4071"/>
          <a:stretch xmlns:a="http://schemas.openxmlformats.org/drawingml/2006/main"/>
        </p:blipFill>
        <p:spPr>
          <a:xfrm xmlns:a="http://schemas.openxmlformats.org/drawingml/2006/main">
            <a:off x="457200" y="2333625"/>
            <a:ext cx="14325600" cy="489458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-zh">
            <a:extLst xmlns:a="http://schemas.openxmlformats.org/drawingml/2006/main">
              <a:ext uri="{FF2B5EF4-FFF2-40B4-BE49-F238E27FC236}">
                <a16:creationId xmlns:a16="http://schemas.microsoft.com/office/drawing/2014/main" id="{3DDB2F91-3A8B-4629-9F65-6A000901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10500"/>
            <a:ext cx="14401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63645"/>
                </a:solidFill>
                <a:latin typeface="Noto Sans CJK SC"/>
                <a:ea typeface="Noto Sans CJK SC"/>
                <a:cs typeface="Noto Sans CJK SC"/>
              </a:rPr>
              <a:t>图1.2  RoboChemist的多步骤化学实验执行示例</a:t>
            </a:r>
          </a:p>
        </p:txBody>
      </p:sp>
      <p:sp>
        <p:nvSpPr>
          <p:cNvPr id="5" name="figure-caption-en">
            <a:extLst xmlns:a="http://schemas.openxmlformats.org/drawingml/2006/main">
              <a:ext uri="{FF2B5EF4-FFF2-40B4-BE49-F238E27FC236}">
                <a16:creationId xmlns:a16="http://schemas.microsoft.com/office/drawing/2014/main" id="{20F70D20-B907-4023-A2AA-14F0AA63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401050"/>
            <a:ext cx="14401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Figure 1.2  Examples of multi-step chemical experimentation with RoboChemist</a:t>
            </a:r>
          </a:p>
        </p:txBody>
      </p:sp>
      <p:sp>
        <p:nvSpPr>
          <p:cNvPr id="6" name="figure-source">
            <a:extLst xmlns:a="http://schemas.openxmlformats.org/drawingml/2006/main">
              <a:ext uri="{FF2B5EF4-FFF2-40B4-BE49-F238E27FC236}">
                <a16:creationId xmlns:a16="http://schemas.microsoft.com/office/drawing/2014/main" id="{8E742F21-3E8D-45AC-8E9D-7DFDCB35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286875"/>
            <a:ext cx="1440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引自文献[3]原图4，CoRL 2025 / PMLR 305，第3543页</a:t>
            </a:r>
          </a:p>
        </p:txBody>
      </p:sp>
      <p:sp>
        <p:nvSpPr>
          <p:cNvPr id="7" name="figure-scope">
            <a:extLst xmlns:a="http://schemas.openxmlformats.org/drawingml/2006/main">
              <a:ext uri="{FF2B5EF4-FFF2-40B4-BE49-F238E27FC236}">
                <a16:creationId xmlns:a16="http://schemas.microsoft.com/office/drawing/2014/main" id="{CFCB84F8-62FD-4B81-8EED-E8FA5DC6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1440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/>
          <a:lstStyle xmlns:a="http://schemas.openxmlformats.org/drawingml/2006/main">
            <a:def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68798B"/>
                </a:solidFill>
                <a:latin typeface="Noto Sans CJK SC"/>
                <a:ea typeface="Noto Sans CJK SC"/>
                <a:cs typeface="Noto Sans CJK SC"/>
              </a:rPr>
              <a:t>原作者系统的实验画面，用于介绍已有研究基础。</a:t>
            </a:r>
          </a:p>
        </p:txBody>
      </p:sp>
    </p:spTree>
    <p:extLst>
      <p:ext uri="{BB962C8B-B14F-4D97-AF65-F5344CB8AC3E}">
        <p14:creationId xmlns:p14="http://schemas.microsoft.com/office/powerpoint/2010/main" val="12510376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2322</Words>
  <Application>WPS Presentation</Application>
  <PresentationFormat>Converted Presentation</PresentationFormat>
  <Paragraphs>456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8" baseType="lpstr">
      <vt:lpstr>Arial</vt:lpstr>
      <vt:lpstr>SimSun</vt:lpstr>
      <vt:lpstr>Wingdings</vt:lpstr>
      <vt:lpstr>Noto Sans CJK SC</vt:lpstr>
      <vt:lpstr>微软雅黑</vt:lpstr>
      <vt:lpstr>宋体</vt:lpstr>
      <vt:lpstr>Arial Unicode MS</vt:lpstr>
      <vt:lpstr>Aptos</vt:lpstr>
      <vt:lpstr>C059</vt:lpstr>
      <vt:lpstr>DejaVu Sans</vt:lpstr>
      <vt:lpstr>ChatGPT</vt:lpstr>
      <vt:lpstr>π0.5在未见厨房中的任务执行</vt:lpstr>
      <vt:lpstr>RoboChemist的真实化学实验操作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admin123</cp:lastModifiedBy>
  <cp:revision>1</cp:revision>
  <dcterms:created xsi:type="dcterms:W3CDTF">2026-10-18T06:05:10Z</dcterms:created>
  <dcterms:modified xsi:type="dcterms:W3CDTF">2026-10-18T06:05:10Z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1033-11.1.0.11733</vt:lpwstr>
  </property>
</Properties>
</file>