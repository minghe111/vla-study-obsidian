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append1_slide1.xml" ContentType="application/vnd.openxmlformats-officedocument.presentationml.slide+xml"/>
  <Override PartName="/ppt/slideLayouts/append1_slideLayout6.xml" ContentType="application/vnd.openxmlformats-officedocument.presentationml.slideLayout+xml"/>
  <Override PartName="/ppt/slideMasters/append1_slideMaster1.xml" ContentType="application/vnd.openxmlformats-officedocument.presentationml.slideMaster+xml"/>
  <Override PartName="/ppt/slideMasters/theme/append1_theme2.xml" ContentType="application/vnd.openxmlformats-officedocument.theme+xml"/>
  <Override PartName="/ppt/slideLayouts/append1_slideLayout1.xml" ContentType="application/vnd.openxmlformats-officedocument.presentationml.slideLayout+xml"/>
  <Override PartName="/ppt/slideLayouts/append1_slideLayout2.xml" ContentType="application/vnd.openxmlformats-officedocument.presentationml.slideLayout+xml"/>
  <Override PartName="/ppt/slideLayouts/append1_slideLayout3.xml" ContentType="application/vnd.openxmlformats-officedocument.presentationml.slideLayout+xml"/>
  <Override PartName="/ppt/slideLayouts/append1_slideLayout4.xml" ContentType="application/vnd.openxmlformats-officedocument.presentationml.slideLayout+xml"/>
  <Override PartName="/ppt/slideLayouts/append1_slideLayout5.xml" ContentType="application/vnd.openxmlformats-officedocument.presentationml.slideLayout+xml"/>
  <Override PartName="/ppt/notesSlides/append1_notesSlide1.xml" ContentType="application/vnd.openxmlformats-officedocument.presentationml.notesSlide+xml"/>
  <Override PartName="/ppt/notesMasters/append1_notesMaster1.xml" ContentType="application/vnd.openxmlformats-officedocument.presentationml.notesMaster+xml"/>
  <Override PartName="/ppt/notesMasters/theme/append1_theme3.xml" ContentType="application/vnd.openxmlformats-officedocument.theme+xml"/>
  <Override PartName="/ppt/slides/append1_slide2.xml" ContentType="application/vnd.openxmlformats-officedocument.presentationml.slide+xml"/>
  <Override PartName="/ppt/notesSlides/append1_notesSlide2.xml" ContentType="application/vnd.openxmlformats-officedocument.presentationml.notesSlide+xml"/>
  <Override PartName="/ppt/slides/append1_slide3.xml" ContentType="application/vnd.openxmlformats-officedocument.presentationml.slide+xml"/>
  <Override PartName="/ppt/notesSlides/append1_notesSlide3.xml" ContentType="application/vnd.openxmlformats-officedocument.presentationml.notesSlide+xml"/>
  <Override PartName="/ppt/slides/append1_slide4.xml" ContentType="application/vnd.openxmlformats-officedocument.presentationml.slide+xml"/>
  <Override PartName="/ppt/notesSlides/append1_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r:id="rId18" id="2147483649"/>
  </p:sldMasterIdLst>
  <p:notesMasterIdLst>
    <p:notesMasterId r:id="rId4"/>
    <p:notesMasterId r:id="rId19"/>
  </p:notesMasterIdLst>
  <p:sldIdLst>
    <p:sldId id="262" r:id="rId3"/>
    <p:sldId id="263" r:id="rId5"/>
    <p:sldId id="256" r:id="rId6"/>
    <p:sldId id="264" r:id="rId14"/>
    <p:sldId id="265" r:id="rId15"/>
    <p:sldId id="266" r:id="rId16"/>
    <p:sldId id="267" r:id="rId17"/>
  </p:sldIdLst>
  <p:sldSz cx="15240000" cy="11430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4" Type="http://schemas.openxmlformats.org/officeDocument/2006/relationships/slide" Target="slides/append1_slide1.xml"/><Relationship Id="rId15" Type="http://schemas.openxmlformats.org/officeDocument/2006/relationships/slide" Target="slides/append1_slide2.xml"/><Relationship Id="rId16" Type="http://schemas.openxmlformats.org/officeDocument/2006/relationships/slide" Target="slides/append1_slide3.xml"/><Relationship Id="rId17" Type="http://schemas.openxmlformats.org/officeDocument/2006/relationships/slide" Target="slides/append1_slide4.xml"/><Relationship Id="rId18" Type="http://schemas.openxmlformats.org/officeDocument/2006/relationships/slideMaster" Target="slideMasters/append1_slideMaster1.xml"/><Relationship Id="rId19" Type="http://schemas.openxmlformats.org/officeDocument/2006/relationships/notesMaster" Target="notesMasters/append1_notesMaster1.xml"/></Relationships>
</file>

<file path=ppt/notesMasters/_rels/append1_notesMaster1.xml.rels><?xml version='1.0' encoding='UTF-8' standalone='yes'?>
<Relationships xmlns="http://schemas.openxmlformats.org/package/2006/relationships"><Relationship Type="http://schemas.openxmlformats.org/officeDocument/2006/relationships/theme" Target="theme/append1_theme3.xml" Id="Re9c7492d2fb34d96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append1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append1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append1_notesSlide1.xml.rels><?xml version='1.0' encoding='UTF-8' standalone='yes'?>
<Relationships xmlns="http://schemas.openxmlformats.org/package/2006/relationships"><Relationship Type="http://schemas.openxmlformats.org/officeDocument/2006/relationships/slide" Target="../slides/append1_slide1.xml" Id="R97273b7f06604861"/><Relationship Type="http://schemas.openxmlformats.org/officeDocument/2006/relationships/notesMaster" Target="../notesMasters/append1_notesMaster1.xml" Id="R5ddef8f016e7416e"/></Relationships>
</file>

<file path=ppt/notesSlides/_rels/append1_notesSlide2.xml.rels><?xml version='1.0' encoding='UTF-8' standalone='yes'?>
<Relationships xmlns="http://schemas.openxmlformats.org/package/2006/relationships"><Relationship Type="http://schemas.openxmlformats.org/officeDocument/2006/relationships/slide" Target="../slides/append1_slide2.xml" Id="Rb46ca415ef3c4cda"/><Relationship Type="http://schemas.openxmlformats.org/officeDocument/2006/relationships/notesMaster" Target="../notesMasters/append1_notesMaster1.xml" Id="R4de27b741d9d4bf7"/></Relationships>
</file>

<file path=ppt/notesSlides/_rels/append1_notesSlide3.xml.rels><?xml version='1.0' encoding='UTF-8' standalone='yes'?>
<Relationships xmlns="http://schemas.openxmlformats.org/package/2006/relationships"><Relationship Type="http://schemas.openxmlformats.org/officeDocument/2006/relationships/slide" Target="../slides/append1_slide3.xml" Id="Rf9ec69e4dc614941"/><Relationship Type="http://schemas.openxmlformats.org/officeDocument/2006/relationships/notesMaster" Target="../notesMasters/append1_notesMaster1.xml" Id="R092a55099f374832"/></Relationships>
</file>

<file path=ppt/notesSlides/_rels/append1_notesSlide4.xml.rels><?xml version='1.0' encoding='UTF-8' standalone='yes'?>
<Relationships xmlns="http://schemas.openxmlformats.org/package/2006/relationships"><Relationship Type="http://schemas.openxmlformats.org/officeDocument/2006/relationships/slide" Target="../slides/append1_slide4.xml" Id="R8c4378330a054ff0"/><Relationship Type="http://schemas.openxmlformats.org/officeDocument/2006/relationships/notesMaster" Target="../notesMasters/append1_notesMaster1.xml" Id="Rb43ad05510634a60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append1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参考来源：MEM, Fig.2, PDF p.4, https://www.pi.website/download/Mem.pdf；π0.7, Fig.2, PDF p.4, https://www.pi.website/download/pi07.pdf。</a:t>
            </a:r>
          </a:p>
          <a:p xmlns:a="http://schemas.openxmlformats.org/drawingml/2006/main">
            <a:r>
              <a:t>借鉴MEM记忆输入、更新输出与子任务连接，及π系列横向主干和侧挂动作专家的表达。本文改为π0.5自身共享VLM，不使用MEM的两套高低层参数，也不引入π0.7的BAGEL世界模型或图像子目标。</a:t>
            </a:r>
          </a:p>
          <a:p xmlns:a="http://schemas.openxmlformats.org/drawingml/2006/main">
            <a:r>
              <a:t>左侧MICA为既有前期研究，照片来自本库MICA稿件素材；与后续方案之间仅为研究经验关系，不传递权重或输出。A已核验、B滑落及重新抓取B为拟方案例示，不是新实验轨迹。第三项读写效用优化为本文拟研究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append1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参考来源：MEM Fig.4 (PDF p.4) 和 Fig.5 (p.6), https://www.pi.website/download/Mem.pdf；π0.7 Fig.3 (p.6), https://www.pi.website/download/pi07.pdf。</a:t>
            </a:r>
          </a:p>
          <a:p xmlns:a="http://schemas.openxmlformats.org/drawingml/2006/main">
            <a:r>
              <a:t>借鉴按时间列对齐、按信息类别分行和历史窗口的表达，重新绘制本课题的匹配历史诊断。o与s分别表示近期视觉观测和本体状态；两行的整个近期窗口及其他非记忆输入匹配，关键核验事件位于窗口之前。此处不是原作者实验照片或结果。</a:t>
            </a:r>
          </a:p>
          <a:p xmlns:a="http://schemas.openxmlformats.org/drawingml/2006/main">
            <a:r>
              <a:t>记忆消融仅改变跨步骤通道；训练方法对照控制其他可见信息与动作接口。同数据辅助项消融和等总物理步数比较服务不同归因问题。阶段推进以接口、历史需求和评价可靠性为准，不要求先得到正向增益。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append1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参考来源：π0.5 Fig.3, PDF p.4, https://arxiv.org/abs/2504.16054；π*0.6 / RECAP Fig.3, PDF p.4, https://arxiv.org/abs/2511.14759v2；KI机制依据 https://arxiv.org/abs/2505.23705。</a:t>
            </a:r>
          </a:p>
          <a:p xmlns:a="http://schemas.openxmlformats.org/drawingml/2006/main">
            <a:r>
              <a:t>借鉴π0.5的横向共享主干、离散文本与连续动作两类输出及侧挂expert，RECAP的价值/质量条件与策略学习分工。新增READ/WRITE、双价值时点和相应质量条件为本课题方案，不称原π0.5已含这些模块。</a:t>
            </a:r>
          </a:p>
          <a:p xmlns:a="http://schemas.openxmlformats.org/drawingml/2006/main">
            <a:r>
              <a:t>高层价值在READ之前，动作价值在子任务之后、动作之前取值。阶段回报与相应边界价值形成优势，质量标签只用于训练条件；rollout和推理使用预设正质量条件。工具正文只作上下文；FAST答案不进入连续专家前缀。红色虚线是梯度，灰/蓝实线是输入或标签；FM在K/V接口停止对VLM的梯度。参考图中的模型规模、原实验成绩不移植。示范锚定和其他权重见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append1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绘图参考：π0.7 Fig.3, PDF p.6, https://www.pi.website/download/pi07.pdf；MEM Fig.5, PDF p.6, https://www.pi.website/download/Mem.pdf。仅借鉴分行对比、按时序列对齐的排法，不将配对读写效用算法归于这些论文。</a:t>
            </a:r>
          </a:p>
          <a:p xmlns:a="http://schemas.openxmlformats.org/drawingml/2006/main">
            <a:r>
              <a:t>固定扩展起点x（物理、控制器、观测历史、内部记忆和未执行动作缓存）、后续参数κr与最大信息预算。正式比较之前先核验恢复重复性。每组候选与参考共享预设配对随机数，不同组独立重复。各分支重新生成子任务、执行并持续更新允许的信息，未来决策可以不同；输出不是单次回报相减，而是独立重复组的平均回报差和不确定性。</a:t>
            </a:r>
          </a:p>
          <a:p xmlns:a="http://schemas.openxmlformats.org/drawingml/2006/main">
            <a:r>
              <a:t>候选写入须有本分支可见证据，事实正确性单独核验。参考NONE/KEEP不自动是负样本，候选也不自动是正样本，偏好方向由可信效用比较决定。辅助DPO式目标加在基础训练上，仅计READ/WRITE生成概率；工具正文与子任务不计该辅助损失，共享VLM更新仍可能间接影响子任务和动作条件。所有分支、恢复与弃用续跑计入交互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图1.1 π0.5在未见家庭厨房中的多任务操作示例。</a:t>
            </a:r>
          </a:p>
          <a:p>
            <a:r>
              <a:t>Figure 1.1 Examples of π0.5 performing tasks in an unseen home kitchen.</a:t>
            </a:r>
          </a:p>
          <a:p>
            <a:r>
              <a:t>来源：文献[2]，arXiv:2504.16054v1，原图2，PDF物理第2页，2025-04-22。</a:t>
            </a:r>
          </a:p>
          <a:p>
            <a:r>
              <a:t>https://arxiv.org/abs/2504.16054v1</a:t>
            </a:r>
          </a:p>
          <a:p>
            <a:r>
              <a:t>https://www.pi.website/blog/pi05</a:t>
            </a:r>
          </a:p>
          <a:p>
            <a:r>
              <a:t>原图仅经过PDF光栅化和矩形裁切，无生成、修图、标签改写或面板重排。保留原英文任务标签。各任务示例不等于单条连续轨迹，不是本地RM65-B实验结果，不代表公开权重已经具备项目记忆接口。</a:t>
            </a:r>
          </a:p>
          <a:p>
            <a:r>
              <a:t>本页标题、中英文图注、来源和说明均为原生可编辑文字；照片为独立可替换图片，原图内部文字属于原始图像。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图1.2 RoboChemist的多步骤化学实验执行示例。</a:t>
            </a:r>
          </a:p>
          <a:p>
            <a:r>
              <a:t>Figure 1.2 Examples of multi-step chemical experimentation with RoboChemist.</a:t>
            </a:r>
          </a:p>
          <a:p>
            <a:r>
              <a:t>来源：本次重排后的文献[3]，正式CoRL 2025/PMLR 305论文，原图4，PDF物理第7页/会议论文集第3543页。</a:t>
            </a:r>
          </a:p>
          <a:p>
            <a:r>
              <a:t>https://proceedings.mlr.press/v305/zhang25i.html</a:t>
            </a:r>
          </a:p>
          <a:p>
            <a:r>
              <a:t>https://zzongzheng0918.github.io/RoboChemist.github.io/</a:t>
            </a:r>
          </a:p>
          <a:p>
            <a:r>
              <a:t>原图仅经过PDF光栅化和矩形裁切，无生成、修图、标签改写或面板重排。保留原始面板、任务标签和照片。平台为原作者的Cobot Magic ALOHA；不是本项目RM65-B结果，也不是RL训练记忆的证据。</a:t>
            </a:r>
          </a:p>
          <a:p>
            <a:r>
              <a:t>本页标题、中英文图注、来源和说明均为原生可编辑文字；照片为独立可替换图片，原图内部文字属于原始图像。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图1.3 MEM的长时程与部分可观测操作任务示例（引自文献[15]原图1上部）。</a:t>
            </a:r>
          </a:p>
          <a:p>
            <a:r>
              <a:t>Figure 1.3 Long-horizon and partially observable tasks in MEM.</a:t>
            </a:r>
          </a:p>
          <a:p>
            <a:r>
              <a:t>来源：MEM: Multi-Scale Embodied Memory for Vision Language Action Models，arXiv:2603.03596v2，原图1上方两排，PDF物理第1页。</a:t>
            </a:r>
          </a:p>
          <a:p>
            <a:r>
              <a:t>https://arxiv.org/abs/2603.03596v2</a:t>
            </a:r>
          </a:p>
          <a:p>
            <a:r>
              <a:t>原图裁切保留了Long-Horizon Tasks with Memory与Solve Tasks w/ Partial Observability两组完整面板和原始标签，未改写照片或图内文字。原作者平台与结果，不是本地RM65-B结果。上下文适应不等于在线参数更新，也不构成RL训练记忆的证据。</a:t>
            </a:r>
          </a:p>
          <a:p>
            <a:r>
              <a:t>本页图名、中英文图注、来源和范围说明是原生可编辑文字。原论文图作为独立可替换图片，图内原始文字属于图片。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append1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append1_slideMaster1.xml" Id="R5bd7fc4b29da4d7a"/></Relationships>
</file>

<file path=ppt/slideLayouts/_rels/append1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append1_slideMaster1.xml" Id="R043cedc32cf24eab"/></Relationships>
</file>

<file path=ppt/slideLayouts/_rels/append1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append1_slideMaster1.xml" Id="R30f8eb9f8b4a4935"/></Relationships>
</file>

<file path=ppt/slideLayouts/_rels/append1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append1_slideMaster1.xml" Id="R1038fd4d83554880"/></Relationships>
</file>

<file path=ppt/slideLayouts/_rels/append1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append1_slideMaster1.xml" Id="R377695f111b14830"/></Relationships>
</file>

<file path=ppt/slideLayouts/_rels/append1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append1_slideMaster1.xml" Id="R296302b6565e4a86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append1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683975-F117-4D84-9B30-6E8296EB4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318000"/>
            <a:ext cx="1219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629101-39B1-495D-85AC-8BEAC1227D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6286500"/>
            <a:ext cx="10668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append1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DE2922-CE4C-417C-8F32-264A68FDAF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762500"/>
            <a:ext cx="1219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append1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A1A572-F90D-452A-B11D-590A3A9DB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89000"/>
            <a:ext cx="13525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7CAFD1-B1CA-4C1D-B076-1021C889A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75000"/>
            <a:ext cx="13525500" cy="71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append1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048796-4387-4E8F-BAC2-FA7EC1E88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89000"/>
            <a:ext cx="13525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8239F0-7574-4B34-9052-F4B2B35937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75000"/>
            <a:ext cx="6286500" cy="71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10CB09-97D9-48B6-94CE-2326363800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3175000"/>
            <a:ext cx="6286500" cy="71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append1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E9764F-D925-4252-8711-8D574A0BD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89000"/>
            <a:ext cx="13525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D3359C-FC26-4856-ABEE-BFA223F397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75000"/>
            <a:ext cx="6286500" cy="71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append1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4318000"/>
            <a:ext cx="12192000" cy="165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6286500"/>
            <a:ext cx="10668000" cy="127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4762500"/>
            <a:ext cx="12192000" cy="1905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13525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889000"/>
            <a:ext cx="13525500" cy="1397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3175000"/>
            <a:ext cx="6286500" cy="711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append1_slideMaster1.xml.rels><?xml version='1.0' encoding='UTF-8' standalone='yes'?>
<Relationships xmlns="http://schemas.openxmlformats.org/package/2006/relationships"><Relationship Type="http://schemas.openxmlformats.org/officeDocument/2006/relationships/theme" Target="theme/append1_theme2.xml" Id="R4982b219cd814ed7"/><Relationship Type="http://schemas.openxmlformats.org/officeDocument/2006/relationships/slideLayout" Target="../slideLayouts/append1_slideLayout1.xml" Id="R36ae9847fac740b8"/><Relationship Type="http://schemas.openxmlformats.org/officeDocument/2006/relationships/slideLayout" Target="../slideLayouts/append1_slideLayout2.xml" Id="R4eacfa0e6ee8439c"/><Relationship Type="http://schemas.openxmlformats.org/officeDocument/2006/relationships/slideLayout" Target="../slideLayouts/append1_slideLayout3.xml" Id="Rf99106cb83d54848"/><Relationship Type="http://schemas.openxmlformats.org/officeDocument/2006/relationships/slideLayout" Target="../slideLayouts/append1_slideLayout4.xml" Id="R8f7c8bcade4d4584"/><Relationship Type="http://schemas.openxmlformats.org/officeDocument/2006/relationships/slideLayout" Target="../slideLayouts/append1_slideLayout5.xml" Id="R4d5e43a2ca7e4257"/><Relationship Type="http://schemas.openxmlformats.org/officeDocument/2006/relationships/slideLayout" Target="../slideLayouts/append1_slideLayout6.xml" Id="R6bf2b36310d04676"/></Relationships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append1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ae9847fac740b8"/>
    <p:sldLayoutId xmlns:r="http://schemas.openxmlformats.org/officeDocument/2006/relationships" id="2147483650" r:id="R4eacfa0e6ee8439c"/>
    <p:sldLayoutId xmlns:r="http://schemas.openxmlformats.org/officeDocument/2006/relationships" id="2147483651" r:id="Rf99106cb83d54848"/>
    <p:sldLayoutId xmlns:r="http://schemas.openxmlformats.org/officeDocument/2006/relationships" id="2147483652" r:id="R8f7c8bcade4d4584"/>
    <p:sldLayoutId xmlns:r="http://schemas.openxmlformats.org/officeDocument/2006/relationships" id="2147483653" r:id="R4d5e43a2ca7e4257"/>
    <p:sldLayoutId xmlns:r="http://schemas.openxmlformats.org/officeDocument/2006/relationships" id="2147483654" r:id="R6bf2b36310d0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append1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append1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append1_slideLayout6.xml" Id="R11a81e260eb74790"/><Relationship Type="http://schemas.openxmlformats.org/officeDocument/2006/relationships/image" Target="../media/append1_image.png" Id="R275427a361204e73"/><Relationship Type="http://schemas.openxmlformats.org/officeDocument/2006/relationships/notesSlide" Target="../notesSlides/append1_notesSlide1.xml" Id="R1be31b5554bf4640"/></Relationships>
</file>

<file path=ppt/slides/_rels/append1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append1_slideLayout6.xml" Id="R6da350d8eaea47c1"/><Relationship Type="http://schemas.openxmlformats.org/officeDocument/2006/relationships/notesSlide" Target="../notesSlides/append1_notesSlide2.xml" Id="R535f8ae539574c26"/></Relationships>
</file>

<file path=ppt/slides/_rels/append1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append1_slideLayout6.xml" Id="Rdf76faada4fa4eef"/><Relationship Type="http://schemas.openxmlformats.org/officeDocument/2006/relationships/notesSlide" Target="../notesSlides/append1_notesSlide3.xml" Id="Ra311d209376f44e3"/></Relationships>
</file>

<file path=ppt/slides/_rels/append1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append1_slideLayout6.xml" Id="Rcdcf9fa7cd45448f"/><Relationship Type="http://schemas.openxmlformats.org/officeDocument/2006/relationships/notesSlide" Target="../notesSlides/append1_notesSlide4.xml" Id="R4beb0a6fd2c94454"/></Relationships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append1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235D1A-FD58-4A0E-8C65-4D4723398D8B}"/>
              </a:ext>
            </a:extLst>
          </p:cNvPr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44000" y="100774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8B476E-1B0A-4B34-938E-9B96247BE7BA}"/>
              </a:ext>
            </a:extLst>
          </p:cNvPr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4238625" y="100774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18EFD6F-2E6B-492C-B9D3-7C474191B4DA}"/>
              </a:ext>
            </a:extLst>
          </p:cNvPr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13592175" y="61341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C8069"/>
            </a:solidFill>
            <a:prstDash val="solid"/>
            <a:tailEnd type="triangle" w="med" len="med"/>
          </a:ln>
        </p:spPr>
      </p:cxnSp>
      <p:cxnSp>
        <p:nvCxn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BC70D9-9A84-4CD9-AB7D-B381A83E0469}"/>
              </a:ext>
            </a:extLst>
          </p:cNvPr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8496300" y="61245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29923C-5693-4A0E-B47F-EE6DFBB067D2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2001500" y="55626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3CDBBE-CBE7-405D-8CEE-E90CFA03675E}"/>
              </a:ext>
            </a:extLst>
          </p:cNvPr>
          <p:cNvCxnSpPr>
            <a:stCxn xmlns:a="http://schemas.openxmlformats.org/drawingml/2006/main" id="73" idx="0"/>
            <a:endCxn xmlns:a="http://schemas.openxmlformats.org/drawingml/2006/main" id="74" idx="2"/>
          </p:cNvCxnSpPr>
          <p:nvPr/>
        </p:nvCxnSpPr>
        <p:spPr>
          <a:xfrm xmlns:a="http://schemas.openxmlformats.org/drawingml/2006/main" flipV="1">
            <a:off x="12430125" y="38100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5B6E40-5121-4140-A9A0-F0F92363104D}"/>
              </a:ext>
            </a:extLst>
          </p:cNvPr>
          <p:cNvCxnSpPr>
            <a:stCxn xmlns:a="http://schemas.openxmlformats.org/drawingml/2006/main" id="67" idx="0"/>
            <a:endCxn xmlns:a="http://schemas.openxmlformats.org/drawingml/2006/main" id="68" idx="2"/>
          </p:cNvCxnSpPr>
          <p:nvPr/>
        </p:nvCxnSpPr>
        <p:spPr>
          <a:xfrm xmlns:a="http://schemas.openxmlformats.org/drawingml/2006/main" flipV="1">
            <a:off x="8315325" y="4076700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8B6A9B"/>
            </a:solidFill>
            <a:prstDash val="solid"/>
            <a:tailEnd type="triangle" w="med" len="med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7D5666-7BFD-4404-98E9-ACED655994CF}"/>
              </a:ext>
            </a:extLst>
          </p:cNvPr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6305550" y="4076700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8B6A9B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6CE0B-BAF5-407E-BFA7-61D94C977BCB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771900" y="229552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F6368"/>
            </a:solidFill>
            <a:prstDash val="dash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3781D-08AB-47F5-B292-9B6C21E2C29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190750" y="62388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sp>
        <p:nvSpPr>
          <p:cNvPr id="100" name="shape-1">
            <a:extLst xmlns:a="http://schemas.openxmlformats.org/drawingml/2006/main">
              <a:ext uri="{FF2B5EF4-FFF2-40B4-BE49-F238E27FC236}">
                <a16:creationId xmlns:a16="http://schemas.microsoft.com/office/drawing/2014/main" id="{F302568A-03B1-49EC-A721-4A09B0A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图3.1  研究内容与递进关系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25BEF42D-D8EC-45E1-826C-33B5E460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a  前期条件控制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00028AAD-10BF-45E7-80DF-B1BD93B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57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b  记忆、子任务与动作联合学习</a:t>
            </a:r>
          </a:p>
        </p:txBody>
      </p:sp>
      <p:sp>
        <p:nvSpPr>
          <p:cNvPr id="5" name="line-5">
            <a:extLst xmlns:a="http://schemas.openxmlformats.org/drawingml/2006/main">
              <a:ext uri="{FF2B5EF4-FFF2-40B4-BE49-F238E27FC236}">
                <a16:creationId xmlns:a16="http://schemas.microsoft.com/office/drawing/2014/main" id="{0A47E812-EC43-4531-9FC7-58F2E002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28750"/>
            <a:ext cx="0" cy="616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3D6D8"/>
            </a:solidFill>
            <a:prstDash val="solid"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30931984-073A-410C-BD81-1039E3D4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rPr>
              <a:t>MICA-VLA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8F6B4-7FEE-4B4E-82CD-498ED7714E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427a361204e73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438400"/>
            <a:ext cx="3143250" cy="2362200"/>
          </a:xfrm>
          <a:prstGeom xmlns:a="http://schemas.openxmlformats.org/drawingml/2006/main" prst="rect">
            <a:avLst/>
          </a:prstGeom>
        </p:spPr>
      </p:pic>
      <p:sp>
        <p:nvSpPr>
          <p:cNvPr id="8" name="shape-7">
            <a:extLst xmlns:a="http://schemas.openxmlformats.org/drawingml/2006/main">
              <a:ext uri="{FF2B5EF4-FFF2-40B4-BE49-F238E27FC236}">
                <a16:creationId xmlns:a16="http://schemas.microsoft.com/office/drawing/2014/main" id="{5652A6BE-DF32-4ED3-8A57-3D628765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76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SO-100既有任务画面</a:t>
            </a:r>
          </a:p>
        </p:txBody>
      </p:sp>
      <p:sp>
        <p:nvSpPr>
          <p:cNvPr id="9" name="shape-8">
            <a:extLst xmlns:a="http://schemas.openxmlformats.org/drawingml/2006/main">
              <a:ext uri="{FF2B5EF4-FFF2-40B4-BE49-F238E27FC236}">
                <a16:creationId xmlns:a16="http://schemas.microsoft.com/office/drawing/2014/main" id="{B6E5F977-7E63-49FF-B10D-EC1AFEC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3143250" cy="7239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9DF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语义锚检索</a:t>
            </a:r>
          </a:p>
        </p:txBody>
      </p:sp>
      <p:sp>
        <p:nvSpPr>
          <p:cNvPr id="10" name="shape-9">
            <a:extLst xmlns:a="http://schemas.openxmlformats.org/drawingml/2006/main">
              <a:ext uri="{FF2B5EF4-FFF2-40B4-BE49-F238E27FC236}">
                <a16:creationId xmlns:a16="http://schemas.microsoft.com/office/drawing/2014/main" id="{A40E40E8-E283-464F-B39E-EF70E1E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29400"/>
            <a:ext cx="3143250" cy="7239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动作语义条件化</a:t>
            </a:r>
          </a:p>
        </p:txBody>
      </p:sp>
      <p:sp>
        <p:nvSpPr>
          <p:cNvPr id="12" name="shape-10">
            <a:extLst xmlns:a="http://schemas.openxmlformats.org/drawingml/2006/main">
              <a:ext uri="{FF2B5EF4-FFF2-40B4-BE49-F238E27FC236}">
                <a16:creationId xmlns:a16="http://schemas.microsoft.com/office/drawing/2014/main" id="{6A74878B-8796-48D3-B29F-6EBE099D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2952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同义保持行为</a:t>
            </a:r>
          </a:p>
          <a:p xmlns:a="http://schemas.openxmlformats.org/drawingml/2006/main">
            <a:pPr algn="l">
              <a:defRPr sz="21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角色变化时响应</a:t>
            </a:r>
          </a:p>
        </p:txBody>
      </p:sp>
      <p:sp>
        <p:nvSpPr>
          <p:cNvPr id="13" name="shape-11">
            <a:extLst xmlns:a="http://schemas.openxmlformats.org/drawingml/2006/main">
              <a:ext uri="{FF2B5EF4-FFF2-40B4-BE49-F238E27FC236}">
                <a16:creationId xmlns:a16="http://schemas.microsoft.com/office/drawing/2014/main" id="{F6420739-3ED1-4805-9F95-BE0B8034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85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条件控制经验</a:t>
            </a:r>
          </a:p>
        </p:txBody>
      </p:sp>
      <p:sp>
        <p:nvSpPr>
          <p:cNvPr id="14" name="shape-12">
            <a:extLst xmlns:a="http://schemas.openxmlformats.org/drawingml/2006/main">
              <a:ext uri="{FF2B5EF4-FFF2-40B4-BE49-F238E27FC236}">
                <a16:creationId xmlns:a16="http://schemas.microsoft.com/office/drawing/2014/main" id="{F129B2E8-EAFA-4309-B099-98066DB2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shape-13">
            <a:extLst xmlns:a="http://schemas.openxmlformats.org/drawingml/2006/main">
              <a:ext uri="{FF2B5EF4-FFF2-40B4-BE49-F238E27FC236}">
                <a16:creationId xmlns:a16="http://schemas.microsoft.com/office/drawing/2014/main" id="{BCCC3F66-DE3F-4F02-B666-67E6B02D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shape-14">
            <a:extLst xmlns:a="http://schemas.openxmlformats.org/drawingml/2006/main">
              <a:ext uri="{FF2B5EF4-FFF2-40B4-BE49-F238E27FC236}">
                <a16:creationId xmlns:a16="http://schemas.microsoft.com/office/drawing/2014/main" id="{DC2E5C05-100C-474B-B1C0-0A82948F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33650"/>
            <a:ext cx="4667250" cy="1524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9DF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执行事实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A已核验  ·  B抓取滑落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当前持物：空</a:t>
            </a:r>
          </a:p>
        </p:txBody>
      </p:sp>
      <p:sp>
        <p:nvSpPr>
          <p:cNvPr id="18" name="shape-15">
            <a:extLst xmlns:a="http://schemas.openxmlformats.org/drawingml/2006/main">
              <a:ext uri="{FF2B5EF4-FFF2-40B4-BE49-F238E27FC236}">
                <a16:creationId xmlns:a16="http://schemas.microsoft.com/office/drawing/2014/main" id="{7201ABFF-0459-4B4F-BACB-18FCA1C8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771775"/>
            <a:ext cx="40005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9DF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生成子任务文本</a:t>
            </a:r>
          </a:p>
          <a:p xmlns:a="http://schemas.openxmlformats.org/drawingml/2006/main"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“重新抓取B”</a:t>
            </a:r>
          </a:p>
        </p:txBody>
      </p:sp>
      <p:sp>
        <p:nvSpPr>
          <p:cNvPr id="19" name="shape-16">
            <a:extLst xmlns:a="http://schemas.openxmlformats.org/drawingml/2006/main">
              <a:ext uri="{FF2B5EF4-FFF2-40B4-BE49-F238E27FC236}">
                <a16:creationId xmlns:a16="http://schemas.microsoft.com/office/drawing/2014/main" id="{F4D9CCE6-CB15-43CF-BA4A-200B0584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10150"/>
            <a:ext cx="70008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0" name="shape-17">
            <a:extLst xmlns:a="http://schemas.openxmlformats.org/drawingml/2006/main">
              <a:ext uri="{FF2B5EF4-FFF2-40B4-BE49-F238E27FC236}">
                <a16:creationId xmlns:a16="http://schemas.microsoft.com/office/drawing/2014/main" id="{E8BE72B2-F023-4474-9308-5EED7160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238750"/>
            <a:ext cx="715327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π0.5 自身共享VLM θ</a:t>
            </a:r>
          </a:p>
        </p:txBody>
      </p:sp>
      <p:sp>
        <p:nvSpPr>
          <p:cNvPr id="21" name="shape-18">
            <a:extLst xmlns:a="http://schemas.openxmlformats.org/drawingml/2006/main">
              <a:ext uri="{FF2B5EF4-FFF2-40B4-BE49-F238E27FC236}">
                <a16:creationId xmlns:a16="http://schemas.microsoft.com/office/drawing/2014/main" id="{E0C17E85-C967-4113-A401-F95D97F7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2" name="shape-19">
            <a:extLst xmlns:a="http://schemas.openxmlformats.org/drawingml/2006/main">
              <a:ext uri="{FF2B5EF4-FFF2-40B4-BE49-F238E27FC236}">
                <a16:creationId xmlns:a16="http://schemas.microsoft.com/office/drawing/2014/main" id="{146C235F-1EB0-412F-82D7-25496B71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3" name="shape-20">
            <a:extLst xmlns:a="http://schemas.openxmlformats.org/drawingml/2006/main">
              <a:ext uri="{FF2B5EF4-FFF2-40B4-BE49-F238E27FC236}">
                <a16:creationId xmlns:a16="http://schemas.microsoft.com/office/drawing/2014/main" id="{6329EE0E-C546-418D-8B40-02B383F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4" name="shape-21">
            <a:extLst xmlns:a="http://schemas.openxmlformats.org/drawingml/2006/main">
              <a:ext uri="{FF2B5EF4-FFF2-40B4-BE49-F238E27FC236}">
                <a16:creationId xmlns:a16="http://schemas.microsoft.com/office/drawing/2014/main" id="{C2B59149-80C7-40EC-941E-CC0100D6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5" name="shape-22">
            <a:extLst xmlns:a="http://schemas.openxmlformats.org/drawingml/2006/main">
              <a:ext uri="{FF2B5EF4-FFF2-40B4-BE49-F238E27FC236}">
                <a16:creationId xmlns:a16="http://schemas.microsoft.com/office/drawing/2014/main" id="{18FC83B0-DF65-4239-B633-36DB9920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6" name="shape-23">
            <a:extLst xmlns:a="http://schemas.openxmlformats.org/drawingml/2006/main">
              <a:ext uri="{FF2B5EF4-FFF2-40B4-BE49-F238E27FC236}">
                <a16:creationId xmlns:a16="http://schemas.microsoft.com/office/drawing/2014/main" id="{43D55726-9486-4CB0-97DD-27F53079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7" name="shape-24">
            <a:extLst xmlns:a="http://schemas.openxmlformats.org/drawingml/2006/main">
              <a:ext uri="{FF2B5EF4-FFF2-40B4-BE49-F238E27FC236}">
                <a16:creationId xmlns:a16="http://schemas.microsoft.com/office/drawing/2014/main" id="{D4521E2F-EFF1-42C7-9E97-519CE030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8" name="shape-25">
            <a:extLst xmlns:a="http://schemas.openxmlformats.org/drawingml/2006/main">
              <a:ext uri="{FF2B5EF4-FFF2-40B4-BE49-F238E27FC236}">
                <a16:creationId xmlns:a16="http://schemas.microsoft.com/office/drawing/2014/main" id="{840C71B5-A373-487F-ADD4-C84FAE18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29" name="shape-26">
            <a:extLst xmlns:a="http://schemas.openxmlformats.org/drawingml/2006/main">
              <a:ext uri="{FF2B5EF4-FFF2-40B4-BE49-F238E27FC236}">
                <a16:creationId xmlns:a16="http://schemas.microsoft.com/office/drawing/2014/main" id="{F2391041-EE32-48AB-B3E8-2CC049F8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0" name="shape-27">
            <a:extLst xmlns:a="http://schemas.openxmlformats.org/drawingml/2006/main">
              <a:ext uri="{FF2B5EF4-FFF2-40B4-BE49-F238E27FC236}">
                <a16:creationId xmlns:a16="http://schemas.microsoft.com/office/drawing/2014/main" id="{437E47A7-FC4E-43D6-B737-E632FA7A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1" name="shape-28">
            <a:extLst xmlns:a="http://schemas.openxmlformats.org/drawingml/2006/main">
              <a:ext uri="{FF2B5EF4-FFF2-40B4-BE49-F238E27FC236}">
                <a16:creationId xmlns:a16="http://schemas.microsoft.com/office/drawing/2014/main" id="{D95171CD-E916-45DB-A78F-7DFD83AE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2" name="shape-29">
            <a:extLst xmlns:a="http://schemas.openxmlformats.org/drawingml/2006/main">
              <a:ext uri="{FF2B5EF4-FFF2-40B4-BE49-F238E27FC236}">
                <a16:creationId xmlns:a16="http://schemas.microsoft.com/office/drawing/2014/main" id="{F2D4B0AA-DE3D-4B50-BF31-BEC47A6D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3" name="shape-30">
            <a:extLst xmlns:a="http://schemas.openxmlformats.org/drawingml/2006/main">
              <a:ext uri="{FF2B5EF4-FFF2-40B4-BE49-F238E27FC236}">
                <a16:creationId xmlns:a16="http://schemas.microsoft.com/office/drawing/2014/main" id="{093D880B-974C-40C2-8E7A-870F3D32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4" name="shape-31">
            <a:extLst xmlns:a="http://schemas.openxmlformats.org/drawingml/2006/main">
              <a:ext uri="{FF2B5EF4-FFF2-40B4-BE49-F238E27FC236}">
                <a16:creationId xmlns:a16="http://schemas.microsoft.com/office/drawing/2014/main" id="{B3C2370E-F497-457B-9AF2-7E231305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5" name="shape-32">
            <a:extLst xmlns:a="http://schemas.openxmlformats.org/drawingml/2006/main">
              <a:ext uri="{FF2B5EF4-FFF2-40B4-BE49-F238E27FC236}">
                <a16:creationId xmlns:a16="http://schemas.microsoft.com/office/drawing/2014/main" id="{F2A09E92-DCBF-4391-A60F-812277E0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6" name="shape-33">
            <a:extLst xmlns:a="http://schemas.openxmlformats.org/drawingml/2006/main">
              <a:ext uri="{FF2B5EF4-FFF2-40B4-BE49-F238E27FC236}">
                <a16:creationId xmlns:a16="http://schemas.microsoft.com/office/drawing/2014/main" id="{A8F2AE9D-BDC0-4216-890C-3F58367C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7" name="shape-34">
            <a:extLst xmlns:a="http://schemas.openxmlformats.org/drawingml/2006/main">
              <a:ext uri="{FF2B5EF4-FFF2-40B4-BE49-F238E27FC236}">
                <a16:creationId xmlns:a16="http://schemas.microsoft.com/office/drawing/2014/main" id="{C036A4A5-CFF0-445F-A6F3-779BAA29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8" name="shape-35">
            <a:extLst xmlns:a="http://schemas.openxmlformats.org/drawingml/2006/main">
              <a:ext uri="{FF2B5EF4-FFF2-40B4-BE49-F238E27FC236}">
                <a16:creationId xmlns:a16="http://schemas.microsoft.com/office/drawing/2014/main" id="{B147B292-18AC-48EF-B1C2-5BE58EF1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9" name="shape-36">
            <a:extLst xmlns:a="http://schemas.openxmlformats.org/drawingml/2006/main">
              <a:ext uri="{FF2B5EF4-FFF2-40B4-BE49-F238E27FC236}">
                <a16:creationId xmlns:a16="http://schemas.microsoft.com/office/drawing/2014/main" id="{B68C2A67-20C2-450F-ACFE-74751016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0" name="shape-37">
            <a:extLst xmlns:a="http://schemas.openxmlformats.org/drawingml/2006/main">
              <a:ext uri="{FF2B5EF4-FFF2-40B4-BE49-F238E27FC236}">
                <a16:creationId xmlns:a16="http://schemas.microsoft.com/office/drawing/2014/main" id="{A70D5D87-2061-4CAC-8D18-A98A1D4B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1" name="shape-38">
            <a:extLst xmlns:a="http://schemas.openxmlformats.org/drawingml/2006/main">
              <a:ext uri="{FF2B5EF4-FFF2-40B4-BE49-F238E27FC236}">
                <a16:creationId xmlns:a16="http://schemas.microsoft.com/office/drawing/2014/main" id="{54F213B6-F3F8-4B49-97EA-2284526E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2" name="shape-39">
            <a:extLst xmlns:a="http://schemas.openxmlformats.org/drawingml/2006/main">
              <a:ext uri="{FF2B5EF4-FFF2-40B4-BE49-F238E27FC236}">
                <a16:creationId xmlns:a16="http://schemas.microsoft.com/office/drawing/2014/main" id="{D8723FDB-7CE4-4477-8F38-4B1FD6D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3" name="shape-40">
            <a:extLst xmlns:a="http://schemas.openxmlformats.org/drawingml/2006/main">
              <a:ext uri="{FF2B5EF4-FFF2-40B4-BE49-F238E27FC236}">
                <a16:creationId xmlns:a16="http://schemas.microsoft.com/office/drawing/2014/main" id="{0DB61090-66D4-4165-B4F3-FD2DEA24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4" name="shape-41">
            <a:extLst xmlns:a="http://schemas.openxmlformats.org/drawingml/2006/main">
              <a:ext uri="{FF2B5EF4-FFF2-40B4-BE49-F238E27FC236}">
                <a16:creationId xmlns:a16="http://schemas.microsoft.com/office/drawing/2014/main" id="{8B7A6579-E35E-48B4-9411-ABE116E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5" name="shape-42">
            <a:extLst xmlns:a="http://schemas.openxmlformats.org/drawingml/2006/main">
              <a:ext uri="{FF2B5EF4-FFF2-40B4-BE49-F238E27FC236}">
                <a16:creationId xmlns:a16="http://schemas.microsoft.com/office/drawing/2014/main" id="{2A6D7296-EDBA-451E-AA07-6987EE77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6" name="shape-43">
            <a:extLst xmlns:a="http://schemas.openxmlformats.org/drawingml/2006/main">
              <a:ext uri="{FF2B5EF4-FFF2-40B4-BE49-F238E27FC236}">
                <a16:creationId xmlns:a16="http://schemas.microsoft.com/office/drawing/2014/main" id="{1D9EB01C-C4AF-4CED-ADB9-4447599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7" name="shape-44">
            <a:extLst xmlns:a="http://schemas.openxmlformats.org/drawingml/2006/main">
              <a:ext uri="{FF2B5EF4-FFF2-40B4-BE49-F238E27FC236}">
                <a16:creationId xmlns:a16="http://schemas.microsoft.com/office/drawing/2014/main" id="{B9AD6448-B079-4405-9BA8-D7A08BD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8" name="shape-45">
            <a:extLst xmlns:a="http://schemas.openxmlformats.org/drawingml/2006/main">
              <a:ext uri="{FF2B5EF4-FFF2-40B4-BE49-F238E27FC236}">
                <a16:creationId xmlns:a16="http://schemas.microsoft.com/office/drawing/2014/main" id="{8566327D-37F0-4F32-9E0B-22DCD8B0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9" name="shape-46">
            <a:extLst xmlns:a="http://schemas.openxmlformats.org/drawingml/2006/main">
              <a:ext uri="{FF2B5EF4-FFF2-40B4-BE49-F238E27FC236}">
                <a16:creationId xmlns:a16="http://schemas.microsoft.com/office/drawing/2014/main" id="{D24BD2D9-FE55-4C98-A7F4-ADCB5424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0" name="shape-47">
            <a:extLst xmlns:a="http://schemas.openxmlformats.org/drawingml/2006/main">
              <a:ext uri="{FF2B5EF4-FFF2-40B4-BE49-F238E27FC236}">
                <a16:creationId xmlns:a16="http://schemas.microsoft.com/office/drawing/2014/main" id="{C2F7A0C8-83BE-4F20-B96D-1807445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1" name="shape-48">
            <a:extLst xmlns:a="http://schemas.openxmlformats.org/drawingml/2006/main">
              <a:ext uri="{FF2B5EF4-FFF2-40B4-BE49-F238E27FC236}">
                <a16:creationId xmlns:a16="http://schemas.microsoft.com/office/drawing/2014/main" id="{81DA8104-98ED-4E1C-8DF5-32277E09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2" name="shape-49">
            <a:extLst xmlns:a="http://schemas.openxmlformats.org/drawingml/2006/main">
              <a:ext uri="{FF2B5EF4-FFF2-40B4-BE49-F238E27FC236}">
                <a16:creationId xmlns:a16="http://schemas.microsoft.com/office/drawing/2014/main" id="{771F7749-9339-4F4C-A992-7DED2342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3" name="shape-50">
            <a:extLst xmlns:a="http://schemas.openxmlformats.org/drawingml/2006/main">
              <a:ext uri="{FF2B5EF4-FFF2-40B4-BE49-F238E27FC236}">
                <a16:creationId xmlns:a16="http://schemas.microsoft.com/office/drawing/2014/main" id="{F837225A-893C-481F-AC1D-EBE880D3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010150"/>
            <a:ext cx="20478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54" name="shape-51">
            <a:extLst xmlns:a="http://schemas.openxmlformats.org/drawingml/2006/main">
              <a:ext uri="{FF2B5EF4-FFF2-40B4-BE49-F238E27FC236}">
                <a16:creationId xmlns:a16="http://schemas.microsoft.com/office/drawing/2014/main" id="{C1B34A27-35B6-4C96-9946-E5105286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238750"/>
            <a:ext cx="220027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动作专家 φ</a:t>
            </a:r>
          </a:p>
        </p:txBody>
      </p:sp>
      <p:sp>
        <p:nvSpPr>
          <p:cNvPr id="55" name="shape-52">
            <a:extLst xmlns:a="http://schemas.openxmlformats.org/drawingml/2006/main">
              <a:ext uri="{FF2B5EF4-FFF2-40B4-BE49-F238E27FC236}">
                <a16:creationId xmlns:a16="http://schemas.microsoft.com/office/drawing/2014/main" id="{CBE07613-37D5-45A6-AC41-E11E1E05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56" name="shape-53">
            <a:extLst xmlns:a="http://schemas.openxmlformats.org/drawingml/2006/main">
              <a:ext uri="{FF2B5EF4-FFF2-40B4-BE49-F238E27FC236}">
                <a16:creationId xmlns:a16="http://schemas.microsoft.com/office/drawing/2014/main" id="{5220BD53-38CF-4E8E-B1B4-859156BB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57" name="shape-54">
            <a:extLst xmlns:a="http://schemas.openxmlformats.org/drawingml/2006/main">
              <a:ext uri="{FF2B5EF4-FFF2-40B4-BE49-F238E27FC236}">
                <a16:creationId xmlns:a16="http://schemas.microsoft.com/office/drawing/2014/main" id="{E79307BB-0213-4C69-B8B6-0994ED9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58" name="shape-55">
            <a:extLst xmlns:a="http://schemas.openxmlformats.org/drawingml/2006/main">
              <a:ext uri="{FF2B5EF4-FFF2-40B4-BE49-F238E27FC236}">
                <a16:creationId xmlns:a16="http://schemas.microsoft.com/office/drawing/2014/main" id="{F1417EBD-42E8-4FA3-8526-EC247DE7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59" name="shape-56">
            <a:extLst xmlns:a="http://schemas.openxmlformats.org/drawingml/2006/main">
              <a:ext uri="{FF2B5EF4-FFF2-40B4-BE49-F238E27FC236}">
                <a16:creationId xmlns:a16="http://schemas.microsoft.com/office/drawing/2014/main" id="{BAA0AE9B-1D79-45C6-A08A-9F256236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60" name="shape-57">
            <a:extLst xmlns:a="http://schemas.openxmlformats.org/drawingml/2006/main">
              <a:ext uri="{FF2B5EF4-FFF2-40B4-BE49-F238E27FC236}">
                <a16:creationId xmlns:a16="http://schemas.microsoft.com/office/drawing/2014/main" id="{CD54E0CE-4CAF-4925-8781-ACFACEF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61" name="shape-58">
            <a:extLst xmlns:a="http://schemas.openxmlformats.org/drawingml/2006/main">
              <a:ext uri="{FF2B5EF4-FFF2-40B4-BE49-F238E27FC236}">
                <a16:creationId xmlns:a16="http://schemas.microsoft.com/office/drawing/2014/main" id="{72517152-B2C6-47A2-B567-017EF5A9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508635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62" name="shape-59">
            <a:extLst xmlns:a="http://schemas.openxmlformats.org/drawingml/2006/main">
              <a:ext uri="{FF2B5EF4-FFF2-40B4-BE49-F238E27FC236}">
                <a16:creationId xmlns:a16="http://schemas.microsoft.com/office/drawing/2014/main" id="{10B61BA5-F474-4DB7-BDF1-E36AE055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595312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63" name="shape-60">
            <a:extLst xmlns:a="http://schemas.openxmlformats.org/drawingml/2006/main">
              <a:ext uri="{FF2B5EF4-FFF2-40B4-BE49-F238E27FC236}">
                <a16:creationId xmlns:a16="http://schemas.microsoft.com/office/drawing/2014/main" id="{0CC55B81-0049-4DA1-BDBC-0EFE3975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57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shape-61">
            <a:extLst xmlns:a="http://schemas.openxmlformats.org/drawingml/2006/main">
              <a:ext uri="{FF2B5EF4-FFF2-40B4-BE49-F238E27FC236}">
                <a16:creationId xmlns:a16="http://schemas.microsoft.com/office/drawing/2014/main" id="{D4D5797F-DE6D-452A-B99B-75BD2C8C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006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shape-62">
            <a:extLst xmlns:a="http://schemas.openxmlformats.org/drawingml/2006/main">
              <a:ext uri="{FF2B5EF4-FFF2-40B4-BE49-F238E27FC236}">
                <a16:creationId xmlns:a16="http://schemas.microsoft.com/office/drawing/2014/main" id="{44DC7232-1994-452D-B882-6D9787FC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rPr>
              <a:t>读取</a:t>
            </a:r>
          </a:p>
        </p:txBody>
      </p:sp>
      <p:sp>
        <p:nvSpPr>
          <p:cNvPr id="67" name="shape-63">
            <a:extLst xmlns:a="http://schemas.openxmlformats.org/drawingml/2006/main">
              <a:ext uri="{FF2B5EF4-FFF2-40B4-BE49-F238E27FC236}">
                <a16:creationId xmlns:a16="http://schemas.microsoft.com/office/drawing/2014/main" id="{78437F79-781E-4118-A285-33F45A3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006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shape-64">
            <a:extLst xmlns:a="http://schemas.openxmlformats.org/drawingml/2006/main">
              <a:ext uri="{FF2B5EF4-FFF2-40B4-BE49-F238E27FC236}">
                <a16:creationId xmlns:a16="http://schemas.microsoft.com/office/drawing/2014/main" id="{4FBE0ACC-BB2D-4D34-AB52-1BA4A969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shape-65">
            <a:extLst xmlns:a="http://schemas.openxmlformats.org/drawingml/2006/main">
              <a:ext uri="{FF2B5EF4-FFF2-40B4-BE49-F238E27FC236}">
                <a16:creationId xmlns:a16="http://schemas.microsoft.com/office/drawing/2014/main" id="{A1EF02C3-ED59-47D5-B463-8813F4C8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rPr>
              <a:t>更新 / 撤销</a:t>
            </a:r>
          </a:p>
        </p:txBody>
      </p:sp>
      <p:sp>
        <p:nvSpPr>
          <p:cNvPr id="71" name="line-66">
            <a:extLst xmlns:a="http://schemas.openxmlformats.org/drawingml/2006/main">
              <a:ext uri="{FF2B5EF4-FFF2-40B4-BE49-F238E27FC236}">
                <a16:creationId xmlns:a16="http://schemas.microsoft.com/office/drawing/2014/main" id="{CC4A3161-B0B9-4680-AC4F-0DF5B21E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38625"/>
            <a:ext cx="0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0758A"/>
            </a:solidFill>
            <a:prstDash val="solid"/>
          </a:ln>
        </p:spPr>
      </p:sp>
      <p:sp>
        <p:nvSpPr>
          <p:cNvPr id="72" name="line-67">
            <a:extLst xmlns:a="http://schemas.openxmlformats.org/drawingml/2006/main">
              <a:ext uri="{FF2B5EF4-FFF2-40B4-BE49-F238E27FC236}">
                <a16:creationId xmlns:a16="http://schemas.microsoft.com/office/drawing/2014/main" id="{9ACF4393-B665-42CA-98ED-F1E80C9C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38625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0758A"/>
            </a:solidFill>
            <a:prstDash val="solid"/>
          </a:ln>
        </p:spPr>
      </p:sp>
      <p:sp>
        <p:nvSpPr>
          <p:cNvPr id="73" name="shape-68">
            <a:extLst xmlns:a="http://schemas.openxmlformats.org/drawingml/2006/main">
              <a:ext uri="{FF2B5EF4-FFF2-40B4-BE49-F238E27FC236}">
                <a16:creationId xmlns:a16="http://schemas.microsoft.com/office/drawing/2014/main" id="{140A7F4C-21BD-4DE7-A406-B28D2886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229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shape-69">
            <a:extLst xmlns:a="http://schemas.openxmlformats.org/drawingml/2006/main">
              <a:ext uri="{FF2B5EF4-FFF2-40B4-BE49-F238E27FC236}">
                <a16:creationId xmlns:a16="http://schemas.microsoft.com/office/drawing/2014/main" id="{BBDA60D9-8C11-44CC-982A-AFAC8B40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790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shape-70">
            <a:extLst xmlns:a="http://schemas.openxmlformats.org/drawingml/2006/main">
              <a:ext uri="{FF2B5EF4-FFF2-40B4-BE49-F238E27FC236}">
                <a16:creationId xmlns:a16="http://schemas.microsoft.com/office/drawing/2014/main" id="{2D1E1E2D-38DE-460F-81C6-7E91D459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2912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rPr>
              <a:t>生成子任务后的K/V</a:t>
            </a:r>
          </a:p>
        </p:txBody>
      </p:sp>
      <p:sp>
        <p:nvSpPr>
          <p:cNvPr id="78" name="shape-71">
            <a:extLst xmlns:a="http://schemas.openxmlformats.org/drawingml/2006/main">
              <a:ext uri="{FF2B5EF4-FFF2-40B4-BE49-F238E27FC236}">
                <a16:creationId xmlns:a16="http://schemas.microsoft.com/office/drawing/2014/main" id="{13548F7B-4ECA-4DC9-A7FA-27243F5C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05625"/>
            <a:ext cx="2095500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任务指令</a:t>
            </a:r>
          </a:p>
        </p:txBody>
      </p:sp>
      <p:sp>
        <p:nvSpPr>
          <p:cNvPr id="79" name="shape-72">
            <a:extLst xmlns:a="http://schemas.openxmlformats.org/drawingml/2006/main">
              <a:ext uri="{FF2B5EF4-FFF2-40B4-BE49-F238E27FC236}">
                <a16:creationId xmlns:a16="http://schemas.microsoft.com/office/drawing/2014/main" id="{85EA40F3-E537-4866-91EF-C5F493A2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905625"/>
            <a:ext cx="319087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当前与近期观测</a:t>
            </a:r>
          </a:p>
        </p:txBody>
      </p:sp>
      <p:sp>
        <p:nvSpPr>
          <p:cNvPr id="80" name="shape-73">
            <a:extLst xmlns:a="http://schemas.openxmlformats.org/drawingml/2006/main">
              <a:ext uri="{FF2B5EF4-FFF2-40B4-BE49-F238E27FC236}">
                <a16:creationId xmlns:a16="http://schemas.microsoft.com/office/drawing/2014/main" id="{47D40B24-5CEF-48A6-917A-0546AC15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905625"/>
            <a:ext cx="3667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BDFF1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目录与选中正文</a:t>
            </a:r>
          </a:p>
        </p:txBody>
      </p:sp>
      <p:sp>
        <p:nvSpPr>
          <p:cNvPr id="81" name="line-74">
            <a:extLst xmlns:a="http://schemas.openxmlformats.org/drawingml/2006/main">
              <a:ext uri="{FF2B5EF4-FFF2-40B4-BE49-F238E27FC236}">
                <a16:creationId xmlns:a16="http://schemas.microsoft.com/office/drawing/2014/main" id="{1BBB03E5-D171-47F8-B04B-B5CF385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5055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66D72"/>
            </a:solidFill>
            <a:prstDash val="solid"/>
          </a:ln>
        </p:spPr>
      </p:sp>
      <p:sp>
        <p:nvSpPr>
          <p:cNvPr id="82" name="line-75">
            <a:extLst xmlns:a="http://schemas.openxmlformats.org/drawingml/2006/main">
              <a:ext uri="{FF2B5EF4-FFF2-40B4-BE49-F238E27FC236}">
                <a16:creationId xmlns:a16="http://schemas.microsoft.com/office/drawing/2014/main" id="{D75D7B5B-1EEB-451E-BF16-AD27FEC7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5055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66D72"/>
            </a:solidFill>
            <a:prstDash val="solid"/>
          </a:ln>
        </p:spPr>
      </p:sp>
      <p:sp>
        <p:nvSpPr>
          <p:cNvPr id="83" name="line-76">
            <a:extLst xmlns:a="http://schemas.openxmlformats.org/drawingml/2006/main">
              <a:ext uri="{FF2B5EF4-FFF2-40B4-BE49-F238E27FC236}">
                <a16:creationId xmlns:a16="http://schemas.microsoft.com/office/drawing/2014/main" id="{D443D3F9-6242-4CBA-BF69-0259155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5055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66D72"/>
            </a:solidFill>
            <a:prstDash val="solid"/>
          </a:ln>
        </p:spPr>
      </p:sp>
      <p:sp>
        <p:nvSpPr>
          <p:cNvPr id="84" name="line-77">
            <a:extLst xmlns:a="http://schemas.openxmlformats.org/drawingml/2006/main">
              <a:ext uri="{FF2B5EF4-FFF2-40B4-BE49-F238E27FC236}">
                <a16:creationId xmlns:a16="http://schemas.microsoft.com/office/drawing/2014/main" id="{81736F40-0DF8-4105-8C99-406C569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505575"/>
            <a:ext cx="6734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66D72"/>
            </a:solidFill>
            <a:prstDash val="solid"/>
          </a:ln>
        </p:spPr>
      </p:sp>
      <p:sp>
        <p:nvSpPr>
          <p:cNvPr id="85" name="shape-78">
            <a:extLst xmlns:a="http://schemas.openxmlformats.org/drawingml/2006/main">
              <a:ext uri="{FF2B5EF4-FFF2-40B4-BE49-F238E27FC236}">
                <a16:creationId xmlns:a16="http://schemas.microsoft.com/office/drawing/2014/main" id="{B9B46269-7003-4CF9-BA31-D576FBE4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6496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shape-79">
            <a:extLst xmlns:a="http://schemas.openxmlformats.org/drawingml/2006/main">
              <a:ext uri="{FF2B5EF4-FFF2-40B4-BE49-F238E27FC236}">
                <a16:creationId xmlns:a16="http://schemas.microsoft.com/office/drawing/2014/main" id="{36477932-9204-424D-9F3B-714B3DE5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6105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8" name="shape-80">
            <a:extLst xmlns:a="http://schemas.openxmlformats.org/drawingml/2006/main">
              <a:ext uri="{FF2B5EF4-FFF2-40B4-BE49-F238E27FC236}">
                <a16:creationId xmlns:a16="http://schemas.microsoft.com/office/drawing/2014/main" id="{18F5AC83-1E2F-4C37-B8BC-5DE9765B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33412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rPr>
              <a:t>连续动作</a:t>
            </a:r>
          </a:p>
        </p:txBody>
      </p:sp>
      <p:sp>
        <p:nvSpPr>
          <p:cNvPr id="89" name="shape-81">
            <a:extLst xmlns:a="http://schemas.openxmlformats.org/drawingml/2006/main">
              <a:ext uri="{FF2B5EF4-FFF2-40B4-BE49-F238E27FC236}">
                <a16:creationId xmlns:a16="http://schemas.microsoft.com/office/drawing/2014/main" id="{585E410E-D73E-43DB-856B-2DF5B70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115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shape-82">
            <a:extLst xmlns:a="http://schemas.openxmlformats.org/drawingml/2006/main">
              <a:ext uri="{FF2B5EF4-FFF2-40B4-BE49-F238E27FC236}">
                <a16:creationId xmlns:a16="http://schemas.microsoft.com/office/drawing/2014/main" id="{3D637317-6DCE-4603-8948-B3B77CE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3531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line-83">
            <a:extLst xmlns:a="http://schemas.openxmlformats.org/drawingml/2006/main">
              <a:ext uri="{FF2B5EF4-FFF2-40B4-BE49-F238E27FC236}">
                <a16:creationId xmlns:a16="http://schemas.microsoft.com/office/drawing/2014/main" id="{2EA717E9-694D-4847-9C70-E101F2A7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9157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3D6D8"/>
            </a:solidFill>
            <a:prstDash val="solid"/>
          </a:ln>
        </p:spPr>
      </p:sp>
      <p:sp>
        <p:nvSpPr>
          <p:cNvPr id="93" name="shape-84">
            <a:extLst xmlns:a="http://schemas.openxmlformats.org/drawingml/2006/main">
              <a:ext uri="{FF2B5EF4-FFF2-40B4-BE49-F238E27FC236}">
                <a16:creationId xmlns:a16="http://schemas.microsoft.com/office/drawing/2014/main" id="{0C6E27B1-D234-4C62-9223-36A88570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773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c  基于执行后果的读写优化</a:t>
            </a:r>
          </a:p>
        </p:txBody>
      </p:sp>
      <p:sp>
        <p:nvSpPr>
          <p:cNvPr id="94" name="shape-85">
            <a:extLst xmlns:a="http://schemas.openxmlformats.org/drawingml/2006/main">
              <a:ext uri="{FF2B5EF4-FFF2-40B4-BE49-F238E27FC236}">
                <a16:creationId xmlns:a16="http://schemas.microsoft.com/office/drawing/2014/main" id="{C6463FF5-0964-429E-8F90-C1D3B127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72625"/>
            <a:ext cx="3667125" cy="100965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EBDFF1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同一起点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比较合法读写</a:t>
            </a:r>
          </a:p>
        </p:txBody>
      </p:sp>
      <p:sp>
        <p:nvSpPr>
          <p:cNvPr id="95" name="shape-86">
            <a:extLst xmlns:a="http://schemas.openxmlformats.org/drawingml/2006/main">
              <a:ext uri="{FF2B5EF4-FFF2-40B4-BE49-F238E27FC236}">
                <a16:creationId xmlns:a16="http://schemas.microsoft.com/office/drawing/2014/main" id="{AF1141EB-FADA-43F2-BB6B-9BB11C52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9572625"/>
            <a:ext cx="3667125" cy="100965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重复续跑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评价相对效用</a:t>
            </a:r>
          </a:p>
        </p:txBody>
      </p:sp>
      <p:sp>
        <p:nvSpPr>
          <p:cNvPr id="96" name="shape-87">
            <a:extLst xmlns:a="http://schemas.openxmlformats.org/drawingml/2006/main">
              <a:ext uri="{FF2B5EF4-FFF2-40B4-BE49-F238E27FC236}">
                <a16:creationId xmlns:a16="http://schemas.microsoft.com/office/drawing/2014/main" id="{4C690C94-8932-4AFD-8097-E27EED1B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572625"/>
            <a:ext cx="4238625" cy="100965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FAF0C8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可信偏好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辅助更新共享VLM</a:t>
            </a:r>
          </a:p>
        </p:txBody>
      </p:sp>
      <p:sp>
        <p:nvSpPr>
          <p:cNvPr id="99" name="shape-88">
            <a:extLst xmlns:a="http://schemas.openxmlformats.org/drawingml/2006/main">
              <a:ext uri="{FF2B5EF4-FFF2-40B4-BE49-F238E27FC236}">
                <a16:creationId xmlns:a16="http://schemas.microsoft.com/office/drawing/2014/main" id="{9CDFA56D-6260-4427-A420-DB523B32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93445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b、c 为拟研究方案</a:t>
            </a:r>
          </a:p>
        </p:txBody>
      </p:sp>
    </p:spTree>
    <p:extLst>
      <p:ext uri="{BB962C8B-B14F-4D97-AF65-F5344CB8AC3E}">
        <p14:creationId xmlns:p14="http://schemas.microsoft.com/office/powerpoint/2010/main" val="1489084819"/>
      </p:ext>
    </p:extLst>
  </p:cSld>
</p:sld>
</file>

<file path=ppt/slides/append1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02396B-5299-411E-BF60-131B85662FA7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1001375" y="79152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7E9817-6366-47AF-A13E-95A3B89BDBDE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334250" y="79152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E13EBF-4B72-417B-852F-DA6817A253B6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3667125" y="79152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DBC83B-46DD-4A41-8910-EF9DF585EDC1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0810875" y="50292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346C9-ACDC-4E5B-AAC2-3D3AFAFFCD9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810875" y="33909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4661D-F642-4C47-B874-2B2F52EBE13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19500" y="50292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8B6A9B"/>
            </a:solidFill>
            <a:prstDash val="dash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DE5AE-EC38-43FB-BABA-3C6976FDED6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19500" y="33909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8B6A9B"/>
            </a:solidFill>
            <a:prstDash val="dash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4F469-4FBA-4A93-932A-30F0E5FA929E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524875" y="5029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732BD-B33D-44EC-B951-811E567C10C8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238875" y="5029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53658-A204-4F6D-B713-E634038C089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24875" y="3390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A118D-7AFD-4AC8-8A7A-68D8CD21E48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238875" y="3390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0758A"/>
            </a:solidFill>
            <a:prstDash val="solid"/>
            <a:tailEnd type="triangle" w="med" len="med"/>
          </a:ln>
        </p:spPr>
      </p:cxnSp>
      <p:sp>
        <p:nvSpPr>
          <p:cNvPr id="49" name="shape-89">
            <a:extLst xmlns:a="http://schemas.openxmlformats.org/drawingml/2006/main">
              <a:ext uri="{FF2B5EF4-FFF2-40B4-BE49-F238E27FC236}">
                <a16:creationId xmlns:a16="http://schemas.microsoft.com/office/drawing/2014/main" id="{E7FC1143-D9F3-4762-BB2B-98B5ECE0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图3.2  历史依赖诊断与分阶段验证</a:t>
            </a:r>
          </a:p>
        </p:txBody>
      </p:sp>
      <p:sp>
        <p:nvSpPr>
          <p:cNvPr id="3" name="shape-91">
            <a:extLst xmlns:a="http://schemas.openxmlformats.org/drawingml/2006/main">
              <a:ext uri="{FF2B5EF4-FFF2-40B4-BE49-F238E27FC236}">
                <a16:creationId xmlns:a16="http://schemas.microsoft.com/office/drawing/2014/main" id="{45DC1593-4B7F-4637-9E04-41DA6A58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7635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a  跨步骤记忆的受控诊断</a:t>
            </a:r>
          </a:p>
        </p:txBody>
      </p:sp>
      <p:sp>
        <p:nvSpPr>
          <p:cNvPr id="4" name="shape-92">
            <a:extLst xmlns:a="http://schemas.openxmlformats.org/drawingml/2006/main">
              <a:ext uri="{FF2B5EF4-FFF2-40B4-BE49-F238E27FC236}">
                <a16:creationId xmlns:a16="http://schemas.microsoft.com/office/drawing/2014/main" id="{5215A344-8436-4C76-AACD-6750A88A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rPr>
              <a:t>更早执行历史</a:t>
            </a:r>
          </a:p>
        </p:txBody>
      </p:sp>
      <p:sp>
        <p:nvSpPr>
          <p:cNvPr id="5" name="shape-93">
            <a:extLst xmlns:a="http://schemas.openxmlformats.org/drawingml/2006/main">
              <a:ext uri="{FF2B5EF4-FFF2-40B4-BE49-F238E27FC236}">
                <a16:creationId xmlns:a16="http://schemas.microsoft.com/office/drawing/2014/main" id="{60B1FFFE-BE16-4D68-973E-A3CFB372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52625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rPr>
              <a:t>近期窗口与其他输入匹配</a:t>
            </a:r>
          </a:p>
        </p:txBody>
      </p:sp>
      <p:sp>
        <p:nvSpPr>
          <p:cNvPr id="6" name="shape-94">
            <a:extLst xmlns:a="http://schemas.openxmlformats.org/drawingml/2006/main">
              <a:ext uri="{FF2B5EF4-FFF2-40B4-BE49-F238E27FC236}">
                <a16:creationId xmlns:a16="http://schemas.microsoft.com/office/drawing/2014/main" id="{638794FA-4D3A-4924-B3B6-B2D7FCF1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952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rPr>
              <a:t>当前应采取的操作</a:t>
            </a:r>
          </a:p>
        </p:txBody>
      </p:sp>
      <p:sp>
        <p:nvSpPr>
          <p:cNvPr id="7" name="line-95">
            <a:extLst xmlns:a="http://schemas.openxmlformats.org/drawingml/2006/main">
              <a:ext uri="{FF2B5EF4-FFF2-40B4-BE49-F238E27FC236}">
                <a16:creationId xmlns:a16="http://schemas.microsoft.com/office/drawing/2014/main" id="{D71D8DCF-F661-4EB8-8049-02B7383A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05075"/>
            <a:ext cx="0" cy="3114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8B6A9B"/>
            </a:solidFill>
            <a:prstDash val="dash"/>
          </a:ln>
        </p:spPr>
      </p:sp>
      <p:sp>
        <p:nvSpPr>
          <p:cNvPr id="8" name="shape-96">
            <a:extLst xmlns:a="http://schemas.openxmlformats.org/drawingml/2006/main">
              <a:ext uri="{FF2B5EF4-FFF2-40B4-BE49-F238E27FC236}">
                <a16:creationId xmlns:a16="http://schemas.microsoft.com/office/drawing/2014/main" id="{454AF08E-AE7D-4459-B526-A5A877D8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304800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9DF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A尚未核验</a:t>
            </a:r>
          </a:p>
        </p:txBody>
      </p:sp>
      <p:sp>
        <p:nvSpPr>
          <p:cNvPr id="9" name="shape-97">
            <a:extLst xmlns:a="http://schemas.openxmlformats.org/drawingml/2006/main">
              <a:ext uri="{FF2B5EF4-FFF2-40B4-BE49-F238E27FC236}">
                <a16:creationId xmlns:a16="http://schemas.microsoft.com/office/drawing/2014/main" id="{124085C7-F991-47BE-95D7-A6F23A41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304800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BDFF1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A已经核验</a:t>
            </a:r>
          </a:p>
        </p:txBody>
      </p:sp>
      <p:sp>
        <p:nvSpPr>
          <p:cNvPr id="10" name="shape-98">
            <a:extLst xmlns:a="http://schemas.openxmlformats.org/drawingml/2006/main">
              <a:ext uri="{FF2B5EF4-FFF2-40B4-BE49-F238E27FC236}">
                <a16:creationId xmlns:a16="http://schemas.microsoft.com/office/drawing/2014/main" id="{7017AAB4-A60D-4FD8-B6E8-5581CA53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1952625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视觉观测</a:t>
            </a:r>
          </a:p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本体状态</a:t>
            </a:r>
          </a:p>
        </p:txBody>
      </p:sp>
      <p:sp>
        <p:nvSpPr>
          <p:cNvPr id="11" name="shape-99">
            <a:extLst xmlns:a="http://schemas.openxmlformats.org/drawingml/2006/main">
              <a:ext uri="{FF2B5EF4-FFF2-40B4-BE49-F238E27FC236}">
                <a16:creationId xmlns:a16="http://schemas.microsoft.com/office/drawing/2014/main" id="{9ED66B81-596E-4D26-9377-E28DDE6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050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t−2</a:t>
            </a:r>
          </a:p>
        </p:txBody>
      </p:sp>
      <p:sp>
        <p:nvSpPr>
          <p:cNvPr id="12" name="shape-100">
            <a:extLst xmlns:a="http://schemas.openxmlformats.org/drawingml/2006/main">
              <a:ext uri="{FF2B5EF4-FFF2-40B4-BE49-F238E27FC236}">
                <a16:creationId xmlns:a16="http://schemas.microsoft.com/office/drawing/2014/main" id="{2CAFB931-BB67-4633-95EB-78B35B59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1952625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视觉观测</a:t>
            </a:r>
          </a:p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本体状态</a:t>
            </a:r>
          </a:p>
        </p:txBody>
      </p:sp>
      <p:sp>
        <p:nvSpPr>
          <p:cNvPr id="14" name="shape-101">
            <a:extLst xmlns:a="http://schemas.openxmlformats.org/drawingml/2006/main">
              <a:ext uri="{FF2B5EF4-FFF2-40B4-BE49-F238E27FC236}">
                <a16:creationId xmlns:a16="http://schemas.microsoft.com/office/drawing/2014/main" id="{2D694A56-8FA1-4D77-86B2-CE24E699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t−1</a:t>
            </a:r>
          </a:p>
        </p:txBody>
      </p:sp>
      <p:sp>
        <p:nvSpPr>
          <p:cNvPr id="15" name="shape-102">
            <a:extLst xmlns:a="http://schemas.openxmlformats.org/drawingml/2006/main">
              <a:ext uri="{FF2B5EF4-FFF2-40B4-BE49-F238E27FC236}">
                <a16:creationId xmlns:a16="http://schemas.microsoft.com/office/drawing/2014/main" id="{9D599CA7-6ADE-4012-9B72-4C4A9E91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952625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视觉观测</a:t>
            </a:r>
          </a:p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本体状态</a:t>
            </a:r>
          </a:p>
        </p:txBody>
      </p:sp>
      <p:sp>
        <p:nvSpPr>
          <p:cNvPr id="17" name="shape-103">
            <a:extLst xmlns:a="http://schemas.openxmlformats.org/drawingml/2006/main">
              <a:ext uri="{FF2B5EF4-FFF2-40B4-BE49-F238E27FC236}">
                <a16:creationId xmlns:a16="http://schemas.microsoft.com/office/drawing/2014/main" id="{32655297-1921-4424-B41C-CC1264A3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050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t</a:t>
            </a:r>
          </a:p>
        </p:txBody>
      </p:sp>
      <p:sp>
        <p:nvSpPr>
          <p:cNvPr id="18" name="shape-104">
            <a:extLst xmlns:a="http://schemas.openxmlformats.org/drawingml/2006/main">
              <a:ext uri="{FF2B5EF4-FFF2-40B4-BE49-F238E27FC236}">
                <a16:creationId xmlns:a16="http://schemas.microsoft.com/office/drawing/2014/main" id="{42A34B3C-2F03-4D2F-B9F9-0CCE963F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1952625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视觉观测</a:t>
            </a:r>
          </a:p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本体状态</a:t>
            </a:r>
          </a:p>
        </p:txBody>
      </p:sp>
      <p:sp>
        <p:nvSpPr>
          <p:cNvPr id="19" name="shape-105">
            <a:extLst xmlns:a="http://schemas.openxmlformats.org/drawingml/2006/main">
              <a:ext uri="{FF2B5EF4-FFF2-40B4-BE49-F238E27FC236}">
                <a16:creationId xmlns:a16="http://schemas.microsoft.com/office/drawing/2014/main" id="{0FD09B35-3DB3-4D74-A44A-37015613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1952625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视觉观测</a:t>
            </a:r>
          </a:p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本体状态</a:t>
            </a:r>
          </a:p>
        </p:txBody>
      </p:sp>
      <p:sp>
        <p:nvSpPr>
          <p:cNvPr id="21" name="shape-106">
            <a:extLst xmlns:a="http://schemas.openxmlformats.org/drawingml/2006/main">
              <a:ext uri="{FF2B5EF4-FFF2-40B4-BE49-F238E27FC236}">
                <a16:creationId xmlns:a16="http://schemas.microsoft.com/office/drawing/2014/main" id="{CFF7BFA4-9FF8-484D-853F-26773B0A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1952625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视觉观测</a:t>
            </a:r>
          </a:p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本体状态</a:t>
            </a:r>
          </a:p>
        </p:txBody>
      </p:sp>
      <p:sp>
        <p:nvSpPr>
          <p:cNvPr id="23" name="shape-107">
            <a:extLst xmlns:a="http://schemas.openxmlformats.org/drawingml/2006/main">
              <a:ext uri="{FF2B5EF4-FFF2-40B4-BE49-F238E27FC236}">
                <a16:creationId xmlns:a16="http://schemas.microsoft.com/office/drawing/2014/main" id="{126096E0-3D22-4E61-B0DB-F60204A1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95600"/>
            <a:ext cx="31432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下一步处理A</a:t>
            </a:r>
          </a:p>
        </p:txBody>
      </p:sp>
      <p:sp>
        <p:nvSpPr>
          <p:cNvPr id="24" name="shape-108">
            <a:extLst xmlns:a="http://schemas.openxmlformats.org/drawingml/2006/main">
              <a:ext uri="{FF2B5EF4-FFF2-40B4-BE49-F238E27FC236}">
                <a16:creationId xmlns:a16="http://schemas.microsoft.com/office/drawing/2014/main" id="{530ED42C-3414-4B86-AB2C-1C1C14B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33900"/>
            <a:ext cx="31432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下一步处理B</a:t>
            </a:r>
          </a:p>
        </p:txBody>
      </p:sp>
      <p:sp>
        <p:nvSpPr>
          <p:cNvPr id="29" name="shape-109">
            <a:extLst xmlns:a="http://schemas.openxmlformats.org/drawingml/2006/main">
              <a:ext uri="{FF2B5EF4-FFF2-40B4-BE49-F238E27FC236}">
                <a16:creationId xmlns:a16="http://schemas.microsoft.com/office/drawing/2014/main" id="{862606B3-26DD-44CC-9F49-965B647C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909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rPr>
              <a:t>＝</a:t>
            </a:r>
          </a:p>
        </p:txBody>
      </p:sp>
      <p:sp>
        <p:nvSpPr>
          <p:cNvPr id="30" name="shape-110">
            <a:extLst xmlns:a="http://schemas.openxmlformats.org/drawingml/2006/main">
              <a:ext uri="{FF2B5EF4-FFF2-40B4-BE49-F238E27FC236}">
                <a16:creationId xmlns:a16="http://schemas.microsoft.com/office/drawing/2014/main" id="{ED4F1519-AA55-4580-8E4D-D3DE15EF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rPr>
              <a:t>＝</a:t>
            </a:r>
          </a:p>
        </p:txBody>
      </p:sp>
      <p:sp>
        <p:nvSpPr>
          <p:cNvPr id="31" name="shape-111">
            <a:extLst xmlns:a="http://schemas.openxmlformats.org/drawingml/2006/main">
              <a:ext uri="{FF2B5EF4-FFF2-40B4-BE49-F238E27FC236}">
                <a16:creationId xmlns:a16="http://schemas.microsoft.com/office/drawing/2014/main" id="{2808CB4A-EA73-40D3-AE81-D1AA2413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909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rPr>
              <a:t>＝</a:t>
            </a:r>
          </a:p>
        </p:txBody>
      </p:sp>
      <p:sp>
        <p:nvSpPr>
          <p:cNvPr id="32" name="shape-112">
            <a:extLst xmlns:a="http://schemas.openxmlformats.org/drawingml/2006/main">
              <a:ext uri="{FF2B5EF4-FFF2-40B4-BE49-F238E27FC236}">
                <a16:creationId xmlns:a16="http://schemas.microsoft.com/office/drawing/2014/main" id="{293ED1F9-E2A6-4323-897A-B50324EA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rPr>
              <a:t>关键事件位于窗口之前</a:t>
            </a:r>
          </a:p>
        </p:txBody>
      </p:sp>
      <p:sp>
        <p:nvSpPr>
          <p:cNvPr id="33" name="shape-113">
            <a:extLst xmlns:a="http://schemas.openxmlformats.org/drawingml/2006/main">
              <a:ext uri="{FF2B5EF4-FFF2-40B4-BE49-F238E27FC236}">
                <a16:creationId xmlns:a16="http://schemas.microsoft.com/office/drawing/2014/main" id="{DAC0A591-62C7-427D-AB6A-4D0A4BE6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81675"/>
            <a:ext cx="795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排除位置、计时和目录长度等进度捷径</a:t>
            </a:r>
          </a:p>
        </p:txBody>
      </p:sp>
      <p:sp>
        <p:nvSpPr>
          <p:cNvPr id="34" name="line-114">
            <a:extLst xmlns:a="http://schemas.openxmlformats.org/drawingml/2006/main">
              <a:ext uri="{FF2B5EF4-FFF2-40B4-BE49-F238E27FC236}">
                <a16:creationId xmlns:a16="http://schemas.microsoft.com/office/drawing/2014/main" id="{790DF5D3-B7F8-4D8C-A8C4-B870FBF1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3D6D8"/>
            </a:solidFill>
            <a:prstDash val="solid"/>
          </a:ln>
        </p:spPr>
      </p:sp>
      <p:sp>
        <p:nvSpPr>
          <p:cNvPr id="35" name="shape-115">
            <a:extLst xmlns:a="http://schemas.openxmlformats.org/drawingml/2006/main">
              <a:ext uri="{FF2B5EF4-FFF2-40B4-BE49-F238E27FC236}">
                <a16:creationId xmlns:a16="http://schemas.microsoft.com/office/drawing/2014/main" id="{CD286830-5FF5-4CEB-8A30-A7FF92D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b  分阶段形成验证证据</a:t>
            </a:r>
          </a:p>
        </p:txBody>
      </p:sp>
      <p:sp>
        <p:nvSpPr>
          <p:cNvPr id="36" name="shape-116">
            <a:extLst xmlns:a="http://schemas.openxmlformats.org/drawingml/2006/main">
              <a:ext uri="{FF2B5EF4-FFF2-40B4-BE49-F238E27FC236}">
                <a16:creationId xmlns:a16="http://schemas.microsoft.com/office/drawing/2014/main" id="{3CC9CD21-DF3D-4F67-B349-4A67169A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0"/>
            <a:ext cx="3095625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1  接口与技能</a:t>
            </a:r>
          </a:p>
        </p:txBody>
      </p:sp>
      <p:sp>
        <p:nvSpPr>
          <p:cNvPr id="37" name="shape-117">
            <a:extLst xmlns:a="http://schemas.openxmlformats.org/drawingml/2006/main">
              <a:ext uri="{FF2B5EF4-FFF2-40B4-BE49-F238E27FC236}">
                <a16:creationId xmlns:a16="http://schemas.microsoft.com/office/drawing/2014/main" id="{5800E6CF-5AC5-40E9-B168-65C6D8DE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524750"/>
            <a:ext cx="3095625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EBDFF1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2  记忆与基线</a:t>
            </a:r>
          </a:p>
        </p:txBody>
      </p:sp>
      <p:sp>
        <p:nvSpPr>
          <p:cNvPr id="38" name="shape-118">
            <a:extLst xmlns:a="http://schemas.openxmlformats.org/drawingml/2006/main">
              <a:ext uri="{FF2B5EF4-FFF2-40B4-BE49-F238E27FC236}">
                <a16:creationId xmlns:a16="http://schemas.microsoft.com/office/drawing/2014/main" id="{636B5F00-87A8-4259-8F70-76923251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524750"/>
            <a:ext cx="3095625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3  读写评价</a:t>
            </a:r>
          </a:p>
        </p:txBody>
      </p:sp>
      <p:sp>
        <p:nvSpPr>
          <p:cNvPr id="39" name="shape-119">
            <a:extLst xmlns:a="http://schemas.openxmlformats.org/drawingml/2006/main">
              <a:ext uri="{FF2B5EF4-FFF2-40B4-BE49-F238E27FC236}">
                <a16:creationId xmlns:a16="http://schemas.microsoft.com/office/drawing/2014/main" id="{86D80C16-15B1-421D-9249-5329EB7D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524750"/>
            <a:ext cx="3095625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AF0C8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4  综合评测</a:t>
            </a:r>
          </a:p>
        </p:txBody>
      </p:sp>
      <p:sp>
        <p:nvSpPr>
          <p:cNvPr id="43" name="shape-120">
            <a:extLst xmlns:a="http://schemas.openxmlformats.org/drawingml/2006/main">
              <a:ext uri="{FF2B5EF4-FFF2-40B4-BE49-F238E27FC236}">
                <a16:creationId xmlns:a16="http://schemas.microsoft.com/office/drawing/2014/main" id="{6F01FD54-EA47-422B-BA2A-214A2C7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91550"/>
            <a:ext cx="3095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高层输出合法</a:t>
            </a:r>
          </a:p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低层技能可复测</a:t>
            </a:r>
          </a:p>
        </p:txBody>
      </p:sp>
      <p:sp>
        <p:nvSpPr>
          <p:cNvPr id="44" name="shape-121">
            <a:extLst xmlns:a="http://schemas.openxmlformats.org/drawingml/2006/main">
              <a:ext uri="{FF2B5EF4-FFF2-40B4-BE49-F238E27FC236}">
                <a16:creationId xmlns:a16="http://schemas.microsoft.com/office/drawing/2014/main" id="{1B70AF03-C628-42C2-B354-37572AE7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591550"/>
            <a:ext cx="3095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历史通道消融</a:t>
            </a:r>
          </a:p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规则 / SFT / 联合对照</a:t>
            </a:r>
          </a:p>
        </p:txBody>
      </p:sp>
      <p:sp>
        <p:nvSpPr>
          <p:cNvPr id="45" name="shape-122">
            <a:extLst xmlns:a="http://schemas.openxmlformats.org/drawingml/2006/main">
              <a:ext uri="{FF2B5EF4-FFF2-40B4-BE49-F238E27FC236}">
                <a16:creationId xmlns:a16="http://schemas.microsoft.com/office/drawing/2014/main" id="{372801CE-B5EE-47F9-86AF-6403E107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91550"/>
            <a:ext cx="3095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恢复重复性</a:t>
            </a:r>
          </a:p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效用标签可靠性</a:t>
            </a:r>
          </a:p>
        </p:txBody>
      </p:sp>
      <p:sp>
        <p:nvSpPr>
          <p:cNvPr id="46" name="shape-123">
            <a:extLst xmlns:a="http://schemas.openxmlformats.org/drawingml/2006/main">
              <a:ext uri="{FF2B5EF4-FFF2-40B4-BE49-F238E27FC236}">
                <a16:creationId xmlns:a16="http://schemas.microsoft.com/office/drawing/2014/main" id="{5702EBC4-C652-43E5-B777-70BD8852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8591550"/>
            <a:ext cx="3095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同数据辅助项消融</a:t>
            </a:r>
          </a:p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等物理预算比较</a:t>
            </a:r>
          </a:p>
        </p:txBody>
      </p:sp>
      <p:sp>
        <p:nvSpPr>
          <p:cNvPr id="47" name="shape-124">
            <a:extLst xmlns:a="http://schemas.openxmlformats.org/drawingml/2006/main">
              <a:ext uri="{FF2B5EF4-FFF2-40B4-BE49-F238E27FC236}">
                <a16:creationId xmlns:a16="http://schemas.microsoft.com/office/drawing/2014/main" id="{9D92AD0B-E7AC-45A2-85F2-4D146D0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协议条件不成立：修正任务或接口</a:t>
            </a:r>
          </a:p>
        </p:txBody>
      </p:sp>
      <p:sp>
        <p:nvSpPr>
          <p:cNvPr id="48" name="shape-125">
            <a:extLst xmlns:a="http://schemas.openxmlformats.org/drawingml/2006/main">
              <a:ext uri="{FF2B5EF4-FFF2-40B4-BE49-F238E27FC236}">
                <a16:creationId xmlns:a16="http://schemas.microsoft.com/office/drawing/2014/main" id="{8741C75E-6DB4-42FA-A22C-86A54BB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000125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效果无改善：报告条件与适用范围</a:t>
            </a:r>
          </a:p>
        </p:txBody>
      </p:sp>
    </p:spTree>
    <p:extLst>
      <p:ext uri="{BB962C8B-B14F-4D97-AF65-F5344CB8AC3E}">
        <p14:creationId xmlns:p14="http://schemas.microsoft.com/office/powerpoint/2010/main" val="1601857314"/>
      </p:ext>
    </p:extLst>
  </p:cSld>
</p:sld>
</file>

<file path=ppt/slides/append1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B2FD0FD-D034-449B-82BE-B77CAC145E50}"/>
              </a:ext>
            </a:extLst>
          </p:cNvPr>
          <p:cNvCxnSpPr>
            <a:stCxn xmlns:a="http://schemas.openxmlformats.org/drawingml/2006/main" id="122" idx="0"/>
            <a:endCxn xmlns:a="http://schemas.openxmlformats.org/drawingml/2006/main" id="123" idx="2"/>
          </p:cNvCxnSpPr>
          <p:nvPr/>
        </p:nvCxnSpPr>
        <p:spPr>
          <a:xfrm xmlns:a="http://schemas.openxmlformats.org/drawingml/2006/main" flipV="1">
            <a:off x="13906500" y="85820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B43EF8A-7692-4275-B5FB-73BF4C34DEFD}"/>
              </a:ext>
            </a:extLst>
          </p:cNvPr>
          <p:cNvCxnSpPr>
            <a:stCxn xmlns:a="http://schemas.openxmlformats.org/drawingml/2006/main" id="11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12382500" y="85820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EA17176-04E2-49ED-82F9-6C6081DD81C9}"/>
              </a:ext>
            </a:extLst>
          </p:cNvPr>
          <p:cNvCxnSpPr>
            <a:stCxn xmlns:a="http://schemas.openxmlformats.org/drawingml/2006/main" id="116" idx="0"/>
            <a:endCxn xmlns:a="http://schemas.openxmlformats.org/drawingml/2006/main" id="117" idx="2"/>
          </p:cNvCxnSpPr>
          <p:nvPr/>
        </p:nvCxnSpPr>
        <p:spPr>
          <a:xfrm xmlns:a="http://schemas.openxmlformats.org/drawingml/2006/main" flipV="1">
            <a:off x="7953375" y="85820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B6BA5E-87DA-44F1-AEF4-D8C2AD2207B0}"/>
              </a:ext>
            </a:extLst>
          </p:cNvPr>
          <p:cNvCxnSpPr>
            <a:stCxn xmlns:a="http://schemas.openxmlformats.org/drawingml/2006/main" id="113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6191250" y="85820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D07629E-6C7A-4C1D-8CAD-36F11F6F6F7B}"/>
              </a:ext>
            </a:extLst>
          </p:cNvPr>
          <p:cNvCxnSpPr>
            <a:stCxn xmlns:a="http://schemas.openxmlformats.org/drawingml/2006/main" id="110" idx="0"/>
            <a:endCxn xmlns:a="http://schemas.openxmlformats.org/drawingml/2006/main" id="111" idx="2"/>
          </p:cNvCxnSpPr>
          <p:nvPr/>
        </p:nvCxnSpPr>
        <p:spPr>
          <a:xfrm xmlns:a="http://schemas.openxmlformats.org/drawingml/2006/main" flipV="1">
            <a:off x="3238500" y="85820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7F488DB-5600-4CA7-A590-FEFC90BF0E93}"/>
              </a:ext>
            </a:extLst>
          </p:cNvPr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762125" y="85820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A15106B-F25E-4C56-AC25-EFD74C47AD41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0648950" y="802005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0758A"/>
            </a:solidFill>
            <a:prstDash val="solid"/>
            <a:tailEnd type="triangle" w="med" len="med"/>
          </a:ln>
        </p:spPr>
      </p:cxnSp>
      <p:cxnSp>
        <p:nvCxn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7DDE086-E42B-4FA2-A0D8-98F3D37D76BE}"/>
              </a:ext>
            </a:extLst>
          </p:cNvPr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5619750" y="71628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3CFE2-BE48-499B-B08F-2F48E5F6879A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192000" y="353377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C8069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2639E-C446-411E-BD64-6DC0E094484B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6172200" y="3810000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0A17B-A16B-4E18-BF6F-9640CD91422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809750" y="3524250"/>
            <a:ext cx="2076450" cy="952500"/>
          </a:xfrm>
          <a:prstGeom xmlns:a="http://schemas.openxmlformats.org/drawingml/2006/main" prst="bentConnector5">
            <a:avLst>
              <a:gd name="adj1" fmla="val 0"/>
              <a:gd name="adj2" fmla="val 24000"/>
              <a:gd name="adj3" fmla="val 88991"/>
            </a:avLst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AB9DF-C780-452E-9DDA-2F46A4FEB9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8458200" y="2914650"/>
            <a:ext cx="12573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C8069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6FB82-DFD4-4377-9880-37E3B207BB3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914650"/>
            <a:ext cx="8382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sp>
        <p:nvSpPr>
          <p:cNvPr id="126" name="shape-126">
            <a:extLst xmlns:a="http://schemas.openxmlformats.org/drawingml/2006/main">
              <a:ext uri="{FF2B5EF4-FFF2-40B4-BE49-F238E27FC236}">
                <a16:creationId xmlns:a16="http://schemas.microsoft.com/office/drawing/2014/main" id="{C52E5CC8-FB8E-484B-ABE2-9C1E39D8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图3.3  阶段回报条件与分路联合训练</a:t>
            </a:r>
          </a:p>
        </p:txBody>
      </p:sp>
      <p:sp>
        <p:nvSpPr>
          <p:cNvPr id="3" name="shape-128">
            <a:extLst xmlns:a="http://schemas.openxmlformats.org/drawingml/2006/main">
              <a:ext uri="{FF2B5EF4-FFF2-40B4-BE49-F238E27FC236}">
                <a16:creationId xmlns:a16="http://schemas.microsoft.com/office/drawing/2014/main" id="{3D3CCA3C-204F-4A15-8BD6-CDB1341A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a  独立价值拟合与阶段质量标签</a:t>
            </a:r>
          </a:p>
        </p:txBody>
      </p:sp>
      <p:sp>
        <p:nvSpPr>
          <p:cNvPr id="4" name="shape-129">
            <a:extLst xmlns:a="http://schemas.openxmlformats.org/drawingml/2006/main">
              <a:ext uri="{FF2B5EF4-FFF2-40B4-BE49-F238E27FC236}">
                <a16:creationId xmlns:a16="http://schemas.microsoft.com/office/drawing/2014/main" id="{0639F83C-73D1-4BBB-8B3B-791C953B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476500" cy="12192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记录的</a:t>
            </a:r>
          </a:p>
          <a:p xmlns:a="http://schemas.openxmlformats.org/drawingml/2006/main">
            <a:pPr algn="ctr">
              <a:def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交互轨迹</a:t>
            </a:r>
          </a:p>
        </p:txBody>
      </p:sp>
      <p:sp>
        <p:nvSpPr>
          <p:cNvPr id="5" name="shape-130">
            <a:extLst xmlns:a="http://schemas.openxmlformats.org/drawingml/2006/main">
              <a:ext uri="{FF2B5EF4-FFF2-40B4-BE49-F238E27FC236}">
                <a16:creationId xmlns:a16="http://schemas.microsoft.com/office/drawing/2014/main" id="{BD198BED-AEE2-4E47-BB4C-E83DE305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95500"/>
            <a:ext cx="4572000" cy="1714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6" name="shape-131">
            <a:extLst xmlns:a="http://schemas.openxmlformats.org/drawingml/2006/main">
              <a:ext uri="{FF2B5EF4-FFF2-40B4-BE49-F238E27FC236}">
                <a16:creationId xmlns:a16="http://schemas.microsoft.com/office/drawing/2014/main" id="{EFAEB35D-8C32-4E4F-AB3B-1FF31B47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09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独立价值模型 ψ</a:t>
            </a:r>
          </a:p>
        </p:txBody>
      </p:sp>
      <p:sp>
        <p:nvSpPr>
          <p:cNvPr id="7" name="shape-132">
            <a:extLst xmlns:a="http://schemas.openxmlformats.org/drawingml/2006/main">
              <a:ext uri="{FF2B5EF4-FFF2-40B4-BE49-F238E27FC236}">
                <a16:creationId xmlns:a16="http://schemas.microsoft.com/office/drawing/2014/main" id="{272B0830-3C93-4189-9B98-EF42D1D4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527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高层头：READ前</a:t>
            </a:r>
          </a:p>
        </p:txBody>
      </p:sp>
      <p:sp>
        <p:nvSpPr>
          <p:cNvPr id="8" name="shape-133">
            <a:extLst xmlns:a="http://schemas.openxmlformats.org/drawingml/2006/main">
              <a:ext uri="{FF2B5EF4-FFF2-40B4-BE49-F238E27FC236}">
                <a16:creationId xmlns:a16="http://schemas.microsoft.com/office/drawing/2014/main" id="{62AB252B-3E00-4F00-A501-94E54907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480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动作头：子任务后、动作前</a:t>
            </a:r>
          </a:p>
        </p:txBody>
      </p:sp>
      <p:sp>
        <p:nvSpPr>
          <p:cNvPr id="10" name="shape-134">
            <a:extLst xmlns:a="http://schemas.openxmlformats.org/drawingml/2006/main">
              <a:ext uri="{FF2B5EF4-FFF2-40B4-BE49-F238E27FC236}">
                <a16:creationId xmlns:a16="http://schemas.microsoft.com/office/drawing/2014/main" id="{6B283CFF-4DCE-46FC-AC74-1550EAF3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4953000" cy="12192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FAF0C8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阶段回报＋边界价值</a:t>
            </a:r>
          </a:p>
          <a:p xmlns:a="http://schemas.openxmlformats.org/drawingml/2006/main">
            <a:pPr algn="ctr">
              <a:def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优势 / 质量标签</a:t>
            </a:r>
          </a:p>
        </p:txBody>
      </p:sp>
      <p:sp>
        <p:nvSpPr>
          <p:cNvPr id="12" name="shape-135">
            <a:extLst xmlns:a="http://schemas.openxmlformats.org/drawingml/2006/main">
              <a:ext uri="{FF2B5EF4-FFF2-40B4-BE49-F238E27FC236}">
                <a16:creationId xmlns:a16="http://schemas.microsoft.com/office/drawing/2014/main" id="{8A9DF054-7178-474A-8A95-1F63745F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62425"/>
            <a:ext cx="45720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MC回报分箱 CE</a:t>
            </a:r>
          </a:p>
        </p:txBody>
      </p:sp>
      <p:sp>
        <p:nvSpPr>
          <p:cNvPr id="15" name="shape-136">
            <a:extLst xmlns:a="http://schemas.openxmlformats.org/drawingml/2006/main">
              <a:ext uri="{FF2B5EF4-FFF2-40B4-BE49-F238E27FC236}">
                <a16:creationId xmlns:a16="http://schemas.microsoft.com/office/drawing/2014/main" id="{AB7C6D65-684D-4C3D-B49B-D80BAF8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00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价值拟合只更新 ψ</a:t>
            </a:r>
          </a:p>
        </p:txBody>
      </p:sp>
      <p:sp>
        <p:nvSpPr>
          <p:cNvPr id="16" name="shape-137">
            <a:extLst xmlns:a="http://schemas.openxmlformats.org/drawingml/2006/main">
              <a:ext uri="{FF2B5EF4-FFF2-40B4-BE49-F238E27FC236}">
                <a16:creationId xmlns:a16="http://schemas.microsoft.com/office/drawing/2014/main" id="{37255172-E3BB-4E40-908C-6F3BDDBE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3514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shape-138">
            <a:extLst xmlns:a="http://schemas.openxmlformats.org/drawingml/2006/main">
              <a:ext uri="{FF2B5EF4-FFF2-40B4-BE49-F238E27FC236}">
                <a16:creationId xmlns:a16="http://schemas.microsoft.com/office/drawing/2014/main" id="{D44828F4-3850-459C-AF24-F052A27D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4105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shape-139">
            <a:extLst xmlns:a="http://schemas.openxmlformats.org/drawingml/2006/main">
              <a:ext uri="{FF2B5EF4-FFF2-40B4-BE49-F238E27FC236}">
                <a16:creationId xmlns:a16="http://schemas.microsoft.com/office/drawing/2014/main" id="{63E765FA-0A37-4F0F-83C6-B60B2500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6720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5C8069"/>
                </a:solidFill>
                <a:latin typeface="Noto Sans CJK SC"/>
                <a:ea typeface="Noto Sans CJK SC"/>
                <a:cs typeface="Noto Sans CJK SC"/>
              </a:rPr>
              <a:t>训练时填入对应条件 Iᴴ / Iᴬ</a:t>
            </a:r>
          </a:p>
        </p:txBody>
      </p:sp>
      <p:sp>
        <p:nvSpPr>
          <p:cNvPr id="20" name="line-140">
            <a:extLst xmlns:a="http://schemas.openxmlformats.org/drawingml/2006/main">
              <a:ext uri="{FF2B5EF4-FFF2-40B4-BE49-F238E27FC236}">
                <a16:creationId xmlns:a16="http://schemas.microsoft.com/office/drawing/2014/main" id="{43A5D95F-9BF1-42DD-87EF-8E99BC61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3D6D8"/>
            </a:solidFill>
            <a:prstDash val="solid"/>
          </a:ln>
        </p:spPr>
      </p:sp>
      <p:sp>
        <p:nvSpPr>
          <p:cNvPr id="21" name="shape-141">
            <a:extLst xmlns:a="http://schemas.openxmlformats.org/drawingml/2006/main">
              <a:ext uri="{FF2B5EF4-FFF2-40B4-BE49-F238E27FC236}">
                <a16:creationId xmlns:a16="http://schemas.microsoft.com/office/drawing/2014/main" id="{E864778C-00C6-4967-860F-FA123789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b  策略前向与梯度分工</a:t>
            </a:r>
          </a:p>
        </p:txBody>
      </p:sp>
      <p:sp>
        <p:nvSpPr>
          <p:cNvPr id="22" name="shape-142">
            <a:extLst xmlns:a="http://schemas.openxmlformats.org/drawingml/2006/main">
              <a:ext uri="{FF2B5EF4-FFF2-40B4-BE49-F238E27FC236}">
                <a16:creationId xmlns:a16="http://schemas.microsoft.com/office/drawing/2014/main" id="{0ACD729F-ED43-4B31-9496-C6A1022C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14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实线：前向 / 标签     红虚线：梯度</a:t>
            </a:r>
          </a:p>
        </p:txBody>
      </p:sp>
      <p:sp>
        <p:nvSpPr>
          <p:cNvPr id="23" name="shape-143">
            <a:extLst xmlns:a="http://schemas.openxmlformats.org/drawingml/2006/main">
              <a:ext uri="{FF2B5EF4-FFF2-40B4-BE49-F238E27FC236}">
                <a16:creationId xmlns:a16="http://schemas.microsoft.com/office/drawing/2014/main" id="{E792C9BC-BD40-4633-BA69-34611758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21907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观测与指令</a:t>
            </a:r>
          </a:p>
          <a:p xmlns:a="http://schemas.openxmlformats.org/drawingml/2006/main">
            <a: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记忆目录</a:t>
            </a:r>
          </a:p>
        </p:txBody>
      </p:sp>
      <p:sp>
        <p:nvSpPr>
          <p:cNvPr id="24" name="shape-144">
            <a:extLst xmlns:a="http://schemas.openxmlformats.org/drawingml/2006/main">
              <a:ext uri="{FF2B5EF4-FFF2-40B4-BE49-F238E27FC236}">
                <a16:creationId xmlns:a16="http://schemas.microsoft.com/office/drawing/2014/main" id="{B68BB83B-CA61-4F8F-8C16-7ACE5DA1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81700"/>
            <a:ext cx="619125" cy="64770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Iᴴ</a:t>
            </a:r>
          </a:p>
        </p:txBody>
      </p:sp>
      <p:sp>
        <p:nvSpPr>
          <p:cNvPr id="25" name="shape-145">
            <a:extLst xmlns:a="http://schemas.openxmlformats.org/drawingml/2006/main">
              <a:ext uri="{FF2B5EF4-FFF2-40B4-BE49-F238E27FC236}">
                <a16:creationId xmlns:a16="http://schemas.microsoft.com/office/drawing/2014/main" id="{32343B3D-A693-426C-B7E0-A3E0D365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981700"/>
            <a:ext cx="95250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READ</a:t>
            </a:r>
          </a:p>
        </p:txBody>
      </p:sp>
      <p:sp>
        <p:nvSpPr>
          <p:cNvPr id="26" name="shape-146">
            <a:extLst xmlns:a="http://schemas.openxmlformats.org/drawingml/2006/main">
              <a:ext uri="{FF2B5EF4-FFF2-40B4-BE49-F238E27FC236}">
                <a16:creationId xmlns:a16="http://schemas.microsoft.com/office/drawing/2014/main" id="{990F1A6D-A8B4-4A61-B2E1-0E6DAAE9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81700"/>
            <a:ext cx="14287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返回正文</a:t>
            </a:r>
          </a:p>
        </p:txBody>
      </p:sp>
      <p:sp>
        <p:nvSpPr>
          <p:cNvPr id="27" name="shape-147">
            <a:extLst xmlns:a="http://schemas.openxmlformats.org/drawingml/2006/main">
              <a:ext uri="{FF2B5EF4-FFF2-40B4-BE49-F238E27FC236}">
                <a16:creationId xmlns:a16="http://schemas.microsoft.com/office/drawing/2014/main" id="{A0B8C28E-90E9-4AEE-9CB1-F9F15565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981700"/>
            <a:ext cx="114300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WRITE</a:t>
            </a:r>
          </a:p>
        </p:txBody>
      </p:sp>
      <p:sp>
        <p:nvSpPr>
          <p:cNvPr id="28" name="shape-148">
            <a:extLst xmlns:a="http://schemas.openxmlformats.org/drawingml/2006/main">
              <a:ext uri="{FF2B5EF4-FFF2-40B4-BE49-F238E27FC236}">
                <a16:creationId xmlns:a16="http://schemas.microsoft.com/office/drawing/2014/main" id="{E72D4F71-CC80-4566-A174-FEC8641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981700"/>
            <a:ext cx="1571625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更新后</a:t>
            </a:r>
          </a:p>
          <a:p xmlns:a="http://schemas.openxmlformats.org/drawingml/2006/main">
            <a:pPr algn="ctr">
              <a:def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可见记忆</a:t>
            </a:r>
          </a:p>
        </p:txBody>
      </p:sp>
      <p:sp>
        <p:nvSpPr>
          <p:cNvPr id="29" name="shape-149">
            <a:extLst xmlns:a="http://schemas.openxmlformats.org/drawingml/2006/main">
              <a:ext uri="{FF2B5EF4-FFF2-40B4-BE49-F238E27FC236}">
                <a16:creationId xmlns:a16="http://schemas.microsoft.com/office/drawing/2014/main" id="{8FFD6EA6-A372-4763-A300-AE05F3CC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81700"/>
            <a:ext cx="14287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9DF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子任务</a:t>
            </a:r>
          </a:p>
        </p:txBody>
      </p:sp>
      <p:sp>
        <p:nvSpPr>
          <p:cNvPr id="30" name="shape-150">
            <a:extLst xmlns:a="http://schemas.openxmlformats.org/drawingml/2006/main">
              <a:ext uri="{FF2B5EF4-FFF2-40B4-BE49-F238E27FC236}">
                <a16:creationId xmlns:a16="http://schemas.microsoft.com/office/drawing/2014/main" id="{863A44B8-2521-49F4-9792-24BC8FB1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81700"/>
            <a:ext cx="571500" cy="6477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Iᴬ</a:t>
            </a:r>
          </a:p>
        </p:txBody>
      </p:sp>
      <p:sp>
        <p:nvSpPr>
          <p:cNvPr id="31" name="shape-151">
            <a:extLst xmlns:a="http://schemas.openxmlformats.org/drawingml/2006/main">
              <a:ext uri="{FF2B5EF4-FFF2-40B4-BE49-F238E27FC236}">
                <a16:creationId xmlns:a16="http://schemas.microsoft.com/office/drawing/2014/main" id="{D9A57256-CC7B-4940-B09B-16773D1F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81700"/>
            <a:ext cx="342900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AF0C8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FAST动作token</a:t>
            </a:r>
          </a:p>
        </p:txBody>
      </p:sp>
      <p:sp>
        <p:nvSpPr>
          <p:cNvPr id="32" name="shape-152">
            <a:extLst xmlns:a="http://schemas.openxmlformats.org/drawingml/2006/main">
              <a:ext uri="{FF2B5EF4-FFF2-40B4-BE49-F238E27FC236}">
                <a16:creationId xmlns:a16="http://schemas.microsoft.com/office/drawing/2014/main" id="{682796ED-95EB-40FC-A238-B053A4D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6770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仅作上下文</a:t>
            </a:r>
          </a:p>
        </p:txBody>
      </p:sp>
      <p:sp>
        <p:nvSpPr>
          <p:cNvPr id="33" name="shape-153">
            <a:extLst xmlns:a="http://schemas.openxmlformats.org/drawingml/2006/main">
              <a:ext uri="{FF2B5EF4-FFF2-40B4-BE49-F238E27FC236}">
                <a16:creationId xmlns:a16="http://schemas.microsoft.com/office/drawing/2014/main" id="{78D2200B-392E-490D-B39A-751A9377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67702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仅作上下文</a:t>
            </a:r>
          </a:p>
        </p:txBody>
      </p:sp>
      <p:sp>
        <p:nvSpPr>
          <p:cNvPr id="34" name="shape-154">
            <a:extLst xmlns:a="http://schemas.openxmlformats.org/drawingml/2006/main">
              <a:ext uri="{FF2B5EF4-FFF2-40B4-BE49-F238E27FC236}">
                <a16:creationId xmlns:a16="http://schemas.microsoft.com/office/drawing/2014/main" id="{481A217A-4D62-4CAA-911C-36358E7C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770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仅训练</a:t>
            </a:r>
          </a:p>
        </p:txBody>
      </p:sp>
      <p:sp>
        <p:nvSpPr>
          <p:cNvPr id="35" name="shape-155">
            <a:extLst xmlns:a="http://schemas.openxmlformats.org/drawingml/2006/main">
              <a:ext uri="{FF2B5EF4-FFF2-40B4-BE49-F238E27FC236}">
                <a16:creationId xmlns:a16="http://schemas.microsoft.com/office/drawing/2014/main" id="{86B9654E-0536-4E76-930B-D963914A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67600"/>
            <a:ext cx="1000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6" name="shape-156">
            <a:extLst xmlns:a="http://schemas.openxmlformats.org/drawingml/2006/main">
              <a:ext uri="{FF2B5EF4-FFF2-40B4-BE49-F238E27FC236}">
                <a16:creationId xmlns:a16="http://schemas.microsoft.com/office/drawing/2014/main" id="{2A4DBF8C-0B33-421C-9DB9-2655B78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96200"/>
            <a:ext cx="101536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π0.5 共享VLM θ</a:t>
            </a:r>
          </a:p>
        </p:txBody>
      </p:sp>
      <p:sp>
        <p:nvSpPr>
          <p:cNvPr id="37" name="shape-157">
            <a:extLst xmlns:a="http://schemas.openxmlformats.org/drawingml/2006/main">
              <a:ext uri="{FF2B5EF4-FFF2-40B4-BE49-F238E27FC236}">
                <a16:creationId xmlns:a16="http://schemas.microsoft.com/office/drawing/2014/main" id="{F6C2C4C4-92C4-41B3-816E-DF878A72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8" name="shape-158">
            <a:extLst xmlns:a="http://schemas.openxmlformats.org/drawingml/2006/main">
              <a:ext uri="{FF2B5EF4-FFF2-40B4-BE49-F238E27FC236}">
                <a16:creationId xmlns:a16="http://schemas.microsoft.com/office/drawing/2014/main" id="{317F41F1-2727-456F-BEA6-E5D0C382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39" name="shape-159">
            <a:extLst xmlns:a="http://schemas.openxmlformats.org/drawingml/2006/main">
              <a:ext uri="{FF2B5EF4-FFF2-40B4-BE49-F238E27FC236}">
                <a16:creationId xmlns:a16="http://schemas.microsoft.com/office/drawing/2014/main" id="{6EC0A434-8374-43C6-859D-D22013E6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0" name="shape-160">
            <a:extLst xmlns:a="http://schemas.openxmlformats.org/drawingml/2006/main">
              <a:ext uri="{FF2B5EF4-FFF2-40B4-BE49-F238E27FC236}">
                <a16:creationId xmlns:a16="http://schemas.microsoft.com/office/drawing/2014/main" id="{A6A63A9A-A799-48FB-98DC-E6884AAC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1" name="shape-161">
            <a:extLst xmlns:a="http://schemas.openxmlformats.org/drawingml/2006/main">
              <a:ext uri="{FF2B5EF4-FFF2-40B4-BE49-F238E27FC236}">
                <a16:creationId xmlns:a16="http://schemas.microsoft.com/office/drawing/2014/main" id="{AABF69B8-604B-4D49-B60C-4D2101A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2" name="shape-162">
            <a:extLst xmlns:a="http://schemas.openxmlformats.org/drawingml/2006/main">
              <a:ext uri="{FF2B5EF4-FFF2-40B4-BE49-F238E27FC236}">
                <a16:creationId xmlns:a16="http://schemas.microsoft.com/office/drawing/2014/main" id="{65B29C3F-D224-4B8E-BBDC-E85F5947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3" name="shape-163">
            <a:extLst xmlns:a="http://schemas.openxmlformats.org/drawingml/2006/main">
              <a:ext uri="{FF2B5EF4-FFF2-40B4-BE49-F238E27FC236}">
                <a16:creationId xmlns:a16="http://schemas.microsoft.com/office/drawing/2014/main" id="{E1F39E6D-30E9-4FE3-9AAB-2D18392E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4" name="shape-164">
            <a:extLst xmlns:a="http://schemas.openxmlformats.org/drawingml/2006/main">
              <a:ext uri="{FF2B5EF4-FFF2-40B4-BE49-F238E27FC236}">
                <a16:creationId xmlns:a16="http://schemas.microsoft.com/office/drawing/2014/main" id="{2280E7BB-ECAA-4FF6-8F03-1B7B024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5" name="shape-165">
            <a:extLst xmlns:a="http://schemas.openxmlformats.org/drawingml/2006/main">
              <a:ext uri="{FF2B5EF4-FFF2-40B4-BE49-F238E27FC236}">
                <a16:creationId xmlns:a16="http://schemas.microsoft.com/office/drawing/2014/main" id="{E03AE30B-B7BB-41FF-A7A6-4F92CA04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6" name="shape-166">
            <a:extLst xmlns:a="http://schemas.openxmlformats.org/drawingml/2006/main">
              <a:ext uri="{FF2B5EF4-FFF2-40B4-BE49-F238E27FC236}">
                <a16:creationId xmlns:a16="http://schemas.microsoft.com/office/drawing/2014/main" id="{EE70EAAC-5011-4DD9-8D75-3F511EBD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7" name="shape-167">
            <a:extLst xmlns:a="http://schemas.openxmlformats.org/drawingml/2006/main">
              <a:ext uri="{FF2B5EF4-FFF2-40B4-BE49-F238E27FC236}">
                <a16:creationId xmlns:a16="http://schemas.microsoft.com/office/drawing/2014/main" id="{D617E9CB-810E-4E71-9996-A27D4B6D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8" name="shape-168">
            <a:extLst xmlns:a="http://schemas.openxmlformats.org/drawingml/2006/main">
              <a:ext uri="{FF2B5EF4-FFF2-40B4-BE49-F238E27FC236}">
                <a16:creationId xmlns:a16="http://schemas.microsoft.com/office/drawing/2014/main" id="{3AE78BA7-3115-4AE0-B75A-4DE95F5D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49" name="shape-169">
            <a:extLst xmlns:a="http://schemas.openxmlformats.org/drawingml/2006/main">
              <a:ext uri="{FF2B5EF4-FFF2-40B4-BE49-F238E27FC236}">
                <a16:creationId xmlns:a16="http://schemas.microsoft.com/office/drawing/2014/main" id="{1D7C35F9-5FEB-47E6-B577-3F908574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0" name="shape-170">
            <a:extLst xmlns:a="http://schemas.openxmlformats.org/drawingml/2006/main">
              <a:ext uri="{FF2B5EF4-FFF2-40B4-BE49-F238E27FC236}">
                <a16:creationId xmlns:a16="http://schemas.microsoft.com/office/drawing/2014/main" id="{C8F58956-5F09-4978-9E4C-4A885EC4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1" name="shape-171">
            <a:extLst xmlns:a="http://schemas.openxmlformats.org/drawingml/2006/main">
              <a:ext uri="{FF2B5EF4-FFF2-40B4-BE49-F238E27FC236}">
                <a16:creationId xmlns:a16="http://schemas.microsoft.com/office/drawing/2014/main" id="{8DB473DA-346A-4BEF-B375-64212ED6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2" name="shape-172">
            <a:extLst xmlns:a="http://schemas.openxmlformats.org/drawingml/2006/main">
              <a:ext uri="{FF2B5EF4-FFF2-40B4-BE49-F238E27FC236}">
                <a16:creationId xmlns:a16="http://schemas.microsoft.com/office/drawing/2014/main" id="{6B2C941C-59E0-4728-898E-8FA8D9EF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3" name="shape-173">
            <a:extLst xmlns:a="http://schemas.openxmlformats.org/drawingml/2006/main">
              <a:ext uri="{FF2B5EF4-FFF2-40B4-BE49-F238E27FC236}">
                <a16:creationId xmlns:a16="http://schemas.microsoft.com/office/drawing/2014/main" id="{7251A8B3-4233-4114-9F3D-45D2C9D1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4" name="shape-174">
            <a:extLst xmlns:a="http://schemas.openxmlformats.org/drawingml/2006/main">
              <a:ext uri="{FF2B5EF4-FFF2-40B4-BE49-F238E27FC236}">
                <a16:creationId xmlns:a16="http://schemas.microsoft.com/office/drawing/2014/main" id="{56E3F9F1-C697-462B-A513-FDAC046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5" name="shape-175">
            <a:extLst xmlns:a="http://schemas.openxmlformats.org/drawingml/2006/main">
              <a:ext uri="{FF2B5EF4-FFF2-40B4-BE49-F238E27FC236}">
                <a16:creationId xmlns:a16="http://schemas.microsoft.com/office/drawing/2014/main" id="{DB5CAA6F-7CFA-426A-AC6E-50075063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6" name="shape-176">
            <a:extLst xmlns:a="http://schemas.openxmlformats.org/drawingml/2006/main">
              <a:ext uri="{FF2B5EF4-FFF2-40B4-BE49-F238E27FC236}">
                <a16:creationId xmlns:a16="http://schemas.microsoft.com/office/drawing/2014/main" id="{6BE550D8-1C7D-4650-96E2-1B66A6CA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7" name="shape-177">
            <a:extLst xmlns:a="http://schemas.openxmlformats.org/drawingml/2006/main">
              <a:ext uri="{FF2B5EF4-FFF2-40B4-BE49-F238E27FC236}">
                <a16:creationId xmlns:a16="http://schemas.microsoft.com/office/drawing/2014/main" id="{E6EFCBE3-CFA7-464C-A039-D6FD6CC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8" name="shape-178">
            <a:extLst xmlns:a="http://schemas.openxmlformats.org/drawingml/2006/main">
              <a:ext uri="{FF2B5EF4-FFF2-40B4-BE49-F238E27FC236}">
                <a16:creationId xmlns:a16="http://schemas.microsoft.com/office/drawing/2014/main" id="{5B239862-D276-4547-BADC-F90A06B9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59" name="shape-179">
            <a:extLst xmlns:a="http://schemas.openxmlformats.org/drawingml/2006/main">
              <a:ext uri="{FF2B5EF4-FFF2-40B4-BE49-F238E27FC236}">
                <a16:creationId xmlns:a16="http://schemas.microsoft.com/office/drawing/2014/main" id="{662CE4FC-518C-405B-804F-04F9FBE2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0" name="shape-180">
            <a:extLst xmlns:a="http://schemas.openxmlformats.org/drawingml/2006/main">
              <a:ext uri="{FF2B5EF4-FFF2-40B4-BE49-F238E27FC236}">
                <a16:creationId xmlns:a16="http://schemas.microsoft.com/office/drawing/2014/main" id="{60850CB2-7FF9-4C9A-88ED-46DF40ED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1" name="shape-181">
            <a:extLst xmlns:a="http://schemas.openxmlformats.org/drawingml/2006/main">
              <a:ext uri="{FF2B5EF4-FFF2-40B4-BE49-F238E27FC236}">
                <a16:creationId xmlns:a16="http://schemas.microsoft.com/office/drawing/2014/main" id="{862DE019-91FB-4A6F-B90D-CE0E5B5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2" name="shape-182">
            <a:extLst xmlns:a="http://schemas.openxmlformats.org/drawingml/2006/main">
              <a:ext uri="{FF2B5EF4-FFF2-40B4-BE49-F238E27FC236}">
                <a16:creationId xmlns:a16="http://schemas.microsoft.com/office/drawing/2014/main" id="{81A1E8C0-C1CC-4B0F-836B-C5B7576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3" name="shape-183">
            <a:extLst xmlns:a="http://schemas.openxmlformats.org/drawingml/2006/main">
              <a:ext uri="{FF2B5EF4-FFF2-40B4-BE49-F238E27FC236}">
                <a16:creationId xmlns:a16="http://schemas.microsoft.com/office/drawing/2014/main" id="{966E4420-9C25-4255-8944-6E49E75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4" name="shape-184">
            <a:extLst xmlns:a="http://schemas.openxmlformats.org/drawingml/2006/main">
              <a:ext uri="{FF2B5EF4-FFF2-40B4-BE49-F238E27FC236}">
                <a16:creationId xmlns:a16="http://schemas.microsoft.com/office/drawing/2014/main" id="{6E92CF39-3341-49BC-AC7C-8893569F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5" name="shape-185">
            <a:extLst xmlns:a="http://schemas.openxmlformats.org/drawingml/2006/main">
              <a:ext uri="{FF2B5EF4-FFF2-40B4-BE49-F238E27FC236}">
                <a16:creationId xmlns:a16="http://schemas.microsoft.com/office/drawing/2014/main" id="{89AC72EB-55E0-4522-B037-5A845564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6" name="shape-186">
            <a:extLst xmlns:a="http://schemas.openxmlformats.org/drawingml/2006/main">
              <a:ext uri="{FF2B5EF4-FFF2-40B4-BE49-F238E27FC236}">
                <a16:creationId xmlns:a16="http://schemas.microsoft.com/office/drawing/2014/main" id="{7CF91955-AAF3-45DE-9D47-68A4475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7" name="shape-187">
            <a:extLst xmlns:a="http://schemas.openxmlformats.org/drawingml/2006/main">
              <a:ext uri="{FF2B5EF4-FFF2-40B4-BE49-F238E27FC236}">
                <a16:creationId xmlns:a16="http://schemas.microsoft.com/office/drawing/2014/main" id="{45D36F33-9960-476D-A5D0-588DF77B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8" name="shape-188">
            <a:extLst xmlns:a="http://schemas.openxmlformats.org/drawingml/2006/main">
              <a:ext uri="{FF2B5EF4-FFF2-40B4-BE49-F238E27FC236}">
                <a16:creationId xmlns:a16="http://schemas.microsoft.com/office/drawing/2014/main" id="{F9C7F038-38C1-4D5D-A503-6A409291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69" name="shape-189">
            <a:extLst xmlns:a="http://schemas.openxmlformats.org/drawingml/2006/main">
              <a:ext uri="{FF2B5EF4-FFF2-40B4-BE49-F238E27FC236}">
                <a16:creationId xmlns:a16="http://schemas.microsoft.com/office/drawing/2014/main" id="{A35C4306-AA7C-4350-B34F-844B520A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0" name="shape-190">
            <a:extLst xmlns:a="http://schemas.openxmlformats.org/drawingml/2006/main">
              <a:ext uri="{FF2B5EF4-FFF2-40B4-BE49-F238E27FC236}">
                <a16:creationId xmlns:a16="http://schemas.microsoft.com/office/drawing/2014/main" id="{86A243C4-C0ED-4679-AFCD-52A5F9A4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1" name="shape-191">
            <a:extLst xmlns:a="http://schemas.openxmlformats.org/drawingml/2006/main">
              <a:ext uri="{FF2B5EF4-FFF2-40B4-BE49-F238E27FC236}">
                <a16:creationId xmlns:a16="http://schemas.microsoft.com/office/drawing/2014/main" id="{B5220966-F5F6-4622-98CA-6C07EB66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2" name="shape-192">
            <a:extLst xmlns:a="http://schemas.openxmlformats.org/drawingml/2006/main">
              <a:ext uri="{FF2B5EF4-FFF2-40B4-BE49-F238E27FC236}">
                <a16:creationId xmlns:a16="http://schemas.microsoft.com/office/drawing/2014/main" id="{0909732B-17E8-4172-BAA4-E14B8FC9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3" name="shape-193">
            <a:extLst xmlns:a="http://schemas.openxmlformats.org/drawingml/2006/main">
              <a:ext uri="{FF2B5EF4-FFF2-40B4-BE49-F238E27FC236}">
                <a16:creationId xmlns:a16="http://schemas.microsoft.com/office/drawing/2014/main" id="{C95F99F3-B4F7-45D0-9E2F-FF5D9CD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4" name="shape-194">
            <a:extLst xmlns:a="http://schemas.openxmlformats.org/drawingml/2006/main">
              <a:ext uri="{FF2B5EF4-FFF2-40B4-BE49-F238E27FC236}">
                <a16:creationId xmlns:a16="http://schemas.microsoft.com/office/drawing/2014/main" id="{F6F1F2D3-EF8E-4382-BDEC-EBBAE0F8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5" name="shape-195">
            <a:extLst xmlns:a="http://schemas.openxmlformats.org/drawingml/2006/main">
              <a:ext uri="{FF2B5EF4-FFF2-40B4-BE49-F238E27FC236}">
                <a16:creationId xmlns:a16="http://schemas.microsoft.com/office/drawing/2014/main" id="{A1422664-C351-48C0-A0E7-18DFCAE2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6" name="shape-196">
            <a:extLst xmlns:a="http://schemas.openxmlformats.org/drawingml/2006/main">
              <a:ext uri="{FF2B5EF4-FFF2-40B4-BE49-F238E27FC236}">
                <a16:creationId xmlns:a16="http://schemas.microsoft.com/office/drawing/2014/main" id="{DA2DDBB9-2332-4098-91C7-8CEB2153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7" name="shape-197">
            <a:extLst xmlns:a="http://schemas.openxmlformats.org/drawingml/2006/main">
              <a:ext uri="{FF2B5EF4-FFF2-40B4-BE49-F238E27FC236}">
                <a16:creationId xmlns:a16="http://schemas.microsoft.com/office/drawing/2014/main" id="{4089829A-C374-41C9-863A-117DA2C7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8" name="shape-198">
            <a:extLst xmlns:a="http://schemas.openxmlformats.org/drawingml/2006/main">
              <a:ext uri="{FF2B5EF4-FFF2-40B4-BE49-F238E27FC236}">
                <a16:creationId xmlns:a16="http://schemas.microsoft.com/office/drawing/2014/main" id="{9DF982B4-67E7-4CA3-954E-CDD71BD4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79" name="shape-199">
            <a:extLst xmlns:a="http://schemas.openxmlformats.org/drawingml/2006/main">
              <a:ext uri="{FF2B5EF4-FFF2-40B4-BE49-F238E27FC236}">
                <a16:creationId xmlns:a16="http://schemas.microsoft.com/office/drawing/2014/main" id="{CFBBBBF5-BA7E-4447-878B-51337E00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80" name="shape-200">
            <a:extLst xmlns:a="http://schemas.openxmlformats.org/drawingml/2006/main">
              <a:ext uri="{FF2B5EF4-FFF2-40B4-BE49-F238E27FC236}">
                <a16:creationId xmlns:a16="http://schemas.microsoft.com/office/drawing/2014/main" id="{829E0870-B8C5-459B-86D9-BB5F493F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81" name="shape-201">
            <a:extLst xmlns:a="http://schemas.openxmlformats.org/drawingml/2006/main">
              <a:ext uri="{FF2B5EF4-FFF2-40B4-BE49-F238E27FC236}">
                <a16:creationId xmlns:a16="http://schemas.microsoft.com/office/drawing/2014/main" id="{1C7B253B-4E05-4D05-81F7-A7990895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82" name="shape-202">
            <a:extLst xmlns:a="http://schemas.openxmlformats.org/drawingml/2006/main">
              <a:ext uri="{FF2B5EF4-FFF2-40B4-BE49-F238E27FC236}">
                <a16:creationId xmlns:a16="http://schemas.microsoft.com/office/drawing/2014/main" id="{D2952464-0B31-4542-A6A0-F82FDA4B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83" name="shape-203">
            <a:extLst xmlns:a="http://schemas.openxmlformats.org/drawingml/2006/main">
              <a:ext uri="{FF2B5EF4-FFF2-40B4-BE49-F238E27FC236}">
                <a16:creationId xmlns:a16="http://schemas.microsoft.com/office/drawing/2014/main" id="{89FB9820-071E-481E-9FB0-0D44F901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84" name="shape-204">
            <a:extLst xmlns:a="http://schemas.openxmlformats.org/drawingml/2006/main">
              <a:ext uri="{FF2B5EF4-FFF2-40B4-BE49-F238E27FC236}">
                <a16:creationId xmlns:a16="http://schemas.microsoft.com/office/drawing/2014/main" id="{760E6A59-C7F8-46E3-BF5A-D5700AB4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A9CFDC"/>
          </a:solidFill>
          <a:ln xmlns:a="http://schemas.openxmlformats.org/drawingml/2006/main" w="14288">
            <a:solidFill>
              <a:srgbClr val="40758A"/>
            </a:solidFill>
            <a:prstDash val="solid"/>
          </a:ln>
        </p:spPr>
      </p:sp>
      <p:sp>
        <p:nvSpPr>
          <p:cNvPr id="85" name="shape-205">
            <a:extLst xmlns:a="http://schemas.openxmlformats.org/drawingml/2006/main">
              <a:ext uri="{FF2B5EF4-FFF2-40B4-BE49-F238E27FC236}">
                <a16:creationId xmlns:a16="http://schemas.microsoft.com/office/drawing/2014/main" id="{146FF2CB-DE36-46BE-809A-F39D4B7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467600"/>
            <a:ext cx="2590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86" name="shape-206">
            <a:extLst xmlns:a="http://schemas.openxmlformats.org/drawingml/2006/main">
              <a:ext uri="{FF2B5EF4-FFF2-40B4-BE49-F238E27FC236}">
                <a16:creationId xmlns:a16="http://schemas.microsoft.com/office/drawing/2014/main" id="{9AA12BF6-1285-40D4-B7B9-140A959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7696200"/>
            <a:ext cx="27432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连续动作专家 φ</a:t>
            </a:r>
          </a:p>
        </p:txBody>
      </p:sp>
      <p:sp>
        <p:nvSpPr>
          <p:cNvPr id="87" name="shape-207">
            <a:extLst xmlns:a="http://schemas.openxmlformats.org/drawingml/2006/main">
              <a:ext uri="{FF2B5EF4-FFF2-40B4-BE49-F238E27FC236}">
                <a16:creationId xmlns:a16="http://schemas.microsoft.com/office/drawing/2014/main" id="{DF911D46-37CD-469B-B084-DB303FBB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88" name="shape-208">
            <a:extLst xmlns:a="http://schemas.openxmlformats.org/drawingml/2006/main">
              <a:ext uri="{FF2B5EF4-FFF2-40B4-BE49-F238E27FC236}">
                <a16:creationId xmlns:a16="http://schemas.microsoft.com/office/drawing/2014/main" id="{09072AC5-1C98-4E2B-B8A9-D5F21E06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89" name="shape-209">
            <a:extLst xmlns:a="http://schemas.openxmlformats.org/drawingml/2006/main">
              <a:ext uri="{FF2B5EF4-FFF2-40B4-BE49-F238E27FC236}">
                <a16:creationId xmlns:a16="http://schemas.microsoft.com/office/drawing/2014/main" id="{83E1E195-0D2D-48C7-8BFD-9E6A4B3B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90" name="shape-210">
            <a:extLst xmlns:a="http://schemas.openxmlformats.org/drawingml/2006/main">
              <a:ext uri="{FF2B5EF4-FFF2-40B4-BE49-F238E27FC236}">
                <a16:creationId xmlns:a16="http://schemas.microsoft.com/office/drawing/2014/main" id="{4020A985-F1CF-4BED-8D7D-2726C381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91" name="shape-211">
            <a:extLst xmlns:a="http://schemas.openxmlformats.org/drawingml/2006/main">
              <a:ext uri="{FF2B5EF4-FFF2-40B4-BE49-F238E27FC236}">
                <a16:creationId xmlns:a16="http://schemas.microsoft.com/office/drawing/2014/main" id="{2F39C33E-2B60-4F57-A340-AB337B90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92" name="shape-212">
            <a:extLst xmlns:a="http://schemas.openxmlformats.org/drawingml/2006/main">
              <a:ext uri="{FF2B5EF4-FFF2-40B4-BE49-F238E27FC236}">
                <a16:creationId xmlns:a16="http://schemas.microsoft.com/office/drawing/2014/main" id="{467318E2-5853-40D3-8869-34237696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93" name="shape-213">
            <a:extLst xmlns:a="http://schemas.openxmlformats.org/drawingml/2006/main">
              <a:ext uri="{FF2B5EF4-FFF2-40B4-BE49-F238E27FC236}">
                <a16:creationId xmlns:a16="http://schemas.microsoft.com/office/drawing/2014/main" id="{24D4183E-6ECB-48AB-B178-F9A42F2F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94" name="shape-214">
            <a:extLst xmlns:a="http://schemas.openxmlformats.org/drawingml/2006/main">
              <a:ext uri="{FF2B5EF4-FFF2-40B4-BE49-F238E27FC236}">
                <a16:creationId xmlns:a16="http://schemas.microsoft.com/office/drawing/2014/main" id="{10665D55-67AA-4CBF-84DB-77343BF4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95" name="shape-215">
            <a:extLst xmlns:a="http://schemas.openxmlformats.org/drawingml/2006/main">
              <a:ext uri="{FF2B5EF4-FFF2-40B4-BE49-F238E27FC236}">
                <a16:creationId xmlns:a16="http://schemas.microsoft.com/office/drawing/2014/main" id="{F7BF9FB9-2C9B-4B30-B300-CA2D937C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7543800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96" name="shape-216">
            <a:extLst xmlns:a="http://schemas.openxmlformats.org/drawingml/2006/main">
              <a:ext uri="{FF2B5EF4-FFF2-40B4-BE49-F238E27FC236}">
                <a16:creationId xmlns:a16="http://schemas.microsoft.com/office/drawing/2014/main" id="{8D7569F4-67C4-4CA2-863E-A9EDD77B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8410575"/>
            <a:ext cx="2857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5C8069"/>
            </a:solidFill>
            <a:prstDash val="solid"/>
          </a:ln>
        </p:spPr>
      </p:sp>
      <p:sp>
        <p:nvSpPr>
          <p:cNvPr id="97" name="line-217">
            <a:extLst xmlns:a="http://schemas.openxmlformats.org/drawingml/2006/main">
              <a:ext uri="{FF2B5EF4-FFF2-40B4-BE49-F238E27FC236}">
                <a16:creationId xmlns:a16="http://schemas.microsoft.com/office/drawing/2014/main" id="{8D089E60-8354-455E-8BF1-4973A499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5327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66D72"/>
            </a:solidFill>
            <a:prstDash val="solid"/>
          </a:ln>
        </p:spPr>
      </p:sp>
      <p:sp>
        <p:nvSpPr>
          <p:cNvPr id="98" name="shape-218">
            <a:extLst xmlns:a="http://schemas.openxmlformats.org/drawingml/2006/main">
              <a:ext uri="{FF2B5EF4-FFF2-40B4-BE49-F238E27FC236}">
                <a16:creationId xmlns:a16="http://schemas.microsoft.com/office/drawing/2014/main" id="{FBD8B42F-6FDC-41BD-A370-D80573F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143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9" name="shape-219">
            <a:extLst xmlns:a="http://schemas.openxmlformats.org/drawingml/2006/main">
              <a:ext uri="{FF2B5EF4-FFF2-40B4-BE49-F238E27FC236}">
                <a16:creationId xmlns:a16="http://schemas.microsoft.com/office/drawing/2014/main" id="{4431A602-2911-4897-9B9D-9F62FCE9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458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2" name="shape-220">
            <a:extLst xmlns:a="http://schemas.openxmlformats.org/drawingml/2006/main">
              <a:ext uri="{FF2B5EF4-FFF2-40B4-BE49-F238E27FC236}">
                <a16:creationId xmlns:a16="http://schemas.microsoft.com/office/drawing/2014/main" id="{840EADA6-6A84-4587-B56C-E7817221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6770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rPr>
              <a:t>前缀K/V</a:t>
            </a:r>
          </a:p>
          <a:p xmlns:a="http://schemas.openxmlformats.org/drawingml/2006/main">
            <a:pPr algn="ctr">
              <a:defRPr sz="150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0758A"/>
                </a:solidFill>
                <a:latin typeface="Noto Sans CJK SC"/>
                <a:ea typeface="Noto Sans CJK SC"/>
                <a:cs typeface="Noto Sans CJK SC"/>
              </a:rPr>
              <a:t>不含FAST答案</a:t>
            </a:r>
          </a:p>
        </p:txBody>
      </p:sp>
      <p:sp>
        <p:nvSpPr>
          <p:cNvPr id="103" name="shape-221">
            <a:extLst xmlns:a="http://schemas.openxmlformats.org/drawingml/2006/main">
              <a:ext uri="{FF2B5EF4-FFF2-40B4-BE49-F238E27FC236}">
                <a16:creationId xmlns:a16="http://schemas.microsoft.com/office/drawing/2014/main" id="{8315DB3B-9E89-466E-8FEC-604E3545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810500"/>
            <a:ext cx="64770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566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sg</a:t>
            </a:r>
          </a:p>
        </p:txBody>
      </p:sp>
      <p:sp>
        <p:nvSpPr>
          <p:cNvPr id="104" name="shape-222">
            <a:extLst xmlns:a="http://schemas.openxmlformats.org/drawingml/2006/main">
              <a:ext uri="{FF2B5EF4-FFF2-40B4-BE49-F238E27FC236}">
                <a16:creationId xmlns:a16="http://schemas.microsoft.com/office/drawing/2014/main" id="{2E28241D-5ED6-4862-8427-9C0109A6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01175"/>
            <a:ext cx="390525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高层条件CE</a:t>
            </a:r>
          </a:p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READ / WRITE / 子任务</a:t>
            </a:r>
          </a:p>
        </p:txBody>
      </p:sp>
      <p:sp>
        <p:nvSpPr>
          <p:cNvPr id="105" name="shape-223">
            <a:extLst xmlns:a="http://schemas.openxmlformats.org/drawingml/2006/main">
              <a:ext uri="{FF2B5EF4-FFF2-40B4-BE49-F238E27FC236}">
                <a16:creationId xmlns:a16="http://schemas.microsoft.com/office/drawing/2014/main" id="{DCB3A411-EB4E-4451-83EF-CC842DB5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401175"/>
            <a:ext cx="40005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AF0C8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FAST CE</a:t>
            </a:r>
          </a:p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记录动作的离散编码</a:t>
            </a:r>
          </a:p>
        </p:txBody>
      </p:sp>
      <p:sp>
        <p:nvSpPr>
          <p:cNvPr id="106" name="shape-224">
            <a:extLst xmlns:a="http://schemas.openxmlformats.org/drawingml/2006/main">
              <a:ext uri="{FF2B5EF4-FFF2-40B4-BE49-F238E27FC236}">
                <a16:creationId xmlns:a16="http://schemas.microsoft.com/office/drawing/2014/main" id="{A2C3DD79-7EC9-4331-BF1E-A95B8A92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401175"/>
            <a:ext cx="38100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Flow Matching</a:t>
            </a:r>
          </a:p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噪声插值与速度目标</a:t>
            </a:r>
          </a:p>
        </p:txBody>
      </p:sp>
      <p:sp>
        <p:nvSpPr>
          <p:cNvPr id="107" name="shape-225">
            <a:extLst xmlns:a="http://schemas.openxmlformats.org/drawingml/2006/main">
              <a:ext uri="{FF2B5EF4-FFF2-40B4-BE49-F238E27FC236}">
                <a16:creationId xmlns:a16="http://schemas.microsoft.com/office/drawing/2014/main" id="{2A385FAF-65EA-415F-A18E-10652A6E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8" name="shape-226">
            <a:extLst xmlns:a="http://schemas.openxmlformats.org/drawingml/2006/main">
              <a:ext uri="{FF2B5EF4-FFF2-40B4-BE49-F238E27FC236}">
                <a16:creationId xmlns:a16="http://schemas.microsoft.com/office/drawing/2014/main" id="{7908FF9C-59D2-4BFE-9F80-272AEBAE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9391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0" name="shape-227">
            <a:extLst xmlns:a="http://schemas.openxmlformats.org/drawingml/2006/main">
              <a:ext uri="{FF2B5EF4-FFF2-40B4-BE49-F238E27FC236}">
                <a16:creationId xmlns:a16="http://schemas.microsoft.com/office/drawing/2014/main" id="{18306869-D196-4E23-82C2-6E7A31FB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9391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1" name="shape-228">
            <a:extLst xmlns:a="http://schemas.openxmlformats.org/drawingml/2006/main">
              <a:ext uri="{FF2B5EF4-FFF2-40B4-BE49-F238E27FC236}">
                <a16:creationId xmlns:a16="http://schemas.microsoft.com/office/drawing/2014/main" id="{6CAF100B-2FFA-4AC4-9EB4-B2E869E8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3" name="shape-229">
            <a:extLst xmlns:a="http://schemas.openxmlformats.org/drawingml/2006/main">
              <a:ext uri="{FF2B5EF4-FFF2-40B4-BE49-F238E27FC236}">
                <a16:creationId xmlns:a16="http://schemas.microsoft.com/office/drawing/2014/main" id="{385386E6-DED5-48C4-A813-7914ED48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4" name="shape-230">
            <a:extLst xmlns:a="http://schemas.openxmlformats.org/drawingml/2006/main">
              <a:ext uri="{FF2B5EF4-FFF2-40B4-BE49-F238E27FC236}">
                <a16:creationId xmlns:a16="http://schemas.microsoft.com/office/drawing/2014/main" id="{094A0995-2A7A-4D44-A2A9-25424A9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9391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6" name="shape-231">
            <a:extLst xmlns:a="http://schemas.openxmlformats.org/drawingml/2006/main">
              <a:ext uri="{FF2B5EF4-FFF2-40B4-BE49-F238E27FC236}">
                <a16:creationId xmlns:a16="http://schemas.microsoft.com/office/drawing/2014/main" id="{8D5DC1CD-40BB-4538-A5AE-63265E5A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391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7" name="shape-232">
            <a:extLst xmlns:a="http://schemas.openxmlformats.org/drawingml/2006/main">
              <a:ext uri="{FF2B5EF4-FFF2-40B4-BE49-F238E27FC236}">
                <a16:creationId xmlns:a16="http://schemas.microsoft.com/office/drawing/2014/main" id="{4D69B594-6110-4C87-A825-D192929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9" name="shape-233">
            <a:extLst xmlns:a="http://schemas.openxmlformats.org/drawingml/2006/main">
              <a:ext uri="{FF2B5EF4-FFF2-40B4-BE49-F238E27FC236}">
                <a16:creationId xmlns:a16="http://schemas.microsoft.com/office/drawing/2014/main" id="{A15611E5-038B-4A2D-9133-825E69AA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0" name="shape-234">
            <a:extLst xmlns:a="http://schemas.openxmlformats.org/drawingml/2006/main">
              <a:ext uri="{FF2B5EF4-FFF2-40B4-BE49-F238E27FC236}">
                <a16:creationId xmlns:a16="http://schemas.microsoft.com/office/drawing/2014/main" id="{545F256D-B934-469E-98D4-CD2555D1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9391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2" name="shape-235">
            <a:extLst xmlns:a="http://schemas.openxmlformats.org/drawingml/2006/main">
              <a:ext uri="{FF2B5EF4-FFF2-40B4-BE49-F238E27FC236}">
                <a16:creationId xmlns:a16="http://schemas.microsoft.com/office/drawing/2014/main" id="{61761A8A-CA4A-4F3E-B717-738E6F8E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9391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3" name="shape-236">
            <a:extLst xmlns:a="http://schemas.openxmlformats.org/drawingml/2006/main">
              <a:ext uri="{FF2B5EF4-FFF2-40B4-BE49-F238E27FC236}">
                <a16:creationId xmlns:a16="http://schemas.microsoft.com/office/drawing/2014/main" id="{CCE0D3D9-B3AE-4FC3-8200-EC7258F9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5" name="shape-237">
            <a:extLst xmlns:a="http://schemas.openxmlformats.org/drawingml/2006/main">
              <a:ext uri="{FF2B5EF4-FFF2-40B4-BE49-F238E27FC236}">
                <a16:creationId xmlns:a16="http://schemas.microsoft.com/office/drawing/2014/main" id="{A9864ACB-5263-4A3F-9A76-97361F5F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658225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rPr>
              <a:t>FM梯度在</a:t>
            </a:r>
          </a:p>
          <a:p xmlns:a="http://schemas.openxmlformats.org/drawingml/2006/main">
            <a:pPr algn="ctr">
              <a:defRPr sz="1650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rPr>
              <a:t>sg处停止</a:t>
            </a:r>
          </a:p>
        </p:txBody>
      </p:sp>
    </p:spTree>
    <p:extLst>
      <p:ext uri="{BB962C8B-B14F-4D97-AF65-F5344CB8AC3E}">
        <p14:creationId xmlns:p14="http://schemas.microsoft.com/office/powerpoint/2010/main" val="1136382087"/>
      </p:ext>
    </p:extLst>
  </p:cSld>
</p:sld>
</file>

<file path=ppt/slides/append1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E78E7D-5A25-413C-BB98-1E80A35AD38C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239250" y="94297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95660"/>
            </a:solidFill>
            <a:prstDash val="dash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413A5-4951-4F9E-85F1-A92C8BF699B1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381500" y="94297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F1991-5EB5-4F34-B134-90087061EB3E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572750" y="62626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9AC18-85E4-46BC-ADDF-1E427F00AAB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877050" y="62626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A97A8-BD6D-47E2-ACE3-B6ED39CF261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52800" y="62626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34631-560B-42B6-BCCC-0815852ECCB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572750" y="45386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02C92-B3E7-4439-9358-E5EB6BE6A43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77050" y="45386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8A499-AD2C-40D1-989E-CFC5FD44ECD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52800" y="45386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6D72"/>
            </a:solidFill>
            <a:prstDash val="solid"/>
            <a:tailEnd type="triangle" w="med" len="med"/>
          </a:ln>
        </p:spPr>
      </p:cxnSp>
      <p:sp>
        <p:nvSpPr>
          <p:cNvPr id="34" name="shape-238">
            <a:extLst xmlns:a="http://schemas.openxmlformats.org/drawingml/2006/main">
              <a:ext uri="{FF2B5EF4-FFF2-40B4-BE49-F238E27FC236}">
                <a16:creationId xmlns:a16="http://schemas.microsoft.com/office/drawing/2014/main" id="{AC580AC1-6062-4B55-B7C5-46084DAB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图3.4  配对续跑的读写效用与辅助训练</a:t>
            </a:r>
          </a:p>
        </p:txBody>
      </p:sp>
      <p:sp>
        <p:nvSpPr>
          <p:cNvPr id="3" name="shape-240">
            <a:extLst xmlns:a="http://schemas.openxmlformats.org/drawingml/2006/main">
              <a:ext uri="{FF2B5EF4-FFF2-40B4-BE49-F238E27FC236}">
                <a16:creationId xmlns:a16="http://schemas.microsoft.com/office/drawing/2014/main" id="{A6014FEC-47B4-4597-A1B7-05BDCBE3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62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a  同一高层边界的受控比较</a:t>
            </a:r>
          </a:p>
        </p:txBody>
      </p:sp>
      <p:sp>
        <p:nvSpPr>
          <p:cNvPr id="4" name="shape-241">
            <a:extLst xmlns:a="http://schemas.openxmlformats.org/drawingml/2006/main">
              <a:ext uri="{FF2B5EF4-FFF2-40B4-BE49-F238E27FC236}">
                <a16:creationId xmlns:a16="http://schemas.microsoft.com/office/drawing/2014/main" id="{FCE561BB-0E95-4752-9AA4-1D8A0E54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714375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BDFF1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扩展起点 x</a:t>
            </a:r>
          </a:p>
          <a:p xmlns:a="http://schemas.openxmlformats.org/drawingml/2006/main">
            <a:pPr algn="ctr">
              <a:def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物理、控制器、历史、记忆与缓存</a:t>
            </a:r>
          </a:p>
        </p:txBody>
      </p:sp>
      <p:sp>
        <p:nvSpPr>
          <p:cNvPr id="5" name="shape-242">
            <a:extLst xmlns:a="http://schemas.openxmlformats.org/drawingml/2006/main">
              <a:ext uri="{FF2B5EF4-FFF2-40B4-BE49-F238E27FC236}">
                <a16:creationId xmlns:a16="http://schemas.microsoft.com/office/drawing/2014/main" id="{B66B4666-8CE9-421D-B2C2-46CA876B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60960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后续参数 κᵣ 固定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信息预算相同</a:t>
            </a:r>
          </a:p>
        </p:txBody>
      </p:sp>
      <p:sp>
        <p:nvSpPr>
          <p:cNvPr id="6" name="shape-243">
            <a:extLst xmlns:a="http://schemas.openxmlformats.org/drawingml/2006/main">
              <a:ext uri="{FF2B5EF4-FFF2-40B4-BE49-F238E27FC236}">
                <a16:creationId xmlns:a16="http://schemas.microsoft.com/office/drawing/2014/main" id="{8D9C3FB0-E38A-43BF-ACBB-34E8A98F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先核验恢复重复性</a:t>
            </a:r>
          </a:p>
        </p:txBody>
      </p:sp>
      <p:sp>
        <p:nvSpPr>
          <p:cNvPr id="7" name="shape-244">
            <a:extLst xmlns:a="http://schemas.openxmlformats.org/drawingml/2006/main">
              <a:ext uri="{FF2B5EF4-FFF2-40B4-BE49-F238E27FC236}">
                <a16:creationId xmlns:a16="http://schemas.microsoft.com/office/drawing/2014/main" id="{71E249F2-543E-4BDE-9323-D2947935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7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217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rPr>
              <a:t>第 i 组：组内配对随机数</a:t>
            </a:r>
          </a:p>
        </p:txBody>
      </p:sp>
      <p:sp>
        <p:nvSpPr>
          <p:cNvPr id="8" name="shape-245">
            <a:extLst xmlns:a="http://schemas.openxmlformats.org/drawingml/2006/main">
              <a:ext uri="{FF2B5EF4-FFF2-40B4-BE49-F238E27FC236}">
                <a16:creationId xmlns:a16="http://schemas.microsoft.com/office/drawing/2014/main" id="{3B8E307C-7804-49A2-98EF-1836B288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278130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BDFF1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候选读写 u</a:t>
            </a:r>
          </a:p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有据READ / WRITE</a:t>
            </a:r>
          </a:p>
        </p:txBody>
      </p:sp>
      <p:sp>
        <p:nvSpPr>
          <p:cNvPr id="9" name="shape-246">
            <a:extLst xmlns:a="http://schemas.openxmlformats.org/drawingml/2006/main">
              <a:ext uri="{FF2B5EF4-FFF2-40B4-BE49-F238E27FC236}">
                <a16:creationId xmlns:a16="http://schemas.microsoft.com/office/drawing/2014/main" id="{AA2B85C7-6A42-4486-BFB0-08E5E399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285750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9DF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重新生成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子任务文本</a:t>
            </a:r>
          </a:p>
        </p:txBody>
      </p:sp>
      <p:sp>
        <p:nvSpPr>
          <p:cNvPr id="10" name="shape-247">
            <a:extLst xmlns:a="http://schemas.openxmlformats.org/drawingml/2006/main">
              <a:ext uri="{FF2B5EF4-FFF2-40B4-BE49-F238E27FC236}">
                <a16:creationId xmlns:a16="http://schemas.microsoft.com/office/drawing/2014/main" id="{58D0B2D8-6EE8-48C0-A77F-A89982A8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90975"/>
            <a:ext cx="302895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动作与新观察</a:t>
            </a:r>
          </a:p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继续闭环执行</a:t>
            </a:r>
          </a:p>
        </p:txBody>
      </p:sp>
      <p:sp>
        <p:nvSpPr>
          <p:cNvPr id="11" name="shape-248">
            <a:extLst xmlns:a="http://schemas.openxmlformats.org/drawingml/2006/main">
              <a:ext uri="{FF2B5EF4-FFF2-40B4-BE49-F238E27FC236}">
                <a16:creationId xmlns:a16="http://schemas.microsoft.com/office/drawing/2014/main" id="{44EAC43A-0E8C-4F2F-B31B-0EAA7AD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990975"/>
            <a:ext cx="333375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续跑回报 Gᵢ(u)</a:t>
            </a:r>
          </a:p>
        </p:txBody>
      </p:sp>
      <p:sp>
        <p:nvSpPr>
          <p:cNvPr id="15" name="shape-249">
            <a:extLst xmlns:a="http://schemas.openxmlformats.org/drawingml/2006/main">
              <a:ext uri="{FF2B5EF4-FFF2-40B4-BE49-F238E27FC236}">
                <a16:creationId xmlns:a16="http://schemas.microsoft.com/office/drawing/2014/main" id="{09059E9A-2B9A-46BD-9C99-1F043856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278130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参考读写 u₀</a:t>
            </a:r>
          </a:p>
          <a:p xmlns:a="http://schemas.openxmlformats.org/drawingml/2006/main">
            <a:pPr algn="ctr">
              <a:def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例如NONE / KEEP</a:t>
            </a:r>
          </a:p>
        </p:txBody>
      </p:sp>
      <p:sp>
        <p:nvSpPr>
          <p:cNvPr id="16" name="shape-250">
            <a:extLst xmlns:a="http://schemas.openxmlformats.org/drawingml/2006/main">
              <a:ext uri="{FF2B5EF4-FFF2-40B4-BE49-F238E27FC236}">
                <a16:creationId xmlns:a16="http://schemas.microsoft.com/office/drawing/2014/main" id="{221507A5-60E5-4E92-B3EF-C6E2F846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715000"/>
            <a:ext cx="285750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9DF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重新生成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子任务文本</a:t>
            </a:r>
          </a:p>
        </p:txBody>
      </p:sp>
      <p:sp>
        <p:nvSpPr>
          <p:cNvPr id="17" name="shape-251">
            <a:extLst xmlns:a="http://schemas.openxmlformats.org/drawingml/2006/main">
              <a:ext uri="{FF2B5EF4-FFF2-40B4-BE49-F238E27FC236}">
                <a16:creationId xmlns:a16="http://schemas.microsoft.com/office/drawing/2014/main" id="{BAE698DB-71C3-4AAF-9978-2D814497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15000"/>
            <a:ext cx="302895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动作与新观察</a:t>
            </a:r>
          </a:p>
          <a:p xmlns:a="http://schemas.openxmlformats.org/drawingml/2006/main">
            <a:pPr algn="ctr">
              <a:def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继续闭环执行</a:t>
            </a:r>
          </a:p>
        </p:txBody>
      </p:sp>
      <p:sp>
        <p:nvSpPr>
          <p:cNvPr id="18" name="shape-252">
            <a:extLst xmlns:a="http://schemas.openxmlformats.org/drawingml/2006/main">
              <a:ext uri="{FF2B5EF4-FFF2-40B4-BE49-F238E27FC236}">
                <a16:creationId xmlns:a16="http://schemas.microsoft.com/office/drawing/2014/main" id="{66C80D49-66CE-4AD7-8FA3-B3C20391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715000"/>
            <a:ext cx="333375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续跑回报 Gᵢ(u₀)</a:t>
            </a:r>
          </a:p>
        </p:txBody>
      </p:sp>
      <p:sp>
        <p:nvSpPr>
          <p:cNvPr id="22" name="shape-253">
            <a:extLst xmlns:a="http://schemas.openxmlformats.org/drawingml/2006/main">
              <a:ext uri="{FF2B5EF4-FFF2-40B4-BE49-F238E27FC236}">
                <a16:creationId xmlns:a16="http://schemas.microsoft.com/office/drawing/2014/main" id="{C3E4ED79-4731-40FF-BC0A-77E2A15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006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两分支的后续子任务与动作可以不同</a:t>
            </a:r>
          </a:p>
        </p:txBody>
      </p:sp>
      <p:sp>
        <p:nvSpPr>
          <p:cNvPr id="23" name="shape-254">
            <a:extLst xmlns:a="http://schemas.openxmlformats.org/drawingml/2006/main">
              <a:ext uri="{FF2B5EF4-FFF2-40B4-BE49-F238E27FC236}">
                <a16:creationId xmlns:a16="http://schemas.microsoft.com/office/drawing/2014/main" id="{AA1D4F67-571D-42C5-87AC-EE009481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58025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8B6A9B"/>
                </a:solidFill>
                <a:latin typeface="Noto Sans CJK SC"/>
                <a:ea typeface="Noto Sans CJK SC"/>
                <a:cs typeface="Noto Sans CJK SC"/>
              </a:rPr>
              <a:t>独立重复组 i = 1, …, N</a:t>
            </a:r>
          </a:p>
        </p:txBody>
      </p:sp>
      <p:sp>
        <p:nvSpPr>
          <p:cNvPr id="24" name="shape-255">
            <a:extLst xmlns:a="http://schemas.openxmlformats.org/drawingml/2006/main">
              <a:ext uri="{FF2B5EF4-FFF2-40B4-BE49-F238E27FC236}">
                <a16:creationId xmlns:a16="http://schemas.microsoft.com/office/drawing/2014/main" id="{ACD1A88E-AE83-459B-839B-F1A3238B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580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写入证据与事实正确性另核</a:t>
            </a:r>
          </a:p>
        </p:txBody>
      </p:sp>
      <p:sp>
        <p:nvSpPr>
          <p:cNvPr id="25" name="line-256">
            <a:extLst xmlns:a="http://schemas.openxmlformats.org/drawingml/2006/main">
              <a:ext uri="{FF2B5EF4-FFF2-40B4-BE49-F238E27FC236}">
                <a16:creationId xmlns:a16="http://schemas.microsoft.com/office/drawing/2014/main" id="{C5961C57-148B-4D73-90B8-94D9B9B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3D6D8"/>
            </a:solidFill>
            <a:prstDash val="solid"/>
          </a:ln>
        </p:spPr>
      </p:sp>
      <p:sp>
        <p:nvSpPr>
          <p:cNvPr id="26" name="shape-257">
            <a:extLst xmlns:a="http://schemas.openxmlformats.org/drawingml/2006/main">
              <a:ext uri="{FF2B5EF4-FFF2-40B4-BE49-F238E27FC236}">
                <a16:creationId xmlns:a16="http://schemas.microsoft.com/office/drawing/2014/main" id="{3231A8FE-2407-4759-BAB9-E94BD4BF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248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b  相对效用估计与读写辅助学习</a:t>
            </a:r>
          </a:p>
        </p:txBody>
      </p:sp>
      <p:sp>
        <p:nvSpPr>
          <p:cNvPr id="27" name="shape-258">
            <a:extLst xmlns:a="http://schemas.openxmlformats.org/drawingml/2006/main">
              <a:ext uri="{FF2B5EF4-FFF2-40B4-BE49-F238E27FC236}">
                <a16:creationId xmlns:a16="http://schemas.microsoft.com/office/drawing/2014/main" id="{31886666-815F-4B08-B791-E5217310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10625"/>
            <a:ext cx="38100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3EDDA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平均回报差</a:t>
            </a:r>
          </a:p>
          <a:p xmlns:a="http://schemas.openxmlformats.org/drawingml/2006/main">
            <a:pPr algn="ctr">
              <a:def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及其不确定性</a:t>
            </a:r>
          </a:p>
        </p:txBody>
      </p:sp>
      <p:sp>
        <p:nvSpPr>
          <p:cNvPr id="28" name="shape-259">
            <a:extLst xmlns:a="http://schemas.openxmlformats.org/drawingml/2006/main">
              <a:ext uri="{FF2B5EF4-FFF2-40B4-BE49-F238E27FC236}">
                <a16:creationId xmlns:a16="http://schemas.microsoft.com/office/drawing/2014/main" id="{0E872ADD-CAFF-4A88-8EF1-7674E4C0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810625"/>
            <a:ext cx="3857625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AF0C8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可信偏好 (u⁺, u⁻)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差异不明则弃权</a:t>
            </a:r>
          </a:p>
        </p:txBody>
      </p:sp>
      <p:sp>
        <p:nvSpPr>
          <p:cNvPr id="29" name="shape-260">
            <a:extLst xmlns:a="http://schemas.openxmlformats.org/drawingml/2006/main">
              <a:ext uri="{FF2B5EF4-FFF2-40B4-BE49-F238E27FC236}">
                <a16:creationId xmlns:a16="http://schemas.microsoft.com/office/drawing/2014/main" id="{19690FAD-6619-4563-83E8-73F88E1D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8810625"/>
            <a:ext cx="4429125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14288">
            <a:solidFill>
              <a:srgbClr val="666D72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基础目标＋读写辅助项</a:t>
            </a:r>
          </a:p>
          <a:p xmlns:a="http://schemas.openxmlformats.org/drawingml/2006/main">
            <a:pPr algn="ctr">
              <a:def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02124"/>
                </a:solidFill>
                <a:latin typeface="Noto Sans CJK SC"/>
                <a:ea typeface="Noto Sans CJK SC"/>
                <a:cs typeface="Noto Sans CJK SC"/>
              </a:rPr>
              <a:t>更新共享VLM θ</a:t>
            </a:r>
          </a:p>
        </p:txBody>
      </p:sp>
      <p:sp>
        <p:nvSpPr>
          <p:cNvPr id="32" name="shape-261">
            <a:extLst xmlns:a="http://schemas.openxmlformats.org/drawingml/2006/main">
              <a:ext uri="{FF2B5EF4-FFF2-40B4-BE49-F238E27FC236}">
                <a16:creationId xmlns:a16="http://schemas.microsoft.com/office/drawing/2014/main" id="{180E1B38-DFA7-40D6-8526-EBE6F6AF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203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F6368"/>
                </a:solidFill>
                <a:latin typeface="Noto Sans CJK SC"/>
                <a:ea typeface="Noto Sans CJK SC"/>
                <a:cs typeface="Noto Sans CJK SC"/>
              </a:rPr>
              <a:t>分支、恢复、弃用续跑均计入成本</a:t>
            </a:r>
          </a:p>
        </p:txBody>
      </p:sp>
      <p:sp>
        <p:nvSpPr>
          <p:cNvPr id="33" name="shape-262">
            <a:extLst xmlns:a="http://schemas.openxmlformats.org/drawingml/2006/main">
              <a:ext uri="{FF2B5EF4-FFF2-40B4-BE49-F238E27FC236}">
                <a16:creationId xmlns:a16="http://schemas.microsoft.com/office/drawing/2014/main" id="{AB4431B8-2A88-4C67-86C1-6524C7EC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203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025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2025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95660"/>
                </a:solidFill>
                <a:latin typeface="Noto Sans CJK SC"/>
                <a:ea typeface="Noto Sans CJK SC"/>
                <a:cs typeface="Noto Sans CJK SC"/>
              </a:rPr>
              <a:t>辅助项仅计READ / WRITE token</a:t>
            </a:r>
          </a:p>
        </p:txBody>
      </p:sp>
    </p:spTree>
    <p:extLst>
      <p:ext uri="{BB962C8B-B14F-4D97-AF65-F5344CB8AC3E}">
        <p14:creationId xmlns:p14="http://schemas.microsoft.com/office/powerpoint/2010/main" val="928073558"/>
      </p:ext>
    </p:extLst>
  </p:cSld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94685"/>
            <a:ext cx="14325600" cy="2714932"/>
          </a:xfrm>
          <a:prstGeom prst="rect">
            <a:avLst/>
          </a:prstGeom>
        </p:spPr>
      </p:pic>
      <p:sp>
        <p:nvSpPr>
          <p:cNvPr id="4" name="figure-caption-zh"/>
          <p:cNvSpPr>
            <a:spLocks noGrp="1"/>
          </p:cNvSpPr>
          <p:nvPr/>
        </p:nvSpPr>
        <p:spPr>
          <a:xfrm>
            <a:off x="2867660" y="6290945"/>
            <a:ext cx="899604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图1.1  π0.5在未见家庭厨房中的多任务操作示例</a:t>
            </a:r>
            <a:endParaRPr sz="2400" b="1">
              <a:solidFill>
                <a:srgbClr val="263645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" name="figure-caption-en"/>
          <p:cNvSpPr>
            <a:spLocks noGrp="1"/>
          </p:cNvSpPr>
          <p:nvPr/>
        </p:nvSpPr>
        <p:spPr>
          <a:xfrm>
            <a:off x="2867660" y="6881495"/>
            <a:ext cx="954468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Figure 1.1  Examples of π0.5 performing tasks in an unseen home kitchen</a:t>
            </a:r>
            <a:endParaRPr sz="2025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evidence-title"/>
          <p:cNvSpPr>
            <a:spLocks noGrp="1"/>
          </p:cNvSpPr>
          <p:nvPr/>
        </p:nvSpPr>
        <p:spPr>
          <a:xfrm>
            <a:off x="400050" y="666750"/>
            <a:ext cx="1443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RoboChemist的真实化学实验操作</a:t>
            </a:r>
            <a:endParaRPr sz="3150" b="1">
              <a:solidFill>
                <a:srgbClr val="263645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2" name="evidence-subtitle"/>
          <p:cNvSpPr>
            <a:spLocks noGrp="1"/>
          </p:cNvSpPr>
          <p:nvPr/>
        </p:nvSpPr>
        <p:spPr>
          <a:xfrm>
            <a:off x="419100" y="1447800"/>
            <a:ext cx="1438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混合、铜焰色试验及酸碱中和的真实执行画面</a:t>
            </a:r>
            <a:endParaRPr sz="2250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33625"/>
            <a:ext cx="14325600" cy="4894580"/>
          </a:xfrm>
          <a:prstGeom prst="rect">
            <a:avLst/>
          </a:prstGeom>
        </p:spPr>
      </p:pic>
      <p:sp>
        <p:nvSpPr>
          <p:cNvPr id="4" name="figure-caption-zh"/>
          <p:cNvSpPr>
            <a:spLocks noGrp="1"/>
          </p:cNvSpPr>
          <p:nvPr/>
        </p:nvSpPr>
        <p:spPr>
          <a:xfrm>
            <a:off x="419100" y="7810500"/>
            <a:ext cx="14401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40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图1.2  RoboChemist的多步骤化学实验执行示例</a:t>
            </a:r>
            <a:endParaRPr sz="2400" b="1">
              <a:solidFill>
                <a:srgbClr val="263645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" name="figure-caption-en"/>
          <p:cNvSpPr>
            <a:spLocks noGrp="1"/>
          </p:cNvSpPr>
          <p:nvPr/>
        </p:nvSpPr>
        <p:spPr>
          <a:xfrm>
            <a:off x="419100" y="8401050"/>
            <a:ext cx="144018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Figure 1.2  Examples of multi-step chemical experimentation with RoboChemist</a:t>
            </a:r>
            <a:endParaRPr sz="2025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" name="figure-source"/>
          <p:cNvSpPr>
            <a:spLocks noGrp="1"/>
          </p:cNvSpPr>
          <p:nvPr/>
        </p:nvSpPr>
        <p:spPr>
          <a:xfrm>
            <a:off x="419100" y="9286875"/>
            <a:ext cx="1440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引自文献[3]原图4，CoRL 2025 / PMLR 305，第3543页</a:t>
            </a:r>
            <a:endParaRPr sz="1950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" name="figure-scope"/>
          <p:cNvSpPr>
            <a:spLocks noGrp="1"/>
          </p:cNvSpPr>
          <p:nvPr/>
        </p:nvSpPr>
        <p:spPr>
          <a:xfrm>
            <a:off x="419100" y="9867900"/>
            <a:ext cx="14401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9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原作者系统的实验画面，用于介绍已有研究基础。</a:t>
            </a:r>
            <a:endParaRPr sz="1950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mem-title"/>
          <p:cNvSpPr>
            <a:spLocks noGrp="1"/>
          </p:cNvSpPr>
          <p:nvPr/>
        </p:nvSpPr>
        <p:spPr>
          <a:xfrm>
            <a:off x="400050" y="609600"/>
            <a:ext cx="1443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1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MEM的长时程与部分可观测操作</a:t>
            </a:r>
            <a:endParaRPr sz="3150" b="1">
              <a:solidFill>
                <a:srgbClr val="263645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2" name="mem-subtitle"/>
          <p:cNvSpPr>
            <a:spLocks noGrp="1"/>
          </p:cNvSpPr>
          <p:nvPr/>
        </p:nvSpPr>
        <p:spPr>
          <a:xfrm>
            <a:off x="419100" y="1381125"/>
            <a:ext cx="1438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25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长时程任务与依赖执行历史的真实机器人任务示例</a:t>
            </a:r>
            <a:endParaRPr sz="2250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0" y="1986786"/>
            <a:ext cx="11620500" cy="7416423"/>
          </a:xfrm>
          <a:prstGeom prst="rect">
            <a:avLst/>
          </a:prstGeom>
        </p:spPr>
      </p:pic>
      <p:sp>
        <p:nvSpPr>
          <p:cNvPr id="4" name="figure-caption-zh"/>
          <p:cNvSpPr>
            <a:spLocks noGrp="1"/>
          </p:cNvSpPr>
          <p:nvPr/>
        </p:nvSpPr>
        <p:spPr>
          <a:xfrm>
            <a:off x="419100" y="9582150"/>
            <a:ext cx="14401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250" b="1">
                <a:solidFill>
                  <a:srgbClr val="263645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图1.3 MEM的长时程与部分可观测操作任务示例（引自文献[15]原图1上部）</a:t>
            </a:r>
            <a:endParaRPr sz="2250" b="1">
              <a:solidFill>
                <a:srgbClr val="263645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" name="figure-caption-en"/>
          <p:cNvSpPr>
            <a:spLocks noGrp="1"/>
          </p:cNvSpPr>
          <p:nvPr/>
        </p:nvSpPr>
        <p:spPr>
          <a:xfrm>
            <a:off x="419100" y="10153650"/>
            <a:ext cx="1440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02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Figure 1.3 Long-horizon and partially observable tasks in MEM.</a:t>
            </a:r>
            <a:endParaRPr sz="2025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" name="figure-source"/>
          <p:cNvSpPr>
            <a:spLocks noGrp="1"/>
          </p:cNvSpPr>
          <p:nvPr/>
        </p:nvSpPr>
        <p:spPr>
          <a:xfrm>
            <a:off x="419100" y="10629900"/>
            <a:ext cx="1440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75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来源：文献[15]，arXiv:2603.03596v2，原图1上部，PDF第1页</a:t>
            </a:r>
            <a:endParaRPr sz="1875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" name="figure-scope"/>
          <p:cNvSpPr>
            <a:spLocks noGrp="1"/>
          </p:cNvSpPr>
          <p:nvPr/>
        </p:nvSpPr>
        <p:spPr>
          <a:xfrm>
            <a:off x="419100" y="11049000"/>
            <a:ext cx="144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defPPr>
            <a:lvl1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1pPr>
            <a:lvl2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2pPr>
            <a:lvl3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3pPr>
            <a:lvl4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4pPr>
            <a:lvl5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5pPr>
            <a:lvl6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6pPr>
            <a:lvl7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7pPr>
            <a:lvl8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8pPr>
            <a:lvl9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lvl9pPr>
          </a:lstStyle>
          <a:p>
            <a:pPr algn="l">
              <a:def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00" b="0">
                <a:solidFill>
                  <a:srgbClr val="68798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原作者报告，非本地结果；不构成RL记忆训练或在线参数自我更新的证据。</a:t>
            </a:r>
            <a:endParaRPr sz="1800" b="0">
              <a:solidFill>
                <a:srgbClr val="68798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WPS Presentation</Application>
  <PresentationFormat>Converted Presentation</PresentationFormat>
  <Paragraphs>342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Noto Sans CJK SC</vt:lpstr>
      <vt:lpstr>微软雅黑</vt:lpstr>
      <vt:lpstr>宋体</vt:lpstr>
      <vt:lpstr>Arial Unicode MS</vt:lpstr>
      <vt:lpstr>Aptos</vt:lpstr>
      <vt:lpstr>C059</vt:lpstr>
      <vt:lpstr>DejaVu Sans</vt:lpstr>
      <vt:lpstr>ChatGPT</vt:lpstr>
      <vt:lpstr>PowerPoint 演示文稿</vt:lpstr>
      <vt:lpstr>PowerPoint 演示文稿</vt:lpstr>
      <vt:lpstr>PowerPoint 演示文稿</vt:lpstr>
      <vt:lpstr>图3.1  研究内容与递进关系</vt:lpstr>
      <vt:lpstr>图3.2  历史依赖诊断与分阶段验证</vt:lpstr>
      <vt:lpstr>图3.3  阶段回报条件与分路联合训练</vt:lpstr>
      <vt:lpstr>图3.4  配对续跑的读写效用与辅助训练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admin123</cp:lastModifiedBy>
  <cp:revision>2</cp:revision>
  <dcterms:created xsi:type="dcterms:W3CDTF">2026-10-19T08:34:48Z</dcterms:created>
  <dcterms:modified xsi:type="dcterms:W3CDTF">2026-10-19T08:34:48Z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1033-11.1.0.11733</vt:lpwstr>
  </property>
</Properties>
</file>