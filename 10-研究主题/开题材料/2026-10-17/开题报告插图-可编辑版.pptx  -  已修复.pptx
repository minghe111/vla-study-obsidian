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10"/>
  </p:notesMasterIdLst>
  <p:sldIdLst>
    <p:sldId id="262" r:id="rId3"/>
    <p:sldId id="263" r:id="rId4"/>
    <p:sldId id="256" r:id="rId5"/>
    <p:sldId id="264" r:id="rId6"/>
    <p:sldId id="265" r:id="rId7"/>
    <p:sldId id="266" r:id="rId8"/>
    <p:sldId id="267" r:id="rId9"/>
  </p:sldIdLst>
  <p:sldSz cx="15240000" cy="11430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8" autoAdjust="0"/>
    <p:restoredTop sz="94660"/>
  </p:normalViewPr>
  <p:slideViewPr>
    <p:cSldViewPr snapToGrid="0">
      <p:cViewPr varScale="1">
        <p:scale>
          <a:sx n="43" d="100"/>
          <a:sy n="43" d="100"/>
        </p:scale>
        <p:origin x="72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图1.1 π0.5在未见家庭厨房中的多任务操作示例。</a:t>
            </a:r>
          </a:p>
          <a:p>
            <a:r>
              <a:t>Figure 1.1 Examples of π0.5 performing tasks in an unseen home kitchen.</a:t>
            </a:r>
          </a:p>
          <a:p>
            <a:r>
              <a:t>来源：文献[2]，arXiv:2504.16054v1，原图2，PDF物理第2页，2025-04-22。</a:t>
            </a:r>
          </a:p>
          <a:p>
            <a:r>
              <a:t>https://arxiv.org/abs/2504.16054v1</a:t>
            </a:r>
          </a:p>
          <a:p>
            <a:r>
              <a:t>https://www.pi.website/blog/pi05</a:t>
            </a:r>
          </a:p>
          <a:p>
            <a:r>
              <a:t>原图仅经过PDF光栅化和矩形裁切，无生成、修图、标签改写或面板重排。保留原英文任务标签。各任务示例不等于单条连续轨迹，不是本地RM65-B实验结果，不代表公开权重已经具备项目记忆接口。</a:t>
            </a:r>
          </a:p>
          <a:p>
            <a:r>
              <a:t>本页标题、中英文图注、来源和说明均为原生可编辑文字；照片为独立可替换图片，原图内部文字属于原始图像。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图1.2 RoboChemist的多步骤化学实验执行示例。</a:t>
            </a:r>
          </a:p>
          <a:p>
            <a:r>
              <a:t>Figure 1.2 Examples of multi-step chemical experimentation with RoboChemist.</a:t>
            </a:r>
          </a:p>
          <a:p>
            <a:r>
              <a:t>来源：本次重排后的文献[3]，正式CoRL 2025/PMLR 305论文，原图4，PDF物理第7页/会议论文集第3543页。</a:t>
            </a:r>
          </a:p>
          <a:p>
            <a:r>
              <a:t>https://proceedings.mlr.press/v305/zhang25i.html</a:t>
            </a:r>
          </a:p>
          <a:p>
            <a:r>
              <a:t>https://zzongzheng0918.github.io/RoboChemist.github.io/</a:t>
            </a:r>
          </a:p>
          <a:p>
            <a:r>
              <a:t>原图仅经过PDF光栅化和矩形裁切，无生成、修图、标签改写或面板重排。保留原始面板、任务标签和照片。平台为原作者的Cobot Magic ALOHA；不是本项目RM65-B结果，也不是RL训练记忆的证据。</a:t>
            </a:r>
          </a:p>
          <a:p>
            <a:r>
              <a:t>本页标题、中英文图注、来源和说明均为原生可编辑文字；照片为独立可替换图片，原图内部文字属于原始图像。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图1.3 MEM的长时程与部分可观测操作任务示例（引自文献[15]原图1上部）。</a:t>
            </a:r>
          </a:p>
          <a:p>
            <a:r>
              <a:t>Figure 1.3 Long-horizon and partially observable tasks in MEM.</a:t>
            </a:r>
          </a:p>
          <a:p>
            <a:r>
              <a:t>来源：MEM: Multi-Scale Embodied Memory for Vision Language Action Models，arXiv:2603.03596v2，原图1上方两排，PDF物理第1页。</a:t>
            </a:r>
          </a:p>
          <a:p>
            <a:r>
              <a:t>https://arxiv.org/abs/2603.03596v2</a:t>
            </a:r>
          </a:p>
          <a:p>
            <a:r>
              <a:t>原图裁切保留了Long-Horizon Tasks with Memory与Solve Tasks w/ Partial Observability两组完整面板和原始标签，未改写照片或图内文字。原作者平台与结果，不是本地RM65-B结果。上下文适应不等于在线参数更新，也不构成RL训练记忆的证据。</a:t>
            </a:r>
          </a:p>
          <a:p>
            <a:r>
              <a:t>本页图名、中英文图注、来源和范围说明是原生可编辑文字。原论文图作为独立可替换图片，图内原始文字属于图片。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参考来源：MEM, Fig.2, PDF p.4, https://www.pi.website/download/Mem.pdf；π0.7, Fig.2, PDF p.4, https://www.pi.website/download/pi07.pdf。</a:t>
            </a:r>
          </a:p>
          <a:p>
            <a:r>
              <a:t>借鉴MEM记忆输入、更新输出与子任务连接，及π系列横向主干和侧挂动作专家的表达。本文改为π0.5自身共享VLM，不使用MEM的两套高低层参数，也不引入π0.7的BAGEL世界模型或图像子目标。</a:t>
            </a:r>
          </a:p>
          <a:p>
            <a:r>
              <a:t>左侧MICA为既有前期研究，照片来自本库MICA稿件素材；与后续方案之间仅为研究经验关系，不传递权重或输出。A已核验、B滑落及重新抓取B为拟方案例示，不是新实验轨迹。第三项读写效用优化为本文拟研究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参考来源：MEM Fig.4 (PDF p.4) 和 Fig.5 (p.6), https://www.pi.website/download/Mem.pdf；π0.7 Fig.3 (p.6), https://www.pi.website/download/pi07.pdf。</a:t>
            </a:r>
          </a:p>
          <a:p>
            <a:r>
              <a:t>借鉴按时间列对齐、按信息类别分行和历史窗口的表达，重新绘制本课题的匹配历史诊断。o与s分别表示近期视觉观测和本体状态；两行的整个近期窗口及其他非记忆输入匹配，关键核验事件位于窗口之前。此处不是原作者实验照片或结果。</a:t>
            </a:r>
          </a:p>
          <a:p>
            <a:r>
              <a:t>记忆消融仅改变跨步骤通道；训练方法对照控制其他可见信息与动作接口。同数据辅助项消融和等总物理步数比较服务不同归因问题。阶段推进以接口、历史需求和评价可靠性为准，不要求先得到正向增益。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参考来源：π0.5 Fig.3, PDF p.4, https://arxiv.org/abs/2504.16054；π*0.6 / RECAP Fig.3, PDF p.4, https://arxiv.org/abs/2511.14759v2；KI机制依据 https://arxiv.org/abs/2505.23705。</a:t>
            </a:r>
          </a:p>
          <a:p>
            <a:r>
              <a:t>借鉴π0.5的横向共享主干、离散文本与连续动作两类输出及侧挂expert，RECAP的价值/质量条件与策略学习分工。新增READ/WRITE、双价值时点和相应质量条件为本课题方案，不称原π0.5已含这些模块。</a:t>
            </a:r>
          </a:p>
          <a:p>
            <a:r>
              <a:t>高层价值在READ之前，动作价值在子任务之后、动作之前取值。阶段回报与相应边界价值形成优势，质量标签只用于训练条件；rollout和推理使用预设正质量条件。工具正文只作上下文；FAST答案不进入连续专家前缀。红色虚线是梯度，灰/蓝实线是输入或标签；FM在K/V接口停止对VLM的梯度。参考图中的模型规模、原实验成绩不移植。示范锚定和其他权重见正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绘图参考：π0.7 Fig.3, PDF p.6, https://www.pi.website/download/pi07.pdf；MEM Fig.5, PDF p.6, https://www.pi.website/download/Mem.pdf。仅借鉴分行对比、按时序列对齐的排法，不将配对读写效用算法归于这些论文。</a:t>
            </a:r>
          </a:p>
          <a:p>
            <a:r>
              <a:t>固定扩展起点x（物理、控制器、观测历史、内部记忆和未执行动作缓存）、后续参数κr与最大信息预算。正式比较之前先核验恢复重复性。每组候选与参考共享预设配对随机数，不同组独立重复。各分支重新生成子任务、执行并持续更新允许的信息，未来决策可以不同；输出不是单次回报相减，而是独立重复组的平均回报差和不确定性。</a:t>
            </a:r>
          </a:p>
          <a:p>
            <a:r>
              <a:t>候选写入须有本分支可见证据，事实正确性单独核验。参考NONE/KEEP不自动是负样本，候选也不自动是正样本，偏好方向由可信效用比较决定。辅助DPO式目标加在基础训练上，仅计READ/WRITE生成概率；工具正文与子任务不计该辅助损失，共享VLM更新仍可能间接影响子任务和动作条件。所有分支、恢复与弃用续跑计入交互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524000" y="4318000"/>
            <a:ext cx="12192000" cy="1651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286000" y="6286500"/>
            <a:ext cx="10668000" cy="1270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524000" y="4762500"/>
            <a:ext cx="12192000" cy="1905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889000"/>
            <a:ext cx="13525500" cy="1397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857250" y="3175000"/>
            <a:ext cx="13525500" cy="711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57250" y="889000"/>
            <a:ext cx="13525500" cy="1397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3175000"/>
            <a:ext cx="6286500" cy="711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8096250" y="3175000"/>
            <a:ext cx="6286500" cy="711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889000"/>
            <a:ext cx="13525500" cy="1397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3175000"/>
            <a:ext cx="6286500" cy="711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6683975-F117-4D84-9B30-6E8296EB4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318000"/>
            <a:ext cx="12192000" cy="1651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3629101-39B1-495D-85AC-8BEAC1227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6286500"/>
            <a:ext cx="10668000" cy="1270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4DE2922-CE4C-417C-8F32-264A68FDA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762500"/>
            <a:ext cx="12192000" cy="1905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5A1A572-F90D-452A-B11D-590A3A9DB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889000"/>
            <a:ext cx="13525500" cy="1397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67CAFD1-B1CA-4C1D-B076-1021C889A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3175000"/>
            <a:ext cx="13525500" cy="711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3048796-4387-4E8F-BAC2-FA7EC1E88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889000"/>
            <a:ext cx="13525500" cy="1397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D8239F0-7574-4B34-9052-F4B2B3593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3175000"/>
            <a:ext cx="6286500" cy="711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710CB09-97D9-48B6-94CE-2326363800B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3175000"/>
            <a:ext cx="6286500" cy="711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FE9764F-D925-4252-8711-8D574A0B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889000"/>
            <a:ext cx="13525500" cy="1397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4D3359C-FC26-4856-ABEE-BFA223F39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3175000"/>
            <a:ext cx="6286500" cy="711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94685"/>
            <a:ext cx="14325600" cy="2714932"/>
          </a:xfrm>
          <a:prstGeom prst="rect">
            <a:avLst/>
          </a:prstGeom>
        </p:spPr>
      </p:pic>
      <p:sp>
        <p:nvSpPr>
          <p:cNvPr id="4" name="figure-caption-zh"/>
          <p:cNvSpPr>
            <a:spLocks noGrp="1"/>
          </p:cNvSpPr>
          <p:nvPr/>
        </p:nvSpPr>
        <p:spPr>
          <a:xfrm>
            <a:off x="2867660" y="6290945"/>
            <a:ext cx="899604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图1.1  π0.5在未见家庭厨房中的多任务操作示例</a:t>
            </a:r>
          </a:p>
        </p:txBody>
      </p:sp>
      <p:sp>
        <p:nvSpPr>
          <p:cNvPr id="5" name="figure-caption-en"/>
          <p:cNvSpPr>
            <a:spLocks noGrp="1"/>
          </p:cNvSpPr>
          <p:nvPr/>
        </p:nvSpPr>
        <p:spPr>
          <a:xfrm>
            <a:off x="2867660" y="6881495"/>
            <a:ext cx="954468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Figure 1.1  Examples of π0.5 performing tasks in an unseen home kitchen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vidence-title"/>
          <p:cNvSpPr>
            <a:spLocks noGrp="1"/>
          </p:cNvSpPr>
          <p:nvPr/>
        </p:nvSpPr>
        <p:spPr>
          <a:xfrm>
            <a:off x="400050" y="666750"/>
            <a:ext cx="14439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RoboChemist的真实化学实验操作</a:t>
            </a:r>
          </a:p>
        </p:txBody>
      </p:sp>
      <p:sp>
        <p:nvSpPr>
          <p:cNvPr id="2" name="evidence-subtitle"/>
          <p:cNvSpPr>
            <a:spLocks noGrp="1"/>
          </p:cNvSpPr>
          <p:nvPr/>
        </p:nvSpPr>
        <p:spPr>
          <a:xfrm>
            <a:off x="419100" y="1447800"/>
            <a:ext cx="1438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混合、铜焰色试验及酸碱中和的真实执行画面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3625"/>
            <a:ext cx="14325600" cy="4894580"/>
          </a:xfrm>
          <a:prstGeom prst="rect">
            <a:avLst/>
          </a:prstGeom>
        </p:spPr>
      </p:pic>
      <p:sp>
        <p:nvSpPr>
          <p:cNvPr id="4" name="figure-caption-zh"/>
          <p:cNvSpPr>
            <a:spLocks noGrp="1"/>
          </p:cNvSpPr>
          <p:nvPr/>
        </p:nvSpPr>
        <p:spPr>
          <a:xfrm>
            <a:off x="419100" y="7810500"/>
            <a:ext cx="144018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图1.2  RoboChemist的多步骤化学实验执行示例</a:t>
            </a:r>
          </a:p>
        </p:txBody>
      </p:sp>
      <p:sp>
        <p:nvSpPr>
          <p:cNvPr id="5" name="figure-caption-en"/>
          <p:cNvSpPr>
            <a:spLocks noGrp="1"/>
          </p:cNvSpPr>
          <p:nvPr/>
        </p:nvSpPr>
        <p:spPr>
          <a:xfrm>
            <a:off x="419100" y="8401050"/>
            <a:ext cx="144018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Figure 1.2  Examples of multi-step chemical experimentation with RoboChemist</a:t>
            </a:r>
          </a:p>
        </p:txBody>
      </p:sp>
      <p:sp>
        <p:nvSpPr>
          <p:cNvPr id="6" name="figure-source"/>
          <p:cNvSpPr>
            <a:spLocks noGrp="1"/>
          </p:cNvSpPr>
          <p:nvPr/>
        </p:nvSpPr>
        <p:spPr>
          <a:xfrm>
            <a:off x="419100" y="9286875"/>
            <a:ext cx="1440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引自文献[3]原图4，CoRL 2025 / PMLR 305，第3543页</a:t>
            </a:r>
          </a:p>
        </p:txBody>
      </p:sp>
      <p:sp>
        <p:nvSpPr>
          <p:cNvPr id="7" name="figure-scope"/>
          <p:cNvSpPr>
            <a:spLocks noGrp="1"/>
          </p:cNvSpPr>
          <p:nvPr/>
        </p:nvSpPr>
        <p:spPr>
          <a:xfrm>
            <a:off x="419100" y="9867900"/>
            <a:ext cx="14401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原作者系统的实验画面，用于介绍已有研究基础。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m-title"/>
          <p:cNvSpPr>
            <a:spLocks noGrp="1"/>
          </p:cNvSpPr>
          <p:nvPr/>
        </p:nvSpPr>
        <p:spPr>
          <a:xfrm>
            <a:off x="400050" y="609600"/>
            <a:ext cx="14439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MEM的长时程与部分可观测操作</a:t>
            </a:r>
          </a:p>
        </p:txBody>
      </p:sp>
      <p:sp>
        <p:nvSpPr>
          <p:cNvPr id="2" name="mem-subtitle"/>
          <p:cNvSpPr>
            <a:spLocks noGrp="1"/>
          </p:cNvSpPr>
          <p:nvPr/>
        </p:nvSpPr>
        <p:spPr>
          <a:xfrm>
            <a:off x="419100" y="1381125"/>
            <a:ext cx="1438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长时程任务与依赖执行历史的真实机器人任务示例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986786"/>
            <a:ext cx="11620500" cy="7416423"/>
          </a:xfrm>
          <a:prstGeom prst="rect">
            <a:avLst/>
          </a:prstGeom>
        </p:spPr>
      </p:pic>
      <p:sp>
        <p:nvSpPr>
          <p:cNvPr id="4" name="figure-caption-zh"/>
          <p:cNvSpPr>
            <a:spLocks noGrp="1"/>
          </p:cNvSpPr>
          <p:nvPr/>
        </p:nvSpPr>
        <p:spPr>
          <a:xfrm>
            <a:off x="419100" y="9582150"/>
            <a:ext cx="14401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图1.3 MEM的长时程与部分可观测操作任务示例（引自文献[15]原图1上部）</a:t>
            </a:r>
          </a:p>
        </p:txBody>
      </p:sp>
      <p:sp>
        <p:nvSpPr>
          <p:cNvPr id="5" name="figure-caption-en"/>
          <p:cNvSpPr>
            <a:spLocks noGrp="1"/>
          </p:cNvSpPr>
          <p:nvPr/>
        </p:nvSpPr>
        <p:spPr>
          <a:xfrm>
            <a:off x="419100" y="10153650"/>
            <a:ext cx="1440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Figure 1.3 Long-horizon and partially observable tasks in MEM.</a:t>
            </a:r>
          </a:p>
        </p:txBody>
      </p:sp>
      <p:sp>
        <p:nvSpPr>
          <p:cNvPr id="6" name="figure-source"/>
          <p:cNvSpPr>
            <a:spLocks noGrp="1"/>
          </p:cNvSpPr>
          <p:nvPr/>
        </p:nvSpPr>
        <p:spPr>
          <a:xfrm>
            <a:off x="419100" y="10629900"/>
            <a:ext cx="1440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来源：文献[15]，arXiv:2603.03596v2，原图1上部，PDF第1页</a:t>
            </a:r>
          </a:p>
        </p:txBody>
      </p:sp>
      <p:sp>
        <p:nvSpPr>
          <p:cNvPr id="7" name="figure-scope"/>
          <p:cNvSpPr>
            <a:spLocks noGrp="1"/>
          </p:cNvSpPr>
          <p:nvPr/>
        </p:nvSpPr>
        <p:spPr>
          <a:xfrm>
            <a:off x="419100" y="11049000"/>
            <a:ext cx="144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原作者报告，非本地结果；不构成RL记忆训练或在线参数自我更新的证据。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83235D1A-FD58-4A0E-8C65-4D4723398D8B}"/>
              </a:ext>
            </a:extLst>
          </p:cNvPr>
          <p:cNvCxnSpPr>
            <a:stCxn id="95" idx="3"/>
            <a:endCxn id="96" idx="1"/>
          </p:cNvCxnSpPr>
          <p:nvPr/>
        </p:nvCxnSpPr>
        <p:spPr>
          <a:xfrm>
            <a:off x="9144000" y="9839325"/>
            <a:ext cx="1238250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BA8B476E-1B0A-4B34-938E-9B96247BE7BA}"/>
              </a:ext>
            </a:extLst>
          </p:cNvPr>
          <p:cNvCxnSpPr>
            <a:stCxn id="94" idx="3"/>
            <a:endCxn id="95" idx="1"/>
          </p:cNvCxnSpPr>
          <p:nvPr/>
        </p:nvCxnSpPr>
        <p:spPr>
          <a:xfrm>
            <a:off x="4238625" y="9839325"/>
            <a:ext cx="1238250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918EFD6F-2E6B-492C-B9D3-7C474191B4DA}"/>
              </a:ext>
            </a:extLst>
          </p:cNvPr>
          <p:cNvCxnSpPr>
            <a:stCxn id="89" idx="2"/>
            <a:endCxn id="90" idx="0"/>
          </p:cNvCxnSpPr>
          <p:nvPr/>
        </p:nvCxnSpPr>
        <p:spPr>
          <a:xfrm>
            <a:off x="13592175" y="6134100"/>
            <a:ext cx="0" cy="219075"/>
          </a:xfrm>
          <a:prstGeom prst="straightConnector1">
            <a:avLst/>
          </a:prstGeom>
          <a:ln w="20955">
            <a:solidFill>
              <a:srgbClr val="5C8069"/>
            </a:solidFill>
            <a:prstDash val="solid"/>
            <a:tailEnd type="triangle" w="med" len="med"/>
          </a:ln>
        </p:spPr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58BC70D9-9A84-4CD9-AB7D-B381A83E0469}"/>
              </a:ext>
            </a:extLst>
          </p:cNvPr>
          <p:cNvCxnSpPr>
            <a:stCxn id="85" idx="0"/>
            <a:endCxn id="86" idx="2"/>
          </p:cNvCxnSpPr>
          <p:nvPr/>
        </p:nvCxnSpPr>
        <p:spPr>
          <a:xfrm flipV="1">
            <a:off x="8496300" y="6124575"/>
            <a:ext cx="0" cy="371475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DE29923C-5693-4A0E-B47F-EE6DFBB067D2}"/>
              </a:ext>
            </a:extLst>
          </p:cNvPr>
          <p:cNvCxnSpPr>
            <a:stCxn id="19" idx="3"/>
            <a:endCxn id="53" idx="1"/>
          </p:cNvCxnSpPr>
          <p:nvPr/>
        </p:nvCxnSpPr>
        <p:spPr>
          <a:xfrm>
            <a:off x="12001500" y="5562600"/>
            <a:ext cx="571500" cy="0"/>
          </a:xfrm>
          <a:prstGeom prst="straightConnector1">
            <a:avLst/>
          </a:prstGeom>
          <a:ln w="20955">
            <a:solidFill>
              <a:srgbClr val="40758A"/>
            </a:solidFill>
            <a:prstDash val="solid"/>
            <a:tailEnd type="triangle" w="med" len="med"/>
          </a:ln>
        </p:spPr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8D3CDBBE-CBE7-405D-8CEE-E90CFA03675E}"/>
              </a:ext>
            </a:extLst>
          </p:cNvPr>
          <p:cNvCxnSpPr>
            <a:stCxn id="73" idx="0"/>
            <a:endCxn id="74" idx="2"/>
          </p:cNvCxnSpPr>
          <p:nvPr/>
        </p:nvCxnSpPr>
        <p:spPr>
          <a:xfrm flipV="1">
            <a:off x="12430125" y="3810000"/>
            <a:ext cx="0" cy="419100"/>
          </a:xfrm>
          <a:prstGeom prst="straightConnector1">
            <a:avLst/>
          </a:prstGeom>
          <a:ln w="20955">
            <a:solidFill>
              <a:srgbClr val="40758A"/>
            </a:solidFill>
            <a:prstDash val="solid"/>
            <a:tailEnd type="triangle" w="med" len="med"/>
          </a:ln>
        </p:spPr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915B6E40-5121-4140-A9A0-F0F92363104D}"/>
              </a:ext>
            </a:extLst>
          </p:cNvPr>
          <p:cNvCxnSpPr>
            <a:stCxn id="67" idx="0"/>
            <a:endCxn id="68" idx="2"/>
          </p:cNvCxnSpPr>
          <p:nvPr/>
        </p:nvCxnSpPr>
        <p:spPr>
          <a:xfrm flipV="1">
            <a:off x="8315325" y="4076700"/>
            <a:ext cx="0" cy="923925"/>
          </a:xfrm>
          <a:prstGeom prst="straightConnector1">
            <a:avLst/>
          </a:prstGeom>
          <a:ln w="20955">
            <a:solidFill>
              <a:srgbClr val="8B6A9B"/>
            </a:solidFill>
            <a:prstDash val="solid"/>
            <a:tailEnd type="triangle" w="med" len="med"/>
          </a:ln>
        </p:spPr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B7D5666-7BFD-4404-98E9-ACED655994CF}"/>
              </a:ext>
            </a:extLst>
          </p:cNvPr>
          <p:cNvCxnSpPr>
            <a:stCxn id="63" idx="2"/>
            <a:endCxn id="64" idx="0"/>
          </p:cNvCxnSpPr>
          <p:nvPr/>
        </p:nvCxnSpPr>
        <p:spPr>
          <a:xfrm>
            <a:off x="6305550" y="4076700"/>
            <a:ext cx="0" cy="923925"/>
          </a:xfrm>
          <a:prstGeom prst="straightConnector1">
            <a:avLst/>
          </a:prstGeom>
          <a:ln w="20955">
            <a:solidFill>
              <a:srgbClr val="8B6A9B"/>
            </a:solidFill>
            <a:prstDash val="solid"/>
            <a:tailEnd type="triangle" w="med" len="med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026CE0B-BAF5-407E-BFA7-61D94C977BCB}"/>
              </a:ext>
            </a:extLst>
          </p:cNvPr>
          <p:cNvCxnSpPr>
            <a:cxnSpLocks/>
          </p:cNvCxnSpPr>
          <p:nvPr/>
        </p:nvCxnSpPr>
        <p:spPr>
          <a:xfrm>
            <a:off x="3752850" y="2438400"/>
            <a:ext cx="1028700" cy="0"/>
          </a:xfrm>
          <a:prstGeom prst="straightConnector1">
            <a:avLst/>
          </a:prstGeom>
          <a:ln w="20955">
            <a:solidFill>
              <a:srgbClr val="5F6368"/>
            </a:solidFill>
            <a:prstDash val="dash"/>
            <a:tailEnd type="triangle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893781D-08AB-47F5-B292-9B6C21E2C29E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2190750" y="6238875"/>
            <a:ext cx="0" cy="390525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sp>
        <p:nvSpPr>
          <p:cNvPr id="100" name="shape-1">
            <a:extLst>
              <a:ext uri="{FF2B5EF4-FFF2-40B4-BE49-F238E27FC236}">
                <a16:creationId xmlns:a16="http://schemas.microsoft.com/office/drawing/2014/main" id="{F302568A-03B1-49EC-A721-4A09B0A29A01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1409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图3.1  研究内容与递进关系</a:t>
            </a:r>
          </a:p>
        </p:txBody>
      </p:sp>
      <p:sp>
        <p:nvSpPr>
          <p:cNvPr id="3" name="shape-3">
            <a:extLst>
              <a:ext uri="{FF2B5EF4-FFF2-40B4-BE49-F238E27FC236}">
                <a16:creationId xmlns:a16="http://schemas.microsoft.com/office/drawing/2014/main" id="{25BEF42D-D8EC-45E1-826C-33B5E4609B76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a  前期条件控制</a:t>
            </a:r>
          </a:p>
        </p:txBody>
      </p:sp>
      <p:sp>
        <p:nvSpPr>
          <p:cNvPr id="4" name="shape-4">
            <a:extLst>
              <a:ext uri="{FF2B5EF4-FFF2-40B4-BE49-F238E27FC236}">
                <a16:creationId xmlns:a16="http://schemas.microsoft.com/office/drawing/2014/main" id="{00028AAD-10BF-45E7-80DF-B1BD93BBAE10}"/>
              </a:ext>
            </a:extLst>
          </p:cNvPr>
          <p:cNvSpPr>
            <a:spLocks noGrp="1"/>
          </p:cNvSpPr>
          <p:nvPr/>
        </p:nvSpPr>
        <p:spPr>
          <a:xfrm>
            <a:off x="4686300" y="1162050"/>
            <a:ext cx="605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b  记忆、子任务与动作联合学习</a:t>
            </a:r>
          </a:p>
        </p:txBody>
      </p:sp>
      <p:sp>
        <p:nvSpPr>
          <p:cNvPr id="5" name="line-5">
            <a:extLst>
              <a:ext uri="{FF2B5EF4-FFF2-40B4-BE49-F238E27FC236}">
                <a16:creationId xmlns:a16="http://schemas.microsoft.com/office/drawing/2014/main" id="{0A47E812-EC43-4531-9FC7-58F2E002ECC7}"/>
              </a:ext>
            </a:extLst>
          </p:cNvPr>
          <p:cNvSpPr>
            <a:spLocks noGrp="1"/>
          </p:cNvSpPr>
          <p:nvPr/>
        </p:nvSpPr>
        <p:spPr>
          <a:xfrm>
            <a:off x="4238625" y="2305050"/>
            <a:ext cx="0" cy="6162675"/>
          </a:xfrm>
          <a:prstGeom prst="line">
            <a:avLst/>
          </a:prstGeom>
          <a:noFill/>
          <a:ln w="15240">
            <a:solidFill>
              <a:srgbClr val="D3D6D8"/>
            </a:solidFill>
            <a:prstDash val="solid"/>
          </a:ln>
        </p:spPr>
        <p:txBody>
          <a:bodyPr/>
          <a:lstStyle/>
          <a:p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shape-6">
            <a:extLst>
              <a:ext uri="{FF2B5EF4-FFF2-40B4-BE49-F238E27FC236}">
                <a16:creationId xmlns:a16="http://schemas.microsoft.com/office/drawing/2014/main" id="{30931984-073A-410C-BD81-1039E3D4B58A}"/>
              </a:ext>
            </a:extLst>
          </p:cNvPr>
          <p:cNvSpPr>
            <a:spLocks noGrp="1"/>
          </p:cNvSpPr>
          <p:nvPr/>
        </p:nvSpPr>
        <p:spPr>
          <a:xfrm>
            <a:off x="619125" y="1866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400" b="1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40758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MICA-VLA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F8F6B4-7FEE-4B4E-82CD-498ED7714E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" r="101"/>
          <a:stretch>
            <a:fillRect/>
          </a:stretch>
        </p:blipFill>
        <p:spPr>
          <a:xfrm>
            <a:off x="619125" y="2438400"/>
            <a:ext cx="3143250" cy="2362200"/>
          </a:xfrm>
          <a:prstGeom prst="rect">
            <a:avLst/>
          </a:prstGeom>
        </p:spPr>
      </p:pic>
      <p:sp>
        <p:nvSpPr>
          <p:cNvPr id="8" name="shape-7">
            <a:extLst>
              <a:ext uri="{FF2B5EF4-FFF2-40B4-BE49-F238E27FC236}">
                <a16:creationId xmlns:a16="http://schemas.microsoft.com/office/drawing/2014/main" id="{5652A6BE-DF32-4ED3-8A57-3D628765DD39}"/>
              </a:ext>
            </a:extLst>
          </p:cNvPr>
          <p:cNvSpPr>
            <a:spLocks noGrp="1"/>
          </p:cNvSpPr>
          <p:nvPr/>
        </p:nvSpPr>
        <p:spPr>
          <a:xfrm>
            <a:off x="619125" y="48768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5F6368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SO-100既有任务画面</a:t>
            </a:r>
          </a:p>
        </p:txBody>
      </p:sp>
      <p:sp>
        <p:nvSpPr>
          <p:cNvPr id="9" name="shape-8">
            <a:extLst>
              <a:ext uri="{FF2B5EF4-FFF2-40B4-BE49-F238E27FC236}">
                <a16:creationId xmlns:a16="http://schemas.microsoft.com/office/drawing/2014/main" id="{B6E5F977-7E63-49FF-B10D-EC1AFECDC5DF}"/>
              </a:ext>
            </a:extLst>
          </p:cNvPr>
          <p:cNvSpPr>
            <a:spLocks noGrp="1"/>
          </p:cNvSpPr>
          <p:nvPr/>
        </p:nvSpPr>
        <p:spPr>
          <a:xfrm>
            <a:off x="619125" y="5514975"/>
            <a:ext cx="3143250" cy="723900"/>
          </a:xfrm>
          <a:prstGeom prst="roundRect">
            <a:avLst>
              <a:gd name="adj" fmla="val 11842"/>
            </a:avLst>
          </a:prstGeom>
          <a:solidFill>
            <a:srgbClr val="F9DF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语义锚检索</a:t>
            </a:r>
          </a:p>
        </p:txBody>
      </p:sp>
      <p:sp>
        <p:nvSpPr>
          <p:cNvPr id="10" name="shape-9">
            <a:extLst>
              <a:ext uri="{FF2B5EF4-FFF2-40B4-BE49-F238E27FC236}">
                <a16:creationId xmlns:a16="http://schemas.microsoft.com/office/drawing/2014/main" id="{A40E40E8-E283-464F-B39E-EF70E1E6ECD5}"/>
              </a:ext>
            </a:extLst>
          </p:cNvPr>
          <p:cNvSpPr>
            <a:spLocks noGrp="1"/>
          </p:cNvSpPr>
          <p:nvPr/>
        </p:nvSpPr>
        <p:spPr>
          <a:xfrm>
            <a:off x="619125" y="6629400"/>
            <a:ext cx="3143250" cy="723900"/>
          </a:xfrm>
          <a:prstGeom prst="roundRect">
            <a:avLst>
              <a:gd name="adj" fmla="val 11842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动作语义条件化</a:t>
            </a:r>
          </a:p>
        </p:txBody>
      </p:sp>
      <p:sp>
        <p:nvSpPr>
          <p:cNvPr id="12" name="shape-10">
            <a:extLst>
              <a:ext uri="{FF2B5EF4-FFF2-40B4-BE49-F238E27FC236}">
                <a16:creationId xmlns:a16="http://schemas.microsoft.com/office/drawing/2014/main" id="{6A74878B-8796-48D3-B29F-6EBE099D824F}"/>
              </a:ext>
            </a:extLst>
          </p:cNvPr>
          <p:cNvSpPr>
            <a:spLocks noGrp="1"/>
          </p:cNvSpPr>
          <p:nvPr/>
        </p:nvSpPr>
        <p:spPr>
          <a:xfrm>
            <a:off x="1278255" y="7353300"/>
            <a:ext cx="244919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1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5F6368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同义保持行为</a:t>
            </a:r>
            <a:r>
              <a:rPr lang="en-US" sz="2400" b="0">
                <a:solidFill>
                  <a:srgbClr val="5F6368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 </a:t>
            </a:r>
          </a:p>
          <a:p>
            <a:pPr algn="l">
              <a:defRPr sz="21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5F6368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角色变化时响应</a:t>
            </a:r>
          </a:p>
        </p:txBody>
      </p:sp>
      <p:sp>
        <p:nvSpPr>
          <p:cNvPr id="13" name="shape-11">
            <a:extLst>
              <a:ext uri="{FF2B5EF4-FFF2-40B4-BE49-F238E27FC236}">
                <a16:creationId xmlns:a16="http://schemas.microsoft.com/office/drawing/2014/main" id="{F6420739-3ED1-4805-9F95-BE0B8034F0B8}"/>
              </a:ext>
            </a:extLst>
          </p:cNvPr>
          <p:cNvSpPr>
            <a:spLocks noGrp="1"/>
          </p:cNvSpPr>
          <p:nvPr/>
        </p:nvSpPr>
        <p:spPr>
          <a:xfrm>
            <a:off x="2833687" y="188595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5F6368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条件控制经验</a:t>
            </a:r>
          </a:p>
        </p:txBody>
      </p:sp>
      <p:sp>
        <p:nvSpPr>
          <p:cNvPr id="14" name="shape-12">
            <a:extLst>
              <a:ext uri="{FF2B5EF4-FFF2-40B4-BE49-F238E27FC236}">
                <a16:creationId xmlns:a16="http://schemas.microsoft.com/office/drawing/2014/main" id="{F129B2E8-EAFA-4309-B099-98066DB266DC}"/>
              </a:ext>
            </a:extLst>
          </p:cNvPr>
          <p:cNvSpPr>
            <a:spLocks noGrp="1"/>
          </p:cNvSpPr>
          <p:nvPr/>
        </p:nvSpPr>
        <p:spPr>
          <a:xfrm>
            <a:off x="3752850" y="228600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" name="shape-13">
            <a:extLst>
              <a:ext uri="{FF2B5EF4-FFF2-40B4-BE49-F238E27FC236}">
                <a16:creationId xmlns:a16="http://schemas.microsoft.com/office/drawing/2014/main" id="{BCCC3F66-DE3F-4F02-B666-67E6B02D78DC}"/>
              </a:ext>
            </a:extLst>
          </p:cNvPr>
          <p:cNvSpPr>
            <a:spLocks noGrp="1"/>
          </p:cNvSpPr>
          <p:nvPr/>
        </p:nvSpPr>
        <p:spPr>
          <a:xfrm>
            <a:off x="4800600" y="228600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7" name="shape-14">
            <a:extLst>
              <a:ext uri="{FF2B5EF4-FFF2-40B4-BE49-F238E27FC236}">
                <a16:creationId xmlns:a16="http://schemas.microsoft.com/office/drawing/2014/main" id="{DC2E5C05-100C-474B-B1C0-0A82948FC4B0}"/>
              </a:ext>
            </a:extLst>
          </p:cNvPr>
          <p:cNvSpPr>
            <a:spLocks noGrp="1"/>
          </p:cNvSpPr>
          <p:nvPr/>
        </p:nvSpPr>
        <p:spPr>
          <a:xfrm>
            <a:off x="4810125" y="2533650"/>
            <a:ext cx="4667250" cy="1524000"/>
          </a:xfrm>
          <a:prstGeom prst="roundRect">
            <a:avLst>
              <a:gd name="adj" fmla="val 5625"/>
            </a:avLst>
          </a:prstGeom>
          <a:solidFill>
            <a:srgbClr val="F9DF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执行事实</a:t>
            </a:r>
          </a:p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A已核验  ·  B抓取滑落</a:t>
            </a:r>
          </a:p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当前持物：空</a:t>
            </a:r>
          </a:p>
        </p:txBody>
      </p:sp>
      <p:sp>
        <p:nvSpPr>
          <p:cNvPr id="18" name="shape-15">
            <a:extLst>
              <a:ext uri="{FF2B5EF4-FFF2-40B4-BE49-F238E27FC236}">
                <a16:creationId xmlns:a16="http://schemas.microsoft.com/office/drawing/2014/main" id="{7201ABFF-0459-4B4F-BACB-18FCA1C8B205}"/>
              </a:ext>
            </a:extLst>
          </p:cNvPr>
          <p:cNvSpPr>
            <a:spLocks noGrp="1"/>
          </p:cNvSpPr>
          <p:nvPr/>
        </p:nvSpPr>
        <p:spPr>
          <a:xfrm>
            <a:off x="10429875" y="2533650"/>
            <a:ext cx="4000500" cy="1266825"/>
          </a:xfrm>
          <a:prstGeom prst="roundRect">
            <a:avLst>
              <a:gd name="adj" fmla="val 8333"/>
            </a:avLst>
          </a:prstGeom>
          <a:solidFill>
            <a:srgbClr val="F9DF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生成子任务文本</a:t>
            </a:r>
          </a:p>
          <a:p>
            <a: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“重新抓取B”</a:t>
            </a:r>
          </a:p>
        </p:txBody>
      </p:sp>
      <p:sp>
        <p:nvSpPr>
          <p:cNvPr id="19" name="shape-16">
            <a:extLst>
              <a:ext uri="{FF2B5EF4-FFF2-40B4-BE49-F238E27FC236}">
                <a16:creationId xmlns:a16="http://schemas.microsoft.com/office/drawing/2014/main" id="{F4D9CCE6-CB15-43CF-BA4A-200B05841B1B}"/>
              </a:ext>
            </a:extLst>
          </p:cNvPr>
          <p:cNvSpPr>
            <a:spLocks noGrp="1"/>
          </p:cNvSpPr>
          <p:nvPr/>
        </p:nvSpPr>
        <p:spPr>
          <a:xfrm>
            <a:off x="5000625" y="5010150"/>
            <a:ext cx="7000875" cy="1104900"/>
          </a:xfrm>
          <a:prstGeom prst="roundRect">
            <a:avLst>
              <a:gd name="adj" fmla="val 6897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20" name="shape-17">
            <a:extLst>
              <a:ext uri="{FF2B5EF4-FFF2-40B4-BE49-F238E27FC236}">
                <a16:creationId xmlns:a16="http://schemas.microsoft.com/office/drawing/2014/main" id="{E8BE72B2-F023-4474-9308-5EED716067C3}"/>
              </a:ext>
            </a:extLst>
          </p:cNvPr>
          <p:cNvSpPr>
            <a:spLocks noGrp="1"/>
          </p:cNvSpPr>
          <p:nvPr/>
        </p:nvSpPr>
        <p:spPr>
          <a:xfrm>
            <a:off x="4924425" y="5238750"/>
            <a:ext cx="7153275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288">
            <a:solidFill>
              <a:srgbClr val="40758A"/>
            </a:solidFill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7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7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π0.5 自身共享VLM θ</a:t>
            </a:r>
          </a:p>
        </p:txBody>
      </p:sp>
      <p:sp>
        <p:nvSpPr>
          <p:cNvPr id="21" name="shape-18">
            <a:extLst>
              <a:ext uri="{FF2B5EF4-FFF2-40B4-BE49-F238E27FC236}">
                <a16:creationId xmlns:a16="http://schemas.microsoft.com/office/drawing/2014/main" id="{E0C17E85-C967-4113-A401-F95D97F7EE43}"/>
              </a:ext>
            </a:extLst>
          </p:cNvPr>
          <p:cNvSpPr>
            <a:spLocks noGrp="1"/>
          </p:cNvSpPr>
          <p:nvPr/>
        </p:nvSpPr>
        <p:spPr>
          <a:xfrm>
            <a:off x="514350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22" name="shape-19">
            <a:extLst>
              <a:ext uri="{FF2B5EF4-FFF2-40B4-BE49-F238E27FC236}">
                <a16:creationId xmlns:a16="http://schemas.microsoft.com/office/drawing/2014/main" id="{146C235F-1EB0-412F-82D7-25496B71C5D4}"/>
              </a:ext>
            </a:extLst>
          </p:cNvPr>
          <p:cNvSpPr>
            <a:spLocks noGrp="1"/>
          </p:cNvSpPr>
          <p:nvPr/>
        </p:nvSpPr>
        <p:spPr>
          <a:xfrm>
            <a:off x="514350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23" name="shape-20">
            <a:extLst>
              <a:ext uri="{FF2B5EF4-FFF2-40B4-BE49-F238E27FC236}">
                <a16:creationId xmlns:a16="http://schemas.microsoft.com/office/drawing/2014/main" id="{6329EE0E-C546-418D-8B40-02B383F8D710}"/>
              </a:ext>
            </a:extLst>
          </p:cNvPr>
          <p:cNvSpPr>
            <a:spLocks noGrp="1"/>
          </p:cNvSpPr>
          <p:nvPr/>
        </p:nvSpPr>
        <p:spPr>
          <a:xfrm>
            <a:off x="554355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24" name="shape-21">
            <a:extLst>
              <a:ext uri="{FF2B5EF4-FFF2-40B4-BE49-F238E27FC236}">
                <a16:creationId xmlns:a16="http://schemas.microsoft.com/office/drawing/2014/main" id="{C2B59149-80C7-40EC-941E-CC0100D6EE98}"/>
              </a:ext>
            </a:extLst>
          </p:cNvPr>
          <p:cNvSpPr>
            <a:spLocks noGrp="1"/>
          </p:cNvSpPr>
          <p:nvPr/>
        </p:nvSpPr>
        <p:spPr>
          <a:xfrm>
            <a:off x="554355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25" name="shape-22">
            <a:extLst>
              <a:ext uri="{FF2B5EF4-FFF2-40B4-BE49-F238E27FC236}">
                <a16:creationId xmlns:a16="http://schemas.microsoft.com/office/drawing/2014/main" id="{18FC83B0-DF65-4239-B633-36DB99200171}"/>
              </a:ext>
            </a:extLst>
          </p:cNvPr>
          <p:cNvSpPr>
            <a:spLocks noGrp="1"/>
          </p:cNvSpPr>
          <p:nvPr/>
        </p:nvSpPr>
        <p:spPr>
          <a:xfrm>
            <a:off x="594360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26" name="shape-23">
            <a:extLst>
              <a:ext uri="{FF2B5EF4-FFF2-40B4-BE49-F238E27FC236}">
                <a16:creationId xmlns:a16="http://schemas.microsoft.com/office/drawing/2014/main" id="{43D55726-9486-4CB0-97DD-27F53079FD10}"/>
              </a:ext>
            </a:extLst>
          </p:cNvPr>
          <p:cNvSpPr>
            <a:spLocks noGrp="1"/>
          </p:cNvSpPr>
          <p:nvPr/>
        </p:nvSpPr>
        <p:spPr>
          <a:xfrm>
            <a:off x="594360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27" name="shape-24">
            <a:extLst>
              <a:ext uri="{FF2B5EF4-FFF2-40B4-BE49-F238E27FC236}">
                <a16:creationId xmlns:a16="http://schemas.microsoft.com/office/drawing/2014/main" id="{D4521E2F-EFF1-42C7-9E97-519CE0306D68}"/>
              </a:ext>
            </a:extLst>
          </p:cNvPr>
          <p:cNvSpPr>
            <a:spLocks noGrp="1"/>
          </p:cNvSpPr>
          <p:nvPr/>
        </p:nvSpPr>
        <p:spPr>
          <a:xfrm>
            <a:off x="634365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28" name="shape-25">
            <a:extLst>
              <a:ext uri="{FF2B5EF4-FFF2-40B4-BE49-F238E27FC236}">
                <a16:creationId xmlns:a16="http://schemas.microsoft.com/office/drawing/2014/main" id="{840C71B5-A373-487F-ADD4-C84FAE186D13}"/>
              </a:ext>
            </a:extLst>
          </p:cNvPr>
          <p:cNvSpPr>
            <a:spLocks noGrp="1"/>
          </p:cNvSpPr>
          <p:nvPr/>
        </p:nvSpPr>
        <p:spPr>
          <a:xfrm>
            <a:off x="634365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29" name="shape-26">
            <a:extLst>
              <a:ext uri="{FF2B5EF4-FFF2-40B4-BE49-F238E27FC236}">
                <a16:creationId xmlns:a16="http://schemas.microsoft.com/office/drawing/2014/main" id="{F2391041-EE32-48AB-B3E8-2CC049F8EAE8}"/>
              </a:ext>
            </a:extLst>
          </p:cNvPr>
          <p:cNvSpPr>
            <a:spLocks noGrp="1"/>
          </p:cNvSpPr>
          <p:nvPr/>
        </p:nvSpPr>
        <p:spPr>
          <a:xfrm>
            <a:off x="674370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0" name="shape-27">
            <a:extLst>
              <a:ext uri="{FF2B5EF4-FFF2-40B4-BE49-F238E27FC236}">
                <a16:creationId xmlns:a16="http://schemas.microsoft.com/office/drawing/2014/main" id="{437E47A7-FC4E-43D6-B737-E632FA7A4A76}"/>
              </a:ext>
            </a:extLst>
          </p:cNvPr>
          <p:cNvSpPr>
            <a:spLocks noGrp="1"/>
          </p:cNvSpPr>
          <p:nvPr/>
        </p:nvSpPr>
        <p:spPr>
          <a:xfrm>
            <a:off x="674370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1" name="shape-28">
            <a:extLst>
              <a:ext uri="{FF2B5EF4-FFF2-40B4-BE49-F238E27FC236}">
                <a16:creationId xmlns:a16="http://schemas.microsoft.com/office/drawing/2014/main" id="{D95171CD-E916-45DB-A78F-7DFD83AE9DC0}"/>
              </a:ext>
            </a:extLst>
          </p:cNvPr>
          <p:cNvSpPr>
            <a:spLocks noGrp="1"/>
          </p:cNvSpPr>
          <p:nvPr/>
        </p:nvSpPr>
        <p:spPr>
          <a:xfrm>
            <a:off x="714375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2" name="shape-29">
            <a:extLst>
              <a:ext uri="{FF2B5EF4-FFF2-40B4-BE49-F238E27FC236}">
                <a16:creationId xmlns:a16="http://schemas.microsoft.com/office/drawing/2014/main" id="{F2D4B0AA-DE3D-4B50-BF31-BEC47A6DC81C}"/>
              </a:ext>
            </a:extLst>
          </p:cNvPr>
          <p:cNvSpPr>
            <a:spLocks noGrp="1"/>
          </p:cNvSpPr>
          <p:nvPr/>
        </p:nvSpPr>
        <p:spPr>
          <a:xfrm>
            <a:off x="714375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3" name="shape-30">
            <a:extLst>
              <a:ext uri="{FF2B5EF4-FFF2-40B4-BE49-F238E27FC236}">
                <a16:creationId xmlns:a16="http://schemas.microsoft.com/office/drawing/2014/main" id="{093D880B-974C-40C2-8E7A-870F3D3293F6}"/>
              </a:ext>
            </a:extLst>
          </p:cNvPr>
          <p:cNvSpPr>
            <a:spLocks noGrp="1"/>
          </p:cNvSpPr>
          <p:nvPr/>
        </p:nvSpPr>
        <p:spPr>
          <a:xfrm>
            <a:off x="754380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4" name="shape-31">
            <a:extLst>
              <a:ext uri="{FF2B5EF4-FFF2-40B4-BE49-F238E27FC236}">
                <a16:creationId xmlns:a16="http://schemas.microsoft.com/office/drawing/2014/main" id="{B3C2370E-F497-457B-9AF2-7E2313059CC8}"/>
              </a:ext>
            </a:extLst>
          </p:cNvPr>
          <p:cNvSpPr>
            <a:spLocks noGrp="1"/>
          </p:cNvSpPr>
          <p:nvPr/>
        </p:nvSpPr>
        <p:spPr>
          <a:xfrm>
            <a:off x="754380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5" name="shape-32">
            <a:extLst>
              <a:ext uri="{FF2B5EF4-FFF2-40B4-BE49-F238E27FC236}">
                <a16:creationId xmlns:a16="http://schemas.microsoft.com/office/drawing/2014/main" id="{F2A09E92-DCBF-4391-A60F-812277E031A2}"/>
              </a:ext>
            </a:extLst>
          </p:cNvPr>
          <p:cNvSpPr>
            <a:spLocks noGrp="1"/>
          </p:cNvSpPr>
          <p:nvPr/>
        </p:nvSpPr>
        <p:spPr>
          <a:xfrm>
            <a:off x="794385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6" name="shape-33">
            <a:extLst>
              <a:ext uri="{FF2B5EF4-FFF2-40B4-BE49-F238E27FC236}">
                <a16:creationId xmlns:a16="http://schemas.microsoft.com/office/drawing/2014/main" id="{A8F2AE9D-BDC0-4216-890C-3F58367CA757}"/>
              </a:ext>
            </a:extLst>
          </p:cNvPr>
          <p:cNvSpPr>
            <a:spLocks noGrp="1"/>
          </p:cNvSpPr>
          <p:nvPr/>
        </p:nvSpPr>
        <p:spPr>
          <a:xfrm>
            <a:off x="794385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7" name="shape-34">
            <a:extLst>
              <a:ext uri="{FF2B5EF4-FFF2-40B4-BE49-F238E27FC236}">
                <a16:creationId xmlns:a16="http://schemas.microsoft.com/office/drawing/2014/main" id="{C036A4A5-CFF0-445F-A6F3-779BAA290C8B}"/>
              </a:ext>
            </a:extLst>
          </p:cNvPr>
          <p:cNvSpPr>
            <a:spLocks noGrp="1"/>
          </p:cNvSpPr>
          <p:nvPr/>
        </p:nvSpPr>
        <p:spPr>
          <a:xfrm>
            <a:off x="834390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8" name="shape-35">
            <a:extLst>
              <a:ext uri="{FF2B5EF4-FFF2-40B4-BE49-F238E27FC236}">
                <a16:creationId xmlns:a16="http://schemas.microsoft.com/office/drawing/2014/main" id="{B147B292-18AC-48EF-B1C2-5BE58EF14BED}"/>
              </a:ext>
            </a:extLst>
          </p:cNvPr>
          <p:cNvSpPr>
            <a:spLocks noGrp="1"/>
          </p:cNvSpPr>
          <p:nvPr/>
        </p:nvSpPr>
        <p:spPr>
          <a:xfrm>
            <a:off x="834390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9" name="shape-36">
            <a:extLst>
              <a:ext uri="{FF2B5EF4-FFF2-40B4-BE49-F238E27FC236}">
                <a16:creationId xmlns:a16="http://schemas.microsoft.com/office/drawing/2014/main" id="{B68C2A67-20C2-450F-ACFE-747510166447}"/>
              </a:ext>
            </a:extLst>
          </p:cNvPr>
          <p:cNvSpPr>
            <a:spLocks noGrp="1"/>
          </p:cNvSpPr>
          <p:nvPr/>
        </p:nvSpPr>
        <p:spPr>
          <a:xfrm>
            <a:off x="874395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0" name="shape-37">
            <a:extLst>
              <a:ext uri="{FF2B5EF4-FFF2-40B4-BE49-F238E27FC236}">
                <a16:creationId xmlns:a16="http://schemas.microsoft.com/office/drawing/2014/main" id="{A70D5D87-2061-4CAC-8D18-A98A1D4BDAE9}"/>
              </a:ext>
            </a:extLst>
          </p:cNvPr>
          <p:cNvSpPr>
            <a:spLocks noGrp="1"/>
          </p:cNvSpPr>
          <p:nvPr/>
        </p:nvSpPr>
        <p:spPr>
          <a:xfrm>
            <a:off x="874395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1" name="shape-38">
            <a:extLst>
              <a:ext uri="{FF2B5EF4-FFF2-40B4-BE49-F238E27FC236}">
                <a16:creationId xmlns:a16="http://schemas.microsoft.com/office/drawing/2014/main" id="{54F213B6-F3F8-4B49-97EA-2284526ECBA1}"/>
              </a:ext>
            </a:extLst>
          </p:cNvPr>
          <p:cNvSpPr>
            <a:spLocks noGrp="1"/>
          </p:cNvSpPr>
          <p:nvPr/>
        </p:nvSpPr>
        <p:spPr>
          <a:xfrm>
            <a:off x="914400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2" name="shape-39">
            <a:extLst>
              <a:ext uri="{FF2B5EF4-FFF2-40B4-BE49-F238E27FC236}">
                <a16:creationId xmlns:a16="http://schemas.microsoft.com/office/drawing/2014/main" id="{D8723FDB-7CE4-4477-8F38-4B1FD6DD6860}"/>
              </a:ext>
            </a:extLst>
          </p:cNvPr>
          <p:cNvSpPr>
            <a:spLocks noGrp="1"/>
          </p:cNvSpPr>
          <p:nvPr/>
        </p:nvSpPr>
        <p:spPr>
          <a:xfrm>
            <a:off x="914400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3" name="shape-40">
            <a:extLst>
              <a:ext uri="{FF2B5EF4-FFF2-40B4-BE49-F238E27FC236}">
                <a16:creationId xmlns:a16="http://schemas.microsoft.com/office/drawing/2014/main" id="{0DB61090-66D4-4165-B4F3-FD2DEA24808D}"/>
              </a:ext>
            </a:extLst>
          </p:cNvPr>
          <p:cNvSpPr>
            <a:spLocks noGrp="1"/>
          </p:cNvSpPr>
          <p:nvPr/>
        </p:nvSpPr>
        <p:spPr>
          <a:xfrm>
            <a:off x="954405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4" name="shape-41">
            <a:extLst>
              <a:ext uri="{FF2B5EF4-FFF2-40B4-BE49-F238E27FC236}">
                <a16:creationId xmlns:a16="http://schemas.microsoft.com/office/drawing/2014/main" id="{8B7A6579-E35E-48B4-9411-ABE116EB29DD}"/>
              </a:ext>
            </a:extLst>
          </p:cNvPr>
          <p:cNvSpPr>
            <a:spLocks noGrp="1"/>
          </p:cNvSpPr>
          <p:nvPr/>
        </p:nvSpPr>
        <p:spPr>
          <a:xfrm>
            <a:off x="954405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5" name="shape-42">
            <a:extLst>
              <a:ext uri="{FF2B5EF4-FFF2-40B4-BE49-F238E27FC236}">
                <a16:creationId xmlns:a16="http://schemas.microsoft.com/office/drawing/2014/main" id="{2A6D7296-EDBA-451E-AA07-6987EE772911}"/>
              </a:ext>
            </a:extLst>
          </p:cNvPr>
          <p:cNvSpPr>
            <a:spLocks noGrp="1"/>
          </p:cNvSpPr>
          <p:nvPr/>
        </p:nvSpPr>
        <p:spPr>
          <a:xfrm>
            <a:off x="994410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6" name="shape-43">
            <a:extLst>
              <a:ext uri="{FF2B5EF4-FFF2-40B4-BE49-F238E27FC236}">
                <a16:creationId xmlns:a16="http://schemas.microsoft.com/office/drawing/2014/main" id="{1D9EB01C-C4AF-4CED-ADB9-4447599AC742}"/>
              </a:ext>
            </a:extLst>
          </p:cNvPr>
          <p:cNvSpPr>
            <a:spLocks noGrp="1"/>
          </p:cNvSpPr>
          <p:nvPr/>
        </p:nvSpPr>
        <p:spPr>
          <a:xfrm>
            <a:off x="994410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7" name="shape-44">
            <a:extLst>
              <a:ext uri="{FF2B5EF4-FFF2-40B4-BE49-F238E27FC236}">
                <a16:creationId xmlns:a16="http://schemas.microsoft.com/office/drawing/2014/main" id="{B9AD6448-B079-4405-9BA8-D7A08BD6B38D}"/>
              </a:ext>
            </a:extLst>
          </p:cNvPr>
          <p:cNvSpPr>
            <a:spLocks noGrp="1"/>
          </p:cNvSpPr>
          <p:nvPr/>
        </p:nvSpPr>
        <p:spPr>
          <a:xfrm>
            <a:off x="1034415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8" name="shape-45">
            <a:extLst>
              <a:ext uri="{FF2B5EF4-FFF2-40B4-BE49-F238E27FC236}">
                <a16:creationId xmlns:a16="http://schemas.microsoft.com/office/drawing/2014/main" id="{8566327D-37F0-4F32-9E0B-22DCD8B03D80}"/>
              </a:ext>
            </a:extLst>
          </p:cNvPr>
          <p:cNvSpPr>
            <a:spLocks noGrp="1"/>
          </p:cNvSpPr>
          <p:nvPr/>
        </p:nvSpPr>
        <p:spPr>
          <a:xfrm>
            <a:off x="1034415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9" name="shape-46">
            <a:extLst>
              <a:ext uri="{FF2B5EF4-FFF2-40B4-BE49-F238E27FC236}">
                <a16:creationId xmlns:a16="http://schemas.microsoft.com/office/drawing/2014/main" id="{D24BD2D9-FE55-4C98-A7F4-ADCB5424437B}"/>
              </a:ext>
            </a:extLst>
          </p:cNvPr>
          <p:cNvSpPr>
            <a:spLocks noGrp="1"/>
          </p:cNvSpPr>
          <p:nvPr/>
        </p:nvSpPr>
        <p:spPr>
          <a:xfrm>
            <a:off x="1074420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0" name="shape-47">
            <a:extLst>
              <a:ext uri="{FF2B5EF4-FFF2-40B4-BE49-F238E27FC236}">
                <a16:creationId xmlns:a16="http://schemas.microsoft.com/office/drawing/2014/main" id="{C2F7A0C8-83BE-4F20-B96D-1807445C8BC1}"/>
              </a:ext>
            </a:extLst>
          </p:cNvPr>
          <p:cNvSpPr>
            <a:spLocks noGrp="1"/>
          </p:cNvSpPr>
          <p:nvPr/>
        </p:nvSpPr>
        <p:spPr>
          <a:xfrm>
            <a:off x="1074420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1" name="shape-48">
            <a:extLst>
              <a:ext uri="{FF2B5EF4-FFF2-40B4-BE49-F238E27FC236}">
                <a16:creationId xmlns:a16="http://schemas.microsoft.com/office/drawing/2014/main" id="{81DA8104-98ED-4E1C-8DF5-32277E09BD9E}"/>
              </a:ext>
            </a:extLst>
          </p:cNvPr>
          <p:cNvSpPr>
            <a:spLocks noGrp="1"/>
          </p:cNvSpPr>
          <p:nvPr/>
        </p:nvSpPr>
        <p:spPr>
          <a:xfrm>
            <a:off x="11144250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2" name="shape-49">
            <a:extLst>
              <a:ext uri="{FF2B5EF4-FFF2-40B4-BE49-F238E27FC236}">
                <a16:creationId xmlns:a16="http://schemas.microsoft.com/office/drawing/2014/main" id="{771F7749-9339-4F4C-A992-7DED2342D9B4}"/>
              </a:ext>
            </a:extLst>
          </p:cNvPr>
          <p:cNvSpPr>
            <a:spLocks noGrp="1"/>
          </p:cNvSpPr>
          <p:nvPr/>
        </p:nvSpPr>
        <p:spPr>
          <a:xfrm>
            <a:off x="11144250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3" name="shape-50">
            <a:extLst>
              <a:ext uri="{FF2B5EF4-FFF2-40B4-BE49-F238E27FC236}">
                <a16:creationId xmlns:a16="http://schemas.microsoft.com/office/drawing/2014/main" id="{F837225A-893C-481F-AC1D-EBE880D36FEE}"/>
              </a:ext>
            </a:extLst>
          </p:cNvPr>
          <p:cNvSpPr>
            <a:spLocks noGrp="1"/>
          </p:cNvSpPr>
          <p:nvPr/>
        </p:nvSpPr>
        <p:spPr>
          <a:xfrm>
            <a:off x="12573000" y="5010150"/>
            <a:ext cx="2047875" cy="1104900"/>
          </a:xfrm>
          <a:prstGeom prst="roundRect">
            <a:avLst>
              <a:gd name="adj" fmla="val 6897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54" name="shape-51">
            <a:extLst>
              <a:ext uri="{FF2B5EF4-FFF2-40B4-BE49-F238E27FC236}">
                <a16:creationId xmlns:a16="http://schemas.microsoft.com/office/drawing/2014/main" id="{C1B34A27-35B6-4C96-9946-E510528625AC}"/>
              </a:ext>
            </a:extLst>
          </p:cNvPr>
          <p:cNvSpPr>
            <a:spLocks noGrp="1"/>
          </p:cNvSpPr>
          <p:nvPr/>
        </p:nvSpPr>
        <p:spPr>
          <a:xfrm>
            <a:off x="12496800" y="5238750"/>
            <a:ext cx="2200275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288">
            <a:solidFill>
              <a:srgbClr val="5C8069"/>
            </a:solidFill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动作专家 φ</a:t>
            </a:r>
          </a:p>
        </p:txBody>
      </p:sp>
      <p:sp>
        <p:nvSpPr>
          <p:cNvPr id="55" name="shape-52">
            <a:extLst>
              <a:ext uri="{FF2B5EF4-FFF2-40B4-BE49-F238E27FC236}">
                <a16:creationId xmlns:a16="http://schemas.microsoft.com/office/drawing/2014/main" id="{CBE07613-37D5-45A6-AC41-E11E1E05B11F}"/>
              </a:ext>
            </a:extLst>
          </p:cNvPr>
          <p:cNvSpPr>
            <a:spLocks noGrp="1"/>
          </p:cNvSpPr>
          <p:nvPr/>
        </p:nvSpPr>
        <p:spPr>
          <a:xfrm>
            <a:off x="12715875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56" name="shape-53">
            <a:extLst>
              <a:ext uri="{FF2B5EF4-FFF2-40B4-BE49-F238E27FC236}">
                <a16:creationId xmlns:a16="http://schemas.microsoft.com/office/drawing/2014/main" id="{5220BD53-38CF-4E8E-B1B4-859156BB806B}"/>
              </a:ext>
            </a:extLst>
          </p:cNvPr>
          <p:cNvSpPr>
            <a:spLocks noGrp="1"/>
          </p:cNvSpPr>
          <p:nvPr/>
        </p:nvSpPr>
        <p:spPr>
          <a:xfrm>
            <a:off x="12715875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57" name="shape-54">
            <a:extLst>
              <a:ext uri="{FF2B5EF4-FFF2-40B4-BE49-F238E27FC236}">
                <a16:creationId xmlns:a16="http://schemas.microsoft.com/office/drawing/2014/main" id="{E79307BB-0213-4C69-B8B6-0994ED952C69}"/>
              </a:ext>
            </a:extLst>
          </p:cNvPr>
          <p:cNvSpPr>
            <a:spLocks noGrp="1"/>
          </p:cNvSpPr>
          <p:nvPr/>
        </p:nvSpPr>
        <p:spPr>
          <a:xfrm>
            <a:off x="13115925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58" name="shape-55">
            <a:extLst>
              <a:ext uri="{FF2B5EF4-FFF2-40B4-BE49-F238E27FC236}">
                <a16:creationId xmlns:a16="http://schemas.microsoft.com/office/drawing/2014/main" id="{F1417EBD-42E8-4FA3-8526-EC247DE720C1}"/>
              </a:ext>
            </a:extLst>
          </p:cNvPr>
          <p:cNvSpPr>
            <a:spLocks noGrp="1"/>
          </p:cNvSpPr>
          <p:nvPr/>
        </p:nvSpPr>
        <p:spPr>
          <a:xfrm>
            <a:off x="13115925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59" name="shape-56">
            <a:extLst>
              <a:ext uri="{FF2B5EF4-FFF2-40B4-BE49-F238E27FC236}">
                <a16:creationId xmlns:a16="http://schemas.microsoft.com/office/drawing/2014/main" id="{BAA0AE9B-1D79-45C6-A08A-9F2562366C4D}"/>
              </a:ext>
            </a:extLst>
          </p:cNvPr>
          <p:cNvSpPr>
            <a:spLocks noGrp="1"/>
          </p:cNvSpPr>
          <p:nvPr/>
        </p:nvSpPr>
        <p:spPr>
          <a:xfrm>
            <a:off x="13515975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60" name="shape-57">
            <a:extLst>
              <a:ext uri="{FF2B5EF4-FFF2-40B4-BE49-F238E27FC236}">
                <a16:creationId xmlns:a16="http://schemas.microsoft.com/office/drawing/2014/main" id="{CD54E0CE-4CAF-4925-8781-ACFACEF57657}"/>
              </a:ext>
            </a:extLst>
          </p:cNvPr>
          <p:cNvSpPr>
            <a:spLocks noGrp="1"/>
          </p:cNvSpPr>
          <p:nvPr/>
        </p:nvSpPr>
        <p:spPr>
          <a:xfrm>
            <a:off x="13515975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61" name="shape-58">
            <a:extLst>
              <a:ext uri="{FF2B5EF4-FFF2-40B4-BE49-F238E27FC236}">
                <a16:creationId xmlns:a16="http://schemas.microsoft.com/office/drawing/2014/main" id="{72517152-B2C6-47A2-B567-017EF5A9786A}"/>
              </a:ext>
            </a:extLst>
          </p:cNvPr>
          <p:cNvSpPr>
            <a:spLocks noGrp="1"/>
          </p:cNvSpPr>
          <p:nvPr/>
        </p:nvSpPr>
        <p:spPr>
          <a:xfrm>
            <a:off x="13916025" y="508635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62" name="shape-59">
            <a:extLst>
              <a:ext uri="{FF2B5EF4-FFF2-40B4-BE49-F238E27FC236}">
                <a16:creationId xmlns:a16="http://schemas.microsoft.com/office/drawing/2014/main" id="{10B61BA5-F474-4DB7-BDF1-E36AE05514D7}"/>
              </a:ext>
            </a:extLst>
          </p:cNvPr>
          <p:cNvSpPr>
            <a:spLocks noGrp="1"/>
          </p:cNvSpPr>
          <p:nvPr/>
        </p:nvSpPr>
        <p:spPr>
          <a:xfrm>
            <a:off x="13916025" y="595312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63" name="shape-60">
            <a:extLst>
              <a:ext uri="{FF2B5EF4-FFF2-40B4-BE49-F238E27FC236}">
                <a16:creationId xmlns:a16="http://schemas.microsoft.com/office/drawing/2014/main" id="{0CC55B81-0049-4DA1-BDBC-0EFE3975B715}"/>
              </a:ext>
            </a:extLst>
          </p:cNvPr>
          <p:cNvSpPr>
            <a:spLocks noGrp="1"/>
          </p:cNvSpPr>
          <p:nvPr/>
        </p:nvSpPr>
        <p:spPr>
          <a:xfrm>
            <a:off x="6296025" y="40576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4" name="shape-61">
            <a:extLst>
              <a:ext uri="{FF2B5EF4-FFF2-40B4-BE49-F238E27FC236}">
                <a16:creationId xmlns:a16="http://schemas.microsoft.com/office/drawing/2014/main" id="{D4D5797F-DE6D-452A-B99B-75BD2C8CA6A1}"/>
              </a:ext>
            </a:extLst>
          </p:cNvPr>
          <p:cNvSpPr>
            <a:spLocks noGrp="1"/>
          </p:cNvSpPr>
          <p:nvPr/>
        </p:nvSpPr>
        <p:spPr>
          <a:xfrm>
            <a:off x="6296025" y="50006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6" name="shape-62">
            <a:extLst>
              <a:ext uri="{FF2B5EF4-FFF2-40B4-BE49-F238E27FC236}">
                <a16:creationId xmlns:a16="http://schemas.microsoft.com/office/drawing/2014/main" id="{44DC7232-1994-452D-B882-6D9787FC0A84}"/>
              </a:ext>
            </a:extLst>
          </p:cNvPr>
          <p:cNvSpPr>
            <a:spLocks noGrp="1"/>
          </p:cNvSpPr>
          <p:nvPr/>
        </p:nvSpPr>
        <p:spPr>
          <a:xfrm>
            <a:off x="5405436" y="4262437"/>
            <a:ext cx="809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100" b="0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8B6A9B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读取</a:t>
            </a:r>
          </a:p>
        </p:txBody>
      </p:sp>
      <p:sp>
        <p:nvSpPr>
          <p:cNvPr id="67" name="shape-63">
            <a:extLst>
              <a:ext uri="{FF2B5EF4-FFF2-40B4-BE49-F238E27FC236}">
                <a16:creationId xmlns:a16="http://schemas.microsoft.com/office/drawing/2014/main" id="{78437F79-781E-4118-A285-33F45A3B1E24}"/>
              </a:ext>
            </a:extLst>
          </p:cNvPr>
          <p:cNvSpPr>
            <a:spLocks noGrp="1"/>
          </p:cNvSpPr>
          <p:nvPr/>
        </p:nvSpPr>
        <p:spPr>
          <a:xfrm>
            <a:off x="8305800" y="50006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8" name="shape-64">
            <a:extLst>
              <a:ext uri="{FF2B5EF4-FFF2-40B4-BE49-F238E27FC236}">
                <a16:creationId xmlns:a16="http://schemas.microsoft.com/office/drawing/2014/main" id="{4FBE0ACC-BB2D-4D34-AB52-1BA4A9691F85}"/>
              </a:ext>
            </a:extLst>
          </p:cNvPr>
          <p:cNvSpPr>
            <a:spLocks noGrp="1"/>
          </p:cNvSpPr>
          <p:nvPr/>
        </p:nvSpPr>
        <p:spPr>
          <a:xfrm>
            <a:off x="8305800" y="40576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0" name="shape-65">
            <a:extLst>
              <a:ext uri="{FF2B5EF4-FFF2-40B4-BE49-F238E27FC236}">
                <a16:creationId xmlns:a16="http://schemas.microsoft.com/office/drawing/2014/main" id="{A1EF02C3-ED59-47D5-B463-8813F4C8EC52}"/>
              </a:ext>
            </a:extLst>
          </p:cNvPr>
          <p:cNvSpPr>
            <a:spLocks noGrp="1"/>
          </p:cNvSpPr>
          <p:nvPr/>
        </p:nvSpPr>
        <p:spPr>
          <a:xfrm>
            <a:off x="8362951" y="4305300"/>
            <a:ext cx="1981200" cy="338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100" b="0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8B6A9B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更新 / 撤销</a:t>
            </a:r>
          </a:p>
        </p:txBody>
      </p:sp>
      <p:sp>
        <p:nvSpPr>
          <p:cNvPr id="71" name="line-66">
            <a:extLst>
              <a:ext uri="{FF2B5EF4-FFF2-40B4-BE49-F238E27FC236}">
                <a16:creationId xmlns:a16="http://schemas.microsoft.com/office/drawing/2014/main" id="{CC4A3161-B0B9-4680-AC4F-0DF5B21E5486}"/>
              </a:ext>
            </a:extLst>
          </p:cNvPr>
          <p:cNvSpPr>
            <a:spLocks noGrp="1"/>
          </p:cNvSpPr>
          <p:nvPr/>
        </p:nvSpPr>
        <p:spPr>
          <a:xfrm>
            <a:off x="10553700" y="4238625"/>
            <a:ext cx="0" cy="771525"/>
          </a:xfrm>
          <a:prstGeom prst="line">
            <a:avLst/>
          </a:prstGeom>
          <a:noFill/>
          <a:ln w="15240">
            <a:solidFill>
              <a:srgbClr val="40758A"/>
            </a:solidFill>
            <a:prstDash val="solid"/>
          </a:ln>
        </p:spPr>
      </p:sp>
      <p:sp>
        <p:nvSpPr>
          <p:cNvPr id="72" name="line-67">
            <a:extLst>
              <a:ext uri="{FF2B5EF4-FFF2-40B4-BE49-F238E27FC236}">
                <a16:creationId xmlns:a16="http://schemas.microsoft.com/office/drawing/2014/main" id="{9ACF4393-B665-42CA-98ED-F1E80C9C027A}"/>
              </a:ext>
            </a:extLst>
          </p:cNvPr>
          <p:cNvSpPr>
            <a:spLocks noGrp="1"/>
          </p:cNvSpPr>
          <p:nvPr/>
        </p:nvSpPr>
        <p:spPr>
          <a:xfrm>
            <a:off x="10553700" y="4238625"/>
            <a:ext cx="1876425" cy="0"/>
          </a:xfrm>
          <a:prstGeom prst="line">
            <a:avLst/>
          </a:prstGeom>
          <a:noFill/>
          <a:ln w="15240">
            <a:solidFill>
              <a:srgbClr val="40758A"/>
            </a:solidFill>
            <a:prstDash val="solid"/>
          </a:ln>
        </p:spPr>
      </p:sp>
      <p:sp>
        <p:nvSpPr>
          <p:cNvPr id="73" name="shape-68">
            <a:extLst>
              <a:ext uri="{FF2B5EF4-FFF2-40B4-BE49-F238E27FC236}">
                <a16:creationId xmlns:a16="http://schemas.microsoft.com/office/drawing/2014/main" id="{140A7F4C-21BD-4DE7-A406-B28D288647A5}"/>
              </a:ext>
            </a:extLst>
          </p:cNvPr>
          <p:cNvSpPr>
            <a:spLocks noGrp="1"/>
          </p:cNvSpPr>
          <p:nvPr/>
        </p:nvSpPr>
        <p:spPr>
          <a:xfrm>
            <a:off x="12420600" y="422910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4" name="shape-69">
            <a:extLst>
              <a:ext uri="{FF2B5EF4-FFF2-40B4-BE49-F238E27FC236}">
                <a16:creationId xmlns:a16="http://schemas.microsoft.com/office/drawing/2014/main" id="{BBDA60D9-8C11-44CC-982A-AFAC8B40D0AA}"/>
              </a:ext>
            </a:extLst>
          </p:cNvPr>
          <p:cNvSpPr>
            <a:spLocks noGrp="1"/>
          </p:cNvSpPr>
          <p:nvPr/>
        </p:nvSpPr>
        <p:spPr>
          <a:xfrm>
            <a:off x="12420600" y="37909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7" name="shape-70">
            <a:extLst>
              <a:ext uri="{FF2B5EF4-FFF2-40B4-BE49-F238E27FC236}">
                <a16:creationId xmlns:a16="http://schemas.microsoft.com/office/drawing/2014/main" id="{2D1E1E2D-38DE-460F-81C6-7E91D4595CA2}"/>
              </a:ext>
            </a:extLst>
          </p:cNvPr>
          <p:cNvSpPr>
            <a:spLocks noGrp="1"/>
          </p:cNvSpPr>
          <p:nvPr/>
        </p:nvSpPr>
        <p:spPr>
          <a:xfrm>
            <a:off x="10684708" y="4352925"/>
            <a:ext cx="3667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025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40758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生成子任务后的K/V</a:t>
            </a:r>
          </a:p>
        </p:txBody>
      </p:sp>
      <p:sp>
        <p:nvSpPr>
          <p:cNvPr id="78" name="shape-71">
            <a:extLst>
              <a:ext uri="{FF2B5EF4-FFF2-40B4-BE49-F238E27FC236}">
                <a16:creationId xmlns:a16="http://schemas.microsoft.com/office/drawing/2014/main" id="{13548F7B-4ECA-4DC9-A7FA-27243F5C40D6}"/>
              </a:ext>
            </a:extLst>
          </p:cNvPr>
          <p:cNvSpPr>
            <a:spLocks noGrp="1"/>
          </p:cNvSpPr>
          <p:nvPr/>
        </p:nvSpPr>
        <p:spPr>
          <a:xfrm>
            <a:off x="4714875" y="6905625"/>
            <a:ext cx="2095500" cy="895350"/>
          </a:xfrm>
          <a:prstGeom prst="roundRect">
            <a:avLst>
              <a:gd name="adj" fmla="val 12000"/>
            </a:avLst>
          </a:prstGeom>
          <a:solidFill>
            <a:srgbClr val="F2F3F4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任务指令</a:t>
            </a:r>
          </a:p>
        </p:txBody>
      </p:sp>
      <p:sp>
        <p:nvSpPr>
          <p:cNvPr id="79" name="shape-72">
            <a:extLst>
              <a:ext uri="{FF2B5EF4-FFF2-40B4-BE49-F238E27FC236}">
                <a16:creationId xmlns:a16="http://schemas.microsoft.com/office/drawing/2014/main" id="{85EA40F3-E537-4866-91EF-C5F493A250B8}"/>
              </a:ext>
            </a:extLst>
          </p:cNvPr>
          <p:cNvSpPr>
            <a:spLocks noGrp="1"/>
          </p:cNvSpPr>
          <p:nvPr/>
        </p:nvSpPr>
        <p:spPr>
          <a:xfrm>
            <a:off x="7143750" y="6905625"/>
            <a:ext cx="3190875" cy="895349"/>
          </a:xfrm>
          <a:prstGeom prst="roundRect">
            <a:avLst>
              <a:gd name="adj" fmla="val 12000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当前与近期观测</a:t>
            </a:r>
          </a:p>
        </p:txBody>
      </p:sp>
      <p:sp>
        <p:nvSpPr>
          <p:cNvPr id="80" name="shape-73">
            <a:extLst>
              <a:ext uri="{FF2B5EF4-FFF2-40B4-BE49-F238E27FC236}">
                <a16:creationId xmlns:a16="http://schemas.microsoft.com/office/drawing/2014/main" id="{47D40B24-5CEF-48A6-917A-0546AC150FAB}"/>
              </a:ext>
            </a:extLst>
          </p:cNvPr>
          <p:cNvSpPr>
            <a:spLocks noGrp="1"/>
          </p:cNvSpPr>
          <p:nvPr/>
        </p:nvSpPr>
        <p:spPr>
          <a:xfrm>
            <a:off x="10668000" y="6905625"/>
            <a:ext cx="3667125" cy="876300"/>
          </a:xfrm>
          <a:prstGeom prst="roundRect">
            <a:avLst>
              <a:gd name="adj" fmla="val 12000"/>
            </a:avLst>
          </a:prstGeom>
          <a:solidFill>
            <a:srgbClr val="EBDFF1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目录与选中正文</a:t>
            </a:r>
          </a:p>
        </p:txBody>
      </p:sp>
      <p:sp>
        <p:nvSpPr>
          <p:cNvPr id="81" name="line-74">
            <a:extLst>
              <a:ext uri="{FF2B5EF4-FFF2-40B4-BE49-F238E27FC236}">
                <a16:creationId xmlns:a16="http://schemas.microsoft.com/office/drawing/2014/main" id="{1BBB03E5-D171-47F8-B04B-B5CF3855784F}"/>
              </a:ext>
            </a:extLst>
          </p:cNvPr>
          <p:cNvSpPr>
            <a:spLocks noGrp="1"/>
          </p:cNvSpPr>
          <p:nvPr/>
        </p:nvSpPr>
        <p:spPr>
          <a:xfrm>
            <a:off x="5762625" y="6505575"/>
            <a:ext cx="0" cy="400050"/>
          </a:xfrm>
          <a:prstGeom prst="line">
            <a:avLst/>
          </a:prstGeom>
          <a:noFill/>
          <a:ln w="15240">
            <a:solidFill>
              <a:srgbClr val="666D72"/>
            </a:solidFill>
            <a:prstDash val="solid"/>
          </a:ln>
        </p:spPr>
      </p:sp>
      <p:sp>
        <p:nvSpPr>
          <p:cNvPr id="82" name="line-75">
            <a:extLst>
              <a:ext uri="{FF2B5EF4-FFF2-40B4-BE49-F238E27FC236}">
                <a16:creationId xmlns:a16="http://schemas.microsoft.com/office/drawing/2014/main" id="{D75D7B5B-1EEB-451E-BF16-AD27FEC7E106}"/>
              </a:ext>
            </a:extLst>
          </p:cNvPr>
          <p:cNvSpPr>
            <a:spLocks noGrp="1"/>
          </p:cNvSpPr>
          <p:nvPr/>
        </p:nvSpPr>
        <p:spPr>
          <a:xfrm>
            <a:off x="8734425" y="6505575"/>
            <a:ext cx="0" cy="400050"/>
          </a:xfrm>
          <a:prstGeom prst="line">
            <a:avLst/>
          </a:prstGeom>
          <a:noFill/>
          <a:ln w="15240">
            <a:solidFill>
              <a:srgbClr val="666D72"/>
            </a:solidFill>
            <a:prstDash val="solid"/>
          </a:ln>
        </p:spPr>
      </p:sp>
      <p:sp>
        <p:nvSpPr>
          <p:cNvPr id="83" name="line-76">
            <a:extLst>
              <a:ext uri="{FF2B5EF4-FFF2-40B4-BE49-F238E27FC236}">
                <a16:creationId xmlns:a16="http://schemas.microsoft.com/office/drawing/2014/main" id="{D443D3F9-6242-4CBA-BF69-0259155BEF02}"/>
              </a:ext>
            </a:extLst>
          </p:cNvPr>
          <p:cNvSpPr>
            <a:spLocks noGrp="1"/>
          </p:cNvSpPr>
          <p:nvPr/>
        </p:nvSpPr>
        <p:spPr>
          <a:xfrm>
            <a:off x="12496800" y="6505575"/>
            <a:ext cx="0" cy="400050"/>
          </a:xfrm>
          <a:prstGeom prst="line">
            <a:avLst/>
          </a:prstGeom>
          <a:noFill/>
          <a:ln w="15240">
            <a:solidFill>
              <a:srgbClr val="666D72"/>
            </a:solidFill>
            <a:prstDash val="solid"/>
          </a:ln>
        </p:spPr>
      </p:sp>
      <p:sp>
        <p:nvSpPr>
          <p:cNvPr id="84" name="line-77">
            <a:extLst>
              <a:ext uri="{FF2B5EF4-FFF2-40B4-BE49-F238E27FC236}">
                <a16:creationId xmlns:a16="http://schemas.microsoft.com/office/drawing/2014/main" id="{81736F40-0DF8-4105-8C99-406C569C2491}"/>
              </a:ext>
            </a:extLst>
          </p:cNvPr>
          <p:cNvSpPr>
            <a:spLocks noGrp="1"/>
          </p:cNvSpPr>
          <p:nvPr/>
        </p:nvSpPr>
        <p:spPr>
          <a:xfrm>
            <a:off x="5762625" y="6505575"/>
            <a:ext cx="6734175" cy="0"/>
          </a:xfrm>
          <a:prstGeom prst="line">
            <a:avLst/>
          </a:prstGeom>
          <a:noFill/>
          <a:ln w="15240">
            <a:solidFill>
              <a:srgbClr val="666D72"/>
            </a:solidFill>
            <a:prstDash val="solid"/>
          </a:ln>
        </p:spPr>
      </p:sp>
      <p:sp>
        <p:nvSpPr>
          <p:cNvPr id="85" name="shape-78">
            <a:extLst>
              <a:ext uri="{FF2B5EF4-FFF2-40B4-BE49-F238E27FC236}">
                <a16:creationId xmlns:a16="http://schemas.microsoft.com/office/drawing/2014/main" id="{B9B46269-7003-4CF9-BA31-D576FBE4549E}"/>
              </a:ext>
            </a:extLst>
          </p:cNvPr>
          <p:cNvSpPr>
            <a:spLocks noGrp="1"/>
          </p:cNvSpPr>
          <p:nvPr/>
        </p:nvSpPr>
        <p:spPr>
          <a:xfrm>
            <a:off x="8486775" y="64960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6" name="shape-79">
            <a:extLst>
              <a:ext uri="{FF2B5EF4-FFF2-40B4-BE49-F238E27FC236}">
                <a16:creationId xmlns:a16="http://schemas.microsoft.com/office/drawing/2014/main" id="{36477932-9204-424D-9F3B-714B3DE55DC3}"/>
              </a:ext>
            </a:extLst>
          </p:cNvPr>
          <p:cNvSpPr>
            <a:spLocks noGrp="1"/>
          </p:cNvSpPr>
          <p:nvPr/>
        </p:nvSpPr>
        <p:spPr>
          <a:xfrm>
            <a:off x="8486775" y="61055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8" name="shape-80">
            <a:extLst>
              <a:ext uri="{FF2B5EF4-FFF2-40B4-BE49-F238E27FC236}">
                <a16:creationId xmlns:a16="http://schemas.microsoft.com/office/drawing/2014/main" id="{18F5AC83-1E2F-4C37-B8BC-5DE9765B83ED}"/>
              </a:ext>
            </a:extLst>
          </p:cNvPr>
          <p:cNvSpPr>
            <a:spLocks noGrp="1"/>
          </p:cNvSpPr>
          <p:nvPr/>
        </p:nvSpPr>
        <p:spPr>
          <a:xfrm>
            <a:off x="12573000" y="6334125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75" b="0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5C8069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连续动作</a:t>
            </a:r>
          </a:p>
        </p:txBody>
      </p:sp>
      <p:sp>
        <p:nvSpPr>
          <p:cNvPr id="89" name="shape-81">
            <a:extLst>
              <a:ext uri="{FF2B5EF4-FFF2-40B4-BE49-F238E27FC236}">
                <a16:creationId xmlns:a16="http://schemas.microsoft.com/office/drawing/2014/main" id="{585E410E-D73E-43DB-856B-2DF5B703C003}"/>
              </a:ext>
            </a:extLst>
          </p:cNvPr>
          <p:cNvSpPr>
            <a:spLocks noGrp="1"/>
          </p:cNvSpPr>
          <p:nvPr/>
        </p:nvSpPr>
        <p:spPr>
          <a:xfrm>
            <a:off x="13582650" y="61150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0" name="shape-82">
            <a:extLst>
              <a:ext uri="{FF2B5EF4-FFF2-40B4-BE49-F238E27FC236}">
                <a16:creationId xmlns:a16="http://schemas.microsoft.com/office/drawing/2014/main" id="{3D637317-6DCE-4603-8948-B3B77CE3941F}"/>
              </a:ext>
            </a:extLst>
          </p:cNvPr>
          <p:cNvSpPr>
            <a:spLocks noGrp="1"/>
          </p:cNvSpPr>
          <p:nvPr/>
        </p:nvSpPr>
        <p:spPr>
          <a:xfrm>
            <a:off x="13582650" y="635317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2" name="line-83">
            <a:extLst>
              <a:ext uri="{FF2B5EF4-FFF2-40B4-BE49-F238E27FC236}">
                <a16:creationId xmlns:a16="http://schemas.microsoft.com/office/drawing/2014/main" id="{2EA717E9-694D-4847-9C70-E101F2A773A9}"/>
              </a:ext>
            </a:extLst>
          </p:cNvPr>
          <p:cNvSpPr>
            <a:spLocks noGrp="1"/>
          </p:cNvSpPr>
          <p:nvPr/>
        </p:nvSpPr>
        <p:spPr>
          <a:xfrm>
            <a:off x="556260" y="8499475"/>
            <a:ext cx="14097000" cy="0"/>
          </a:xfrm>
          <a:prstGeom prst="line">
            <a:avLst/>
          </a:prstGeom>
          <a:noFill/>
          <a:ln w="15240">
            <a:solidFill>
              <a:srgbClr val="D3D6D8"/>
            </a:solidFill>
            <a:prstDash val="solid"/>
          </a:ln>
        </p:spPr>
      </p:sp>
      <p:sp>
        <p:nvSpPr>
          <p:cNvPr id="93" name="shape-84">
            <a:extLst>
              <a:ext uri="{FF2B5EF4-FFF2-40B4-BE49-F238E27FC236}">
                <a16:creationId xmlns:a16="http://schemas.microsoft.com/office/drawing/2014/main" id="{0C6E27B1-D234-4C62-9223-36A885707EF4}"/>
              </a:ext>
            </a:extLst>
          </p:cNvPr>
          <p:cNvSpPr>
            <a:spLocks noGrp="1"/>
          </p:cNvSpPr>
          <p:nvPr/>
        </p:nvSpPr>
        <p:spPr>
          <a:xfrm>
            <a:off x="571500" y="8639175"/>
            <a:ext cx="457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c  基于执行后果的读写优化</a:t>
            </a:r>
          </a:p>
        </p:txBody>
      </p:sp>
      <p:sp>
        <p:nvSpPr>
          <p:cNvPr id="94" name="shape-85">
            <a:extLst>
              <a:ext uri="{FF2B5EF4-FFF2-40B4-BE49-F238E27FC236}">
                <a16:creationId xmlns:a16="http://schemas.microsoft.com/office/drawing/2014/main" id="{C6463FF5-0964-429E-8F90-C1D3B1273F93}"/>
              </a:ext>
            </a:extLst>
          </p:cNvPr>
          <p:cNvSpPr>
            <a:spLocks noGrp="1"/>
          </p:cNvSpPr>
          <p:nvPr/>
        </p:nvSpPr>
        <p:spPr>
          <a:xfrm>
            <a:off x="571500" y="9334500"/>
            <a:ext cx="3667125" cy="1009650"/>
          </a:xfrm>
          <a:prstGeom prst="roundRect">
            <a:avLst>
              <a:gd name="adj" fmla="val 8491"/>
            </a:avLst>
          </a:prstGeom>
          <a:solidFill>
            <a:srgbClr val="EBDFF1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同一起点</a:t>
            </a:r>
          </a:p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比较合法读写</a:t>
            </a:r>
          </a:p>
        </p:txBody>
      </p:sp>
      <p:sp>
        <p:nvSpPr>
          <p:cNvPr id="95" name="shape-86">
            <a:extLst>
              <a:ext uri="{FF2B5EF4-FFF2-40B4-BE49-F238E27FC236}">
                <a16:creationId xmlns:a16="http://schemas.microsoft.com/office/drawing/2014/main" id="{AF1141EB-FADA-43F2-BB6B-9BB11C52450F}"/>
              </a:ext>
            </a:extLst>
          </p:cNvPr>
          <p:cNvSpPr>
            <a:spLocks noGrp="1"/>
          </p:cNvSpPr>
          <p:nvPr/>
        </p:nvSpPr>
        <p:spPr>
          <a:xfrm>
            <a:off x="5476875" y="9334500"/>
            <a:ext cx="3667125" cy="1009650"/>
          </a:xfrm>
          <a:prstGeom prst="roundRect">
            <a:avLst>
              <a:gd name="adj" fmla="val 8491"/>
            </a:avLst>
          </a:prstGeom>
          <a:solidFill>
            <a:srgbClr val="E3ED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重复续跑</a:t>
            </a:r>
          </a:p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评价相对效用</a:t>
            </a:r>
          </a:p>
        </p:txBody>
      </p:sp>
      <p:sp>
        <p:nvSpPr>
          <p:cNvPr id="96" name="shape-87">
            <a:extLst>
              <a:ext uri="{FF2B5EF4-FFF2-40B4-BE49-F238E27FC236}">
                <a16:creationId xmlns:a16="http://schemas.microsoft.com/office/drawing/2014/main" id="{4C690C94-8932-4AFD-8097-E27EED1BD08B}"/>
              </a:ext>
            </a:extLst>
          </p:cNvPr>
          <p:cNvSpPr>
            <a:spLocks noGrp="1"/>
          </p:cNvSpPr>
          <p:nvPr/>
        </p:nvSpPr>
        <p:spPr>
          <a:xfrm>
            <a:off x="10382250" y="9334500"/>
            <a:ext cx="4238625" cy="1009650"/>
          </a:xfrm>
          <a:prstGeom prst="roundRect">
            <a:avLst>
              <a:gd name="adj" fmla="val 8491"/>
            </a:avLst>
          </a:prstGeom>
          <a:solidFill>
            <a:srgbClr val="FAF0C8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可信偏好</a:t>
            </a:r>
          </a:p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辅助更新共享VLM</a:t>
            </a:r>
          </a:p>
        </p:txBody>
      </p:sp>
      <p:sp>
        <p:nvSpPr>
          <p:cNvPr id="99" name="shape-88">
            <a:extLst>
              <a:ext uri="{FF2B5EF4-FFF2-40B4-BE49-F238E27FC236}">
                <a16:creationId xmlns:a16="http://schemas.microsoft.com/office/drawing/2014/main" id="{9CDFA56D-6260-4427-A420-DB523B32A300}"/>
              </a:ext>
            </a:extLst>
          </p:cNvPr>
          <p:cNvSpPr>
            <a:spLocks noGrp="1"/>
          </p:cNvSpPr>
          <p:nvPr/>
        </p:nvSpPr>
        <p:spPr>
          <a:xfrm>
            <a:off x="10668000" y="8696325"/>
            <a:ext cx="3952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5F6368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b、c 为拟研究方案</a:t>
            </a:r>
          </a:p>
        </p:txBody>
      </p:sp>
    </p:spTree>
    <p:extLst>
      <p:ext uri="{BB962C8B-B14F-4D97-AF65-F5344CB8AC3E}">
        <p14:creationId xmlns:p14="http://schemas.microsoft.com/office/powerpoint/2010/main" val="1489084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602396B-5299-411E-BF60-131B85662FA7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>
            <a:off x="11001375" y="7810499"/>
            <a:ext cx="571500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77E9817-6366-47AF-A13E-95A3B89BDBDE}"/>
              </a:ext>
            </a:extLst>
          </p:cNvPr>
          <p:cNvCxnSpPr>
            <a:stCxn id="37" idx="3"/>
            <a:endCxn id="38" idx="1"/>
          </p:cNvCxnSpPr>
          <p:nvPr/>
        </p:nvCxnSpPr>
        <p:spPr>
          <a:xfrm>
            <a:off x="7334250" y="7810499"/>
            <a:ext cx="571500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1E13EBF-4B72-417B-852F-DA6817A253B6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3667125" y="7810499"/>
            <a:ext cx="571500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EDBC83B-46DD-4A41-8910-EF9DF585EDC1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10810875" y="5029200"/>
            <a:ext cx="714375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C3346C9-ACDC-4E5B-AAC2-3D3AFAFFCD9C}"/>
              </a:ext>
            </a:extLst>
          </p:cNvPr>
          <p:cNvCxnSpPr>
            <a:stCxn id="15" idx="3"/>
            <a:endCxn id="23" idx="1"/>
          </p:cNvCxnSpPr>
          <p:nvPr/>
        </p:nvCxnSpPr>
        <p:spPr>
          <a:xfrm>
            <a:off x="10810875" y="3390900"/>
            <a:ext cx="714375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124661D-F642-4C47-B874-2B2F52EBE138}"/>
              </a:ext>
            </a:extLst>
          </p:cNvPr>
          <p:cNvCxnSpPr>
            <a:stCxn id="9" idx="3"/>
            <a:endCxn id="18" idx="1"/>
          </p:cNvCxnSpPr>
          <p:nvPr/>
        </p:nvCxnSpPr>
        <p:spPr>
          <a:xfrm>
            <a:off x="3619500" y="5029200"/>
            <a:ext cx="666750" cy="0"/>
          </a:xfrm>
          <a:prstGeom prst="straightConnector1">
            <a:avLst/>
          </a:prstGeom>
          <a:ln w="20955">
            <a:solidFill>
              <a:srgbClr val="8B6A9B"/>
            </a:solidFill>
            <a:prstDash val="dash"/>
            <a:tailEnd type="triangle" w="med" len="med"/>
          </a:ln>
        </p:spPr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E2DE5AE-EC38-43FB-BABA-3C6976FDED6C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3619500" y="3390900"/>
            <a:ext cx="666750" cy="0"/>
          </a:xfrm>
          <a:prstGeom prst="straightConnector1">
            <a:avLst/>
          </a:prstGeom>
          <a:ln w="20955">
            <a:solidFill>
              <a:srgbClr val="8B6A9B"/>
            </a:solidFill>
            <a:prstDash val="dash"/>
            <a:tailEnd type="triangle" w="med" len="med"/>
          </a:ln>
        </p:spPr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4A4F469-4FBA-4A93-932A-30F0E5FA929E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8524875" y="5029200"/>
            <a:ext cx="333375" cy="0"/>
          </a:xfrm>
          <a:prstGeom prst="straightConnector1">
            <a:avLst/>
          </a:prstGeom>
          <a:ln w="20955">
            <a:solidFill>
              <a:srgbClr val="40758A"/>
            </a:solidFill>
            <a:prstDash val="solid"/>
            <a:tailEnd type="triangle" w="med" len="med"/>
          </a:ln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04732BD-B33D-44EC-B951-811E567C10C8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6238875" y="5029200"/>
            <a:ext cx="333375" cy="0"/>
          </a:xfrm>
          <a:prstGeom prst="straightConnector1">
            <a:avLst/>
          </a:prstGeom>
          <a:ln w="20955">
            <a:solidFill>
              <a:srgbClr val="40758A"/>
            </a:solidFill>
            <a:prstDash val="solid"/>
            <a:tailEnd type="triangle" w="med" len="med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0853658-A204-4F6D-B713-E634038C0892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8524875" y="3390900"/>
            <a:ext cx="333375" cy="0"/>
          </a:xfrm>
          <a:prstGeom prst="straightConnector1">
            <a:avLst/>
          </a:prstGeom>
          <a:ln w="20955">
            <a:solidFill>
              <a:srgbClr val="40758A"/>
            </a:solidFill>
            <a:prstDash val="solid"/>
            <a:tailEnd type="triangle" w="med" len="med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CFA118D-7AFD-4AC8-8A7A-68D8CD21E489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6238875" y="3390900"/>
            <a:ext cx="333375" cy="0"/>
          </a:xfrm>
          <a:prstGeom prst="straightConnector1">
            <a:avLst/>
          </a:prstGeom>
          <a:ln w="20955">
            <a:solidFill>
              <a:srgbClr val="40758A"/>
            </a:solidFill>
            <a:prstDash val="solid"/>
            <a:tailEnd type="triangle" w="med" len="med"/>
          </a:ln>
        </p:spPr>
      </p:cxnSp>
      <p:sp>
        <p:nvSpPr>
          <p:cNvPr id="49" name="shape-89">
            <a:extLst>
              <a:ext uri="{FF2B5EF4-FFF2-40B4-BE49-F238E27FC236}">
                <a16:creationId xmlns:a16="http://schemas.microsoft.com/office/drawing/2014/main" id="{E7FC1143-D9F3-4762-BB2B-98B5ECE04434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1409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图3.2  历史依赖诊断与分阶段验证</a:t>
            </a:r>
          </a:p>
        </p:txBody>
      </p:sp>
      <p:sp>
        <p:nvSpPr>
          <p:cNvPr id="3" name="shape-91">
            <a:extLst>
              <a:ext uri="{FF2B5EF4-FFF2-40B4-BE49-F238E27FC236}">
                <a16:creationId xmlns:a16="http://schemas.microsoft.com/office/drawing/2014/main" id="{45DC1593-4B7F-4637-9E04-41DA6A5890FE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430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  跨步骤记忆的受控诊断</a:t>
            </a:r>
          </a:p>
        </p:txBody>
      </p:sp>
      <p:sp>
        <p:nvSpPr>
          <p:cNvPr id="4" name="shape-92">
            <a:extLst>
              <a:ext uri="{FF2B5EF4-FFF2-40B4-BE49-F238E27FC236}">
                <a16:creationId xmlns:a16="http://schemas.microsoft.com/office/drawing/2014/main" id="{5215A344-8436-4C76-AACD-6750A88A5F85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8B6A9B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更早执行历史</a:t>
            </a:r>
          </a:p>
        </p:txBody>
      </p:sp>
      <p:sp>
        <p:nvSpPr>
          <p:cNvPr id="5" name="shape-93">
            <a:extLst>
              <a:ext uri="{FF2B5EF4-FFF2-40B4-BE49-F238E27FC236}">
                <a16:creationId xmlns:a16="http://schemas.microsoft.com/office/drawing/2014/main" id="{60B1FFFE-BE16-4D68-973E-A3CFB3720677}"/>
              </a:ext>
            </a:extLst>
          </p:cNvPr>
          <p:cNvSpPr>
            <a:spLocks noGrp="1"/>
          </p:cNvSpPr>
          <p:nvPr/>
        </p:nvSpPr>
        <p:spPr>
          <a:xfrm>
            <a:off x="4048125" y="1952625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1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40758A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近期窗口与其他输入匹配</a:t>
            </a:r>
          </a:p>
        </p:txBody>
      </p:sp>
      <p:sp>
        <p:nvSpPr>
          <p:cNvPr id="6" name="shape-94">
            <a:extLst>
              <a:ext uri="{FF2B5EF4-FFF2-40B4-BE49-F238E27FC236}">
                <a16:creationId xmlns:a16="http://schemas.microsoft.com/office/drawing/2014/main" id="{638794FA-4D3A-4924-B3B6-B2D7FCF187F9}"/>
              </a:ext>
            </a:extLst>
          </p:cNvPr>
          <p:cNvSpPr>
            <a:spLocks noGrp="1"/>
          </p:cNvSpPr>
          <p:nvPr/>
        </p:nvSpPr>
        <p:spPr>
          <a:xfrm>
            <a:off x="11525250" y="1952625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1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5C8069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当前应采取的操作</a:t>
            </a:r>
          </a:p>
        </p:txBody>
      </p:sp>
      <p:sp>
        <p:nvSpPr>
          <p:cNvPr id="7" name="line-95">
            <a:extLst>
              <a:ext uri="{FF2B5EF4-FFF2-40B4-BE49-F238E27FC236}">
                <a16:creationId xmlns:a16="http://schemas.microsoft.com/office/drawing/2014/main" id="{D71D8DCF-F661-4EB8-8049-02B7383A0EAA}"/>
              </a:ext>
            </a:extLst>
          </p:cNvPr>
          <p:cNvSpPr>
            <a:spLocks noGrp="1"/>
          </p:cNvSpPr>
          <p:nvPr/>
        </p:nvSpPr>
        <p:spPr>
          <a:xfrm>
            <a:off x="3829050" y="2505075"/>
            <a:ext cx="0" cy="3114675"/>
          </a:xfrm>
          <a:prstGeom prst="line">
            <a:avLst/>
          </a:prstGeom>
          <a:noFill/>
          <a:ln w="15240">
            <a:solidFill>
              <a:srgbClr val="8B6A9B"/>
            </a:solidFill>
            <a:prstDash val="dash"/>
          </a:ln>
        </p:spPr>
      </p:sp>
      <p:sp>
        <p:nvSpPr>
          <p:cNvPr id="8" name="shape-96">
            <a:extLst>
              <a:ext uri="{FF2B5EF4-FFF2-40B4-BE49-F238E27FC236}">
                <a16:creationId xmlns:a16="http://schemas.microsoft.com/office/drawing/2014/main" id="{454AF08E-AE7D-4459-B526-A5A877D8C535}"/>
              </a:ext>
            </a:extLst>
          </p:cNvPr>
          <p:cNvSpPr>
            <a:spLocks noGrp="1"/>
          </p:cNvSpPr>
          <p:nvPr/>
        </p:nvSpPr>
        <p:spPr>
          <a:xfrm>
            <a:off x="571500" y="2895600"/>
            <a:ext cx="3048000" cy="990600"/>
          </a:xfrm>
          <a:prstGeom prst="roundRect">
            <a:avLst>
              <a:gd name="adj" fmla="val 8654"/>
            </a:avLst>
          </a:prstGeom>
          <a:solidFill>
            <a:srgbClr val="F9DF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A尚未核验</a:t>
            </a:r>
          </a:p>
        </p:txBody>
      </p:sp>
      <p:sp>
        <p:nvSpPr>
          <p:cNvPr id="9" name="shape-97">
            <a:extLst>
              <a:ext uri="{FF2B5EF4-FFF2-40B4-BE49-F238E27FC236}">
                <a16:creationId xmlns:a16="http://schemas.microsoft.com/office/drawing/2014/main" id="{124085C7-F991-47BE-95D7-A6F23A4169E4}"/>
              </a:ext>
            </a:extLst>
          </p:cNvPr>
          <p:cNvSpPr>
            <a:spLocks noGrp="1"/>
          </p:cNvSpPr>
          <p:nvPr/>
        </p:nvSpPr>
        <p:spPr>
          <a:xfrm>
            <a:off x="571500" y="4533900"/>
            <a:ext cx="3048000" cy="990600"/>
          </a:xfrm>
          <a:prstGeom prst="roundRect">
            <a:avLst>
              <a:gd name="adj" fmla="val 8654"/>
            </a:avLst>
          </a:prstGeom>
          <a:solidFill>
            <a:srgbClr val="EBDFF1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A已经核验</a:t>
            </a:r>
          </a:p>
        </p:txBody>
      </p:sp>
      <p:sp>
        <p:nvSpPr>
          <p:cNvPr id="10" name="shape-98">
            <a:extLst>
              <a:ext uri="{FF2B5EF4-FFF2-40B4-BE49-F238E27FC236}">
                <a16:creationId xmlns:a16="http://schemas.microsoft.com/office/drawing/2014/main" id="{7017AAB4-A60D-4FD8-B6E8-5581CA533C5F}"/>
              </a:ext>
            </a:extLst>
          </p:cNvPr>
          <p:cNvSpPr>
            <a:spLocks noGrp="1"/>
          </p:cNvSpPr>
          <p:nvPr/>
        </p:nvSpPr>
        <p:spPr>
          <a:xfrm>
            <a:off x="4286250" y="2895600"/>
            <a:ext cx="1952625" cy="990600"/>
          </a:xfrm>
          <a:prstGeom prst="roundRect">
            <a:avLst>
              <a:gd name="adj" fmla="val 8654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视觉观测</a:t>
            </a:r>
          </a:p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本体状态</a:t>
            </a:r>
          </a:p>
        </p:txBody>
      </p:sp>
      <p:sp>
        <p:nvSpPr>
          <p:cNvPr id="11" name="shape-99">
            <a:extLst>
              <a:ext uri="{FF2B5EF4-FFF2-40B4-BE49-F238E27FC236}">
                <a16:creationId xmlns:a16="http://schemas.microsoft.com/office/drawing/2014/main" id="{9ED66B81-596E-4D26-9377-E28DDE6E68CC}"/>
              </a:ext>
            </a:extLst>
          </p:cNvPr>
          <p:cNvSpPr>
            <a:spLocks noGrp="1"/>
          </p:cNvSpPr>
          <p:nvPr/>
        </p:nvSpPr>
        <p:spPr>
          <a:xfrm>
            <a:off x="4286250" y="2505075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5F6368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t−2</a:t>
            </a:r>
          </a:p>
        </p:txBody>
      </p:sp>
      <p:sp>
        <p:nvSpPr>
          <p:cNvPr id="12" name="shape-100">
            <a:extLst>
              <a:ext uri="{FF2B5EF4-FFF2-40B4-BE49-F238E27FC236}">
                <a16:creationId xmlns:a16="http://schemas.microsoft.com/office/drawing/2014/main" id="{2CAFB931-BB67-4633-95EB-78B35B59D5FC}"/>
              </a:ext>
            </a:extLst>
          </p:cNvPr>
          <p:cNvSpPr>
            <a:spLocks noGrp="1"/>
          </p:cNvSpPr>
          <p:nvPr/>
        </p:nvSpPr>
        <p:spPr>
          <a:xfrm>
            <a:off x="6572250" y="2895600"/>
            <a:ext cx="1952625" cy="990600"/>
          </a:xfrm>
          <a:prstGeom prst="roundRect">
            <a:avLst>
              <a:gd name="adj" fmla="val 8654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视觉观测</a:t>
            </a:r>
          </a:p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本体状态</a:t>
            </a:r>
          </a:p>
        </p:txBody>
      </p:sp>
      <p:sp>
        <p:nvSpPr>
          <p:cNvPr id="14" name="shape-101">
            <a:extLst>
              <a:ext uri="{FF2B5EF4-FFF2-40B4-BE49-F238E27FC236}">
                <a16:creationId xmlns:a16="http://schemas.microsoft.com/office/drawing/2014/main" id="{2D694A56-8FA1-4D77-86B2-CE24E6998E00}"/>
              </a:ext>
            </a:extLst>
          </p:cNvPr>
          <p:cNvSpPr>
            <a:spLocks noGrp="1"/>
          </p:cNvSpPr>
          <p:nvPr/>
        </p:nvSpPr>
        <p:spPr>
          <a:xfrm>
            <a:off x="6572250" y="2505075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5F6368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t−1</a:t>
            </a:r>
          </a:p>
        </p:txBody>
      </p:sp>
      <p:sp>
        <p:nvSpPr>
          <p:cNvPr id="15" name="shape-102">
            <a:extLst>
              <a:ext uri="{FF2B5EF4-FFF2-40B4-BE49-F238E27FC236}">
                <a16:creationId xmlns:a16="http://schemas.microsoft.com/office/drawing/2014/main" id="{9D599CA7-6ADE-4012-9B72-4C4A9E919164}"/>
              </a:ext>
            </a:extLst>
          </p:cNvPr>
          <p:cNvSpPr>
            <a:spLocks noGrp="1"/>
          </p:cNvSpPr>
          <p:nvPr/>
        </p:nvSpPr>
        <p:spPr>
          <a:xfrm>
            <a:off x="8858250" y="2895600"/>
            <a:ext cx="1952625" cy="990600"/>
          </a:xfrm>
          <a:prstGeom prst="roundRect">
            <a:avLst>
              <a:gd name="adj" fmla="val 8654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视觉观测</a:t>
            </a:r>
          </a:p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本体状态</a:t>
            </a:r>
          </a:p>
        </p:txBody>
      </p:sp>
      <p:sp>
        <p:nvSpPr>
          <p:cNvPr id="17" name="shape-103">
            <a:extLst>
              <a:ext uri="{FF2B5EF4-FFF2-40B4-BE49-F238E27FC236}">
                <a16:creationId xmlns:a16="http://schemas.microsoft.com/office/drawing/2014/main" id="{32655297-1921-4424-B41C-CC1264A34835}"/>
              </a:ext>
            </a:extLst>
          </p:cNvPr>
          <p:cNvSpPr>
            <a:spLocks noGrp="1"/>
          </p:cNvSpPr>
          <p:nvPr/>
        </p:nvSpPr>
        <p:spPr>
          <a:xfrm>
            <a:off x="8858250" y="2505075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5F6368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8" name="shape-104">
            <a:extLst>
              <a:ext uri="{FF2B5EF4-FFF2-40B4-BE49-F238E27FC236}">
                <a16:creationId xmlns:a16="http://schemas.microsoft.com/office/drawing/2014/main" id="{42A34B3C-2F03-4D2F-B9F9-0CCE963F9FE8}"/>
              </a:ext>
            </a:extLst>
          </p:cNvPr>
          <p:cNvSpPr>
            <a:spLocks noGrp="1"/>
          </p:cNvSpPr>
          <p:nvPr/>
        </p:nvSpPr>
        <p:spPr>
          <a:xfrm>
            <a:off x="4286250" y="4533900"/>
            <a:ext cx="1952625" cy="990600"/>
          </a:xfrm>
          <a:prstGeom prst="roundRect">
            <a:avLst>
              <a:gd name="adj" fmla="val 8654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视觉观测</a:t>
            </a:r>
          </a:p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本体状态</a:t>
            </a:r>
          </a:p>
        </p:txBody>
      </p:sp>
      <p:sp>
        <p:nvSpPr>
          <p:cNvPr id="19" name="shape-105">
            <a:extLst>
              <a:ext uri="{FF2B5EF4-FFF2-40B4-BE49-F238E27FC236}">
                <a16:creationId xmlns:a16="http://schemas.microsoft.com/office/drawing/2014/main" id="{0FD09B35-3DB3-4D74-A44A-37015613AE98}"/>
              </a:ext>
            </a:extLst>
          </p:cNvPr>
          <p:cNvSpPr>
            <a:spLocks noGrp="1"/>
          </p:cNvSpPr>
          <p:nvPr/>
        </p:nvSpPr>
        <p:spPr>
          <a:xfrm>
            <a:off x="6572250" y="4533900"/>
            <a:ext cx="1952625" cy="990600"/>
          </a:xfrm>
          <a:prstGeom prst="roundRect">
            <a:avLst>
              <a:gd name="adj" fmla="val 8654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视觉观测</a:t>
            </a:r>
          </a:p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本体状态</a:t>
            </a:r>
          </a:p>
        </p:txBody>
      </p:sp>
      <p:sp>
        <p:nvSpPr>
          <p:cNvPr id="21" name="shape-106">
            <a:extLst>
              <a:ext uri="{FF2B5EF4-FFF2-40B4-BE49-F238E27FC236}">
                <a16:creationId xmlns:a16="http://schemas.microsoft.com/office/drawing/2014/main" id="{CFF7BFA4-9FF8-484D-853F-26773B0A0B17}"/>
              </a:ext>
            </a:extLst>
          </p:cNvPr>
          <p:cNvSpPr>
            <a:spLocks noGrp="1"/>
          </p:cNvSpPr>
          <p:nvPr/>
        </p:nvSpPr>
        <p:spPr>
          <a:xfrm>
            <a:off x="8858250" y="4533900"/>
            <a:ext cx="1952625" cy="990600"/>
          </a:xfrm>
          <a:prstGeom prst="roundRect">
            <a:avLst>
              <a:gd name="adj" fmla="val 8654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视觉观测</a:t>
            </a:r>
          </a:p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本体状态</a:t>
            </a:r>
          </a:p>
        </p:txBody>
      </p:sp>
      <p:sp>
        <p:nvSpPr>
          <p:cNvPr id="23" name="shape-107">
            <a:extLst>
              <a:ext uri="{FF2B5EF4-FFF2-40B4-BE49-F238E27FC236}">
                <a16:creationId xmlns:a16="http://schemas.microsoft.com/office/drawing/2014/main" id="{126096E0-3D22-4E61-B0DB-F60204A1C2B3}"/>
              </a:ext>
            </a:extLst>
          </p:cNvPr>
          <p:cNvSpPr>
            <a:spLocks noGrp="1"/>
          </p:cNvSpPr>
          <p:nvPr/>
        </p:nvSpPr>
        <p:spPr>
          <a:xfrm>
            <a:off x="11525250" y="2895600"/>
            <a:ext cx="3143250" cy="990600"/>
          </a:xfrm>
          <a:prstGeom prst="roundRect">
            <a:avLst>
              <a:gd name="adj" fmla="val 8654"/>
            </a:avLst>
          </a:prstGeom>
          <a:solidFill>
            <a:srgbClr val="E3ED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下一步处理A</a:t>
            </a:r>
          </a:p>
        </p:txBody>
      </p:sp>
      <p:sp>
        <p:nvSpPr>
          <p:cNvPr id="24" name="shape-108">
            <a:extLst>
              <a:ext uri="{FF2B5EF4-FFF2-40B4-BE49-F238E27FC236}">
                <a16:creationId xmlns:a16="http://schemas.microsoft.com/office/drawing/2014/main" id="{530ED42C-3414-4B86-AB2C-1C1C14BA2075}"/>
              </a:ext>
            </a:extLst>
          </p:cNvPr>
          <p:cNvSpPr>
            <a:spLocks noGrp="1"/>
          </p:cNvSpPr>
          <p:nvPr/>
        </p:nvSpPr>
        <p:spPr>
          <a:xfrm>
            <a:off x="11525250" y="4533900"/>
            <a:ext cx="3143250" cy="990600"/>
          </a:xfrm>
          <a:prstGeom prst="roundRect">
            <a:avLst>
              <a:gd name="adj" fmla="val 8654"/>
            </a:avLst>
          </a:prstGeom>
          <a:solidFill>
            <a:srgbClr val="E3ED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下一步处理B</a:t>
            </a:r>
          </a:p>
        </p:txBody>
      </p:sp>
      <p:sp>
        <p:nvSpPr>
          <p:cNvPr id="29" name="shape-109">
            <a:extLst>
              <a:ext uri="{FF2B5EF4-FFF2-40B4-BE49-F238E27FC236}">
                <a16:creationId xmlns:a16="http://schemas.microsoft.com/office/drawing/2014/main" id="{862606B3-26DD-44CC-9F49-965B647C566A}"/>
              </a:ext>
            </a:extLst>
          </p:cNvPr>
          <p:cNvSpPr>
            <a:spLocks noGrp="1"/>
          </p:cNvSpPr>
          <p:nvPr/>
        </p:nvSpPr>
        <p:spPr>
          <a:xfrm>
            <a:off x="4286250" y="3990975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40758A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</a:p>
        </p:txBody>
      </p:sp>
      <p:sp>
        <p:nvSpPr>
          <p:cNvPr id="30" name="shape-110">
            <a:extLst>
              <a:ext uri="{FF2B5EF4-FFF2-40B4-BE49-F238E27FC236}">
                <a16:creationId xmlns:a16="http://schemas.microsoft.com/office/drawing/2014/main" id="{ED4F1519-AA55-4580-8E4D-D3DE15EF5E10}"/>
              </a:ext>
            </a:extLst>
          </p:cNvPr>
          <p:cNvSpPr>
            <a:spLocks noGrp="1"/>
          </p:cNvSpPr>
          <p:nvPr/>
        </p:nvSpPr>
        <p:spPr>
          <a:xfrm>
            <a:off x="6572250" y="3990975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40758A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</a:p>
        </p:txBody>
      </p:sp>
      <p:sp>
        <p:nvSpPr>
          <p:cNvPr id="31" name="shape-111">
            <a:extLst>
              <a:ext uri="{FF2B5EF4-FFF2-40B4-BE49-F238E27FC236}">
                <a16:creationId xmlns:a16="http://schemas.microsoft.com/office/drawing/2014/main" id="{2808CB4A-EA73-40D3-AE81-D1AA2413B1C8}"/>
              </a:ext>
            </a:extLst>
          </p:cNvPr>
          <p:cNvSpPr>
            <a:spLocks noGrp="1"/>
          </p:cNvSpPr>
          <p:nvPr/>
        </p:nvSpPr>
        <p:spPr>
          <a:xfrm>
            <a:off x="8858250" y="3990975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40758A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</a:p>
        </p:txBody>
      </p:sp>
      <p:sp>
        <p:nvSpPr>
          <p:cNvPr id="32" name="shape-112">
            <a:extLst>
              <a:ext uri="{FF2B5EF4-FFF2-40B4-BE49-F238E27FC236}">
                <a16:creationId xmlns:a16="http://schemas.microsoft.com/office/drawing/2014/main" id="{293ED1F9-E2A6-4323-897A-B50324EA67D9}"/>
              </a:ext>
            </a:extLst>
          </p:cNvPr>
          <p:cNvSpPr>
            <a:spLocks noGrp="1"/>
          </p:cNvSpPr>
          <p:nvPr/>
        </p:nvSpPr>
        <p:spPr>
          <a:xfrm>
            <a:off x="571500" y="5781675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100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8B6A9B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关键事件位于窗口之前</a:t>
            </a:r>
          </a:p>
        </p:txBody>
      </p:sp>
      <p:sp>
        <p:nvSpPr>
          <p:cNvPr id="33" name="shape-113">
            <a:extLst>
              <a:ext uri="{FF2B5EF4-FFF2-40B4-BE49-F238E27FC236}">
                <a16:creationId xmlns:a16="http://schemas.microsoft.com/office/drawing/2014/main" id="{DAC0A591-62C7-427D-AB6A-4D0A4BE63968}"/>
              </a:ext>
            </a:extLst>
          </p:cNvPr>
          <p:cNvSpPr>
            <a:spLocks noGrp="1"/>
          </p:cNvSpPr>
          <p:nvPr/>
        </p:nvSpPr>
        <p:spPr>
          <a:xfrm>
            <a:off x="6715125" y="5781675"/>
            <a:ext cx="7953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def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5F6368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排除位置、计时和目录长度等进度捷径</a:t>
            </a:r>
          </a:p>
        </p:txBody>
      </p:sp>
      <p:sp>
        <p:nvSpPr>
          <p:cNvPr id="34" name="line-114">
            <a:extLst>
              <a:ext uri="{FF2B5EF4-FFF2-40B4-BE49-F238E27FC236}">
                <a16:creationId xmlns:a16="http://schemas.microsoft.com/office/drawing/2014/main" id="{790DF5D3-B7F8-4D8C-A8C4-B870FBF1FC5E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14097000" cy="0"/>
          </a:xfrm>
          <a:prstGeom prst="line">
            <a:avLst/>
          </a:prstGeom>
          <a:noFill/>
          <a:ln w="15240">
            <a:solidFill>
              <a:srgbClr val="D3D6D8"/>
            </a:solidFill>
            <a:prstDash val="solid"/>
          </a:ln>
        </p:spPr>
      </p:sp>
      <p:sp>
        <p:nvSpPr>
          <p:cNvPr id="35" name="shape-115">
            <a:extLst>
              <a:ext uri="{FF2B5EF4-FFF2-40B4-BE49-F238E27FC236}">
                <a16:creationId xmlns:a16="http://schemas.microsoft.com/office/drawing/2014/main" id="{CD286830-5FF5-4CEB-8A30-A7FF92D6B3AB}"/>
              </a:ext>
            </a:extLst>
          </p:cNvPr>
          <p:cNvSpPr>
            <a:spLocks noGrp="1"/>
          </p:cNvSpPr>
          <p:nvPr/>
        </p:nvSpPr>
        <p:spPr>
          <a:xfrm>
            <a:off x="571500" y="6667500"/>
            <a:ext cx="11430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  分阶段形成验证证据</a:t>
            </a:r>
          </a:p>
        </p:txBody>
      </p:sp>
      <p:sp>
        <p:nvSpPr>
          <p:cNvPr id="36" name="shape-116">
            <a:extLst>
              <a:ext uri="{FF2B5EF4-FFF2-40B4-BE49-F238E27FC236}">
                <a16:creationId xmlns:a16="http://schemas.microsoft.com/office/drawing/2014/main" id="{3CC9CD21-DF3D-4F67-B349-4A67169ADEFE}"/>
              </a:ext>
            </a:extLst>
          </p:cNvPr>
          <p:cNvSpPr>
            <a:spLocks noGrp="1"/>
          </p:cNvSpPr>
          <p:nvPr/>
        </p:nvSpPr>
        <p:spPr>
          <a:xfrm>
            <a:off x="571500" y="7419974"/>
            <a:ext cx="3095625" cy="781050"/>
          </a:xfrm>
          <a:prstGeom prst="roundRect">
            <a:avLst>
              <a:gd name="adj" fmla="val 10976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  接口与技能</a:t>
            </a:r>
          </a:p>
        </p:txBody>
      </p:sp>
      <p:sp>
        <p:nvSpPr>
          <p:cNvPr id="37" name="shape-117">
            <a:extLst>
              <a:ext uri="{FF2B5EF4-FFF2-40B4-BE49-F238E27FC236}">
                <a16:creationId xmlns:a16="http://schemas.microsoft.com/office/drawing/2014/main" id="{5800E6CF-5AC5-40E9-B168-65C6D8DE732D}"/>
              </a:ext>
            </a:extLst>
          </p:cNvPr>
          <p:cNvSpPr>
            <a:spLocks noGrp="1"/>
          </p:cNvSpPr>
          <p:nvPr/>
        </p:nvSpPr>
        <p:spPr>
          <a:xfrm>
            <a:off x="4238625" y="7419974"/>
            <a:ext cx="3095625" cy="781050"/>
          </a:xfrm>
          <a:prstGeom prst="roundRect">
            <a:avLst>
              <a:gd name="adj" fmla="val 10976"/>
            </a:avLst>
          </a:prstGeom>
          <a:solidFill>
            <a:srgbClr val="EBDFF1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  记忆与基线</a:t>
            </a:r>
          </a:p>
        </p:txBody>
      </p:sp>
      <p:sp>
        <p:nvSpPr>
          <p:cNvPr id="38" name="shape-118">
            <a:extLst>
              <a:ext uri="{FF2B5EF4-FFF2-40B4-BE49-F238E27FC236}">
                <a16:creationId xmlns:a16="http://schemas.microsoft.com/office/drawing/2014/main" id="{636B5F00-87A8-4259-8F70-769232519570}"/>
              </a:ext>
            </a:extLst>
          </p:cNvPr>
          <p:cNvSpPr>
            <a:spLocks noGrp="1"/>
          </p:cNvSpPr>
          <p:nvPr/>
        </p:nvSpPr>
        <p:spPr>
          <a:xfrm>
            <a:off x="7905750" y="7419974"/>
            <a:ext cx="3095625" cy="781050"/>
          </a:xfrm>
          <a:prstGeom prst="roundRect">
            <a:avLst>
              <a:gd name="adj" fmla="val 10976"/>
            </a:avLst>
          </a:prstGeom>
          <a:solidFill>
            <a:srgbClr val="E3ED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  读写评价</a:t>
            </a:r>
          </a:p>
        </p:txBody>
      </p:sp>
      <p:sp>
        <p:nvSpPr>
          <p:cNvPr id="39" name="shape-119">
            <a:extLst>
              <a:ext uri="{FF2B5EF4-FFF2-40B4-BE49-F238E27FC236}">
                <a16:creationId xmlns:a16="http://schemas.microsoft.com/office/drawing/2014/main" id="{86D80C16-15B1-421D-9249-5329EB7DFCCA}"/>
              </a:ext>
            </a:extLst>
          </p:cNvPr>
          <p:cNvSpPr>
            <a:spLocks noGrp="1"/>
          </p:cNvSpPr>
          <p:nvPr/>
        </p:nvSpPr>
        <p:spPr>
          <a:xfrm>
            <a:off x="11572875" y="7419974"/>
            <a:ext cx="3095625" cy="781050"/>
          </a:xfrm>
          <a:prstGeom prst="roundRect">
            <a:avLst>
              <a:gd name="adj" fmla="val 10976"/>
            </a:avLst>
          </a:prstGeom>
          <a:solidFill>
            <a:srgbClr val="FAF0C8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  综合评测</a:t>
            </a:r>
          </a:p>
        </p:txBody>
      </p:sp>
      <p:sp>
        <p:nvSpPr>
          <p:cNvPr id="43" name="shape-120">
            <a:extLst>
              <a:ext uri="{FF2B5EF4-FFF2-40B4-BE49-F238E27FC236}">
                <a16:creationId xmlns:a16="http://schemas.microsoft.com/office/drawing/2014/main" id="{6F01FD54-EA47-422B-BA2A-214A2C7F15BC}"/>
              </a:ext>
            </a:extLst>
          </p:cNvPr>
          <p:cNvSpPr>
            <a:spLocks noGrp="1"/>
          </p:cNvSpPr>
          <p:nvPr/>
        </p:nvSpPr>
        <p:spPr>
          <a:xfrm>
            <a:off x="571500" y="8305800"/>
            <a:ext cx="309562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高层输出合法</a:t>
            </a:r>
          </a:p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低层技能可复测</a:t>
            </a:r>
          </a:p>
        </p:txBody>
      </p:sp>
      <p:sp>
        <p:nvSpPr>
          <p:cNvPr id="44" name="shape-121">
            <a:extLst>
              <a:ext uri="{FF2B5EF4-FFF2-40B4-BE49-F238E27FC236}">
                <a16:creationId xmlns:a16="http://schemas.microsoft.com/office/drawing/2014/main" id="{1B70AF03-C628-42C2-B354-37572AE76692}"/>
              </a:ext>
            </a:extLst>
          </p:cNvPr>
          <p:cNvSpPr>
            <a:spLocks noGrp="1"/>
          </p:cNvSpPr>
          <p:nvPr/>
        </p:nvSpPr>
        <p:spPr>
          <a:xfrm>
            <a:off x="3829050" y="8305798"/>
            <a:ext cx="3841542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历史通道消融</a:t>
            </a:r>
          </a:p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规则 / SFT / 联合对照</a:t>
            </a:r>
          </a:p>
        </p:txBody>
      </p:sp>
      <p:sp>
        <p:nvSpPr>
          <p:cNvPr id="45" name="shape-122">
            <a:extLst>
              <a:ext uri="{FF2B5EF4-FFF2-40B4-BE49-F238E27FC236}">
                <a16:creationId xmlns:a16="http://schemas.microsoft.com/office/drawing/2014/main" id="{372801CE-B5EE-47F9-86AF-6403E1075844}"/>
              </a:ext>
            </a:extLst>
          </p:cNvPr>
          <p:cNvSpPr>
            <a:spLocks noGrp="1"/>
          </p:cNvSpPr>
          <p:nvPr/>
        </p:nvSpPr>
        <p:spPr>
          <a:xfrm>
            <a:off x="7905750" y="8305800"/>
            <a:ext cx="309562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恢复重复性</a:t>
            </a:r>
          </a:p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效用标签可靠性</a:t>
            </a:r>
          </a:p>
        </p:txBody>
      </p:sp>
      <p:sp>
        <p:nvSpPr>
          <p:cNvPr id="46" name="shape-123">
            <a:extLst>
              <a:ext uri="{FF2B5EF4-FFF2-40B4-BE49-F238E27FC236}">
                <a16:creationId xmlns:a16="http://schemas.microsoft.com/office/drawing/2014/main" id="{5702EBC4-C652-43E5-B777-70BD88522C88}"/>
              </a:ext>
            </a:extLst>
          </p:cNvPr>
          <p:cNvSpPr>
            <a:spLocks noGrp="1"/>
          </p:cNvSpPr>
          <p:nvPr/>
        </p:nvSpPr>
        <p:spPr>
          <a:xfrm>
            <a:off x="11572875" y="8305800"/>
            <a:ext cx="309562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同数据辅助项消融</a:t>
            </a:r>
          </a:p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等物理预算比较</a:t>
            </a:r>
          </a:p>
        </p:txBody>
      </p:sp>
    </p:spTree>
    <p:extLst>
      <p:ext uri="{BB962C8B-B14F-4D97-AF65-F5344CB8AC3E}">
        <p14:creationId xmlns:p14="http://schemas.microsoft.com/office/powerpoint/2010/main" val="1601857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6B2FD0FD-D034-449B-82BE-B77CAC145E50}"/>
              </a:ext>
            </a:extLst>
          </p:cNvPr>
          <p:cNvCxnSpPr>
            <a:stCxn id="122" idx="0"/>
            <a:endCxn id="123" idx="2"/>
          </p:cNvCxnSpPr>
          <p:nvPr/>
        </p:nvCxnSpPr>
        <p:spPr>
          <a:xfrm flipV="1">
            <a:off x="13906500" y="8582025"/>
            <a:ext cx="0" cy="809625"/>
          </a:xfrm>
          <a:prstGeom prst="straightConnector1">
            <a:avLst/>
          </a:prstGeom>
          <a:ln w="20955">
            <a:solidFill>
              <a:srgbClr val="B95660"/>
            </a:solidFill>
            <a:prstDash val="dash"/>
            <a:tailEnd type="triangle" w="med" len="med"/>
          </a:ln>
        </p:spPr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4B43EF8A-7692-4275-B5FB-73BF4C34DEFD}"/>
              </a:ext>
            </a:extLst>
          </p:cNvPr>
          <p:cNvCxnSpPr>
            <a:stCxn id="119" idx="2"/>
            <a:endCxn id="120" idx="0"/>
          </p:cNvCxnSpPr>
          <p:nvPr/>
        </p:nvCxnSpPr>
        <p:spPr>
          <a:xfrm>
            <a:off x="12382500" y="8582025"/>
            <a:ext cx="0" cy="809625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5EA17176-04E2-49ED-82F9-6C6081DD81C9}"/>
              </a:ext>
            </a:extLst>
          </p:cNvPr>
          <p:cNvCxnSpPr>
            <a:stCxn id="116" idx="0"/>
            <a:endCxn id="117" idx="2"/>
          </p:cNvCxnSpPr>
          <p:nvPr/>
        </p:nvCxnSpPr>
        <p:spPr>
          <a:xfrm flipV="1">
            <a:off x="7953375" y="8582025"/>
            <a:ext cx="0" cy="809625"/>
          </a:xfrm>
          <a:prstGeom prst="straightConnector1">
            <a:avLst/>
          </a:prstGeom>
          <a:ln w="20955">
            <a:solidFill>
              <a:srgbClr val="B95660"/>
            </a:solidFill>
            <a:prstDash val="dash"/>
            <a:tailEnd type="triangle" w="med" len="med"/>
          </a:ln>
        </p:spPr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77B6BA5E-87DA-44F1-AEF4-D8C2AD2207B0}"/>
              </a:ext>
            </a:extLst>
          </p:cNvPr>
          <p:cNvCxnSpPr>
            <a:stCxn id="113" idx="2"/>
            <a:endCxn id="114" idx="0"/>
          </p:cNvCxnSpPr>
          <p:nvPr/>
        </p:nvCxnSpPr>
        <p:spPr>
          <a:xfrm>
            <a:off x="6191250" y="8582025"/>
            <a:ext cx="0" cy="809625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1D07629E-6C7A-4C1D-8CAD-36F11F6F6F7B}"/>
              </a:ext>
            </a:extLst>
          </p:cNvPr>
          <p:cNvCxnSpPr>
            <a:stCxn id="110" idx="0"/>
            <a:endCxn id="111" idx="2"/>
          </p:cNvCxnSpPr>
          <p:nvPr/>
        </p:nvCxnSpPr>
        <p:spPr>
          <a:xfrm flipV="1">
            <a:off x="3238500" y="8582025"/>
            <a:ext cx="0" cy="809625"/>
          </a:xfrm>
          <a:prstGeom prst="straightConnector1">
            <a:avLst/>
          </a:prstGeom>
          <a:ln w="20955">
            <a:solidFill>
              <a:srgbClr val="B95660"/>
            </a:solidFill>
            <a:prstDash val="dash"/>
            <a:tailEnd type="triangle" w="med" len="med"/>
          </a:ln>
        </p:spPr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B7F488DB-5600-4CA7-A590-FEFC90BF0E93}"/>
              </a:ext>
            </a:extLst>
          </p:cNvPr>
          <p:cNvCxnSpPr>
            <a:stCxn id="107" idx="2"/>
            <a:endCxn id="108" idx="0"/>
          </p:cNvCxnSpPr>
          <p:nvPr/>
        </p:nvCxnSpPr>
        <p:spPr>
          <a:xfrm>
            <a:off x="1762125" y="8582025"/>
            <a:ext cx="0" cy="809625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A15106B-F25E-4C56-AC25-EFD74C47AD41}"/>
              </a:ext>
            </a:extLst>
          </p:cNvPr>
          <p:cNvCxnSpPr>
            <a:stCxn id="35" idx="3"/>
            <a:endCxn id="85" idx="1"/>
          </p:cNvCxnSpPr>
          <p:nvPr/>
        </p:nvCxnSpPr>
        <p:spPr>
          <a:xfrm>
            <a:off x="10648950" y="8020050"/>
            <a:ext cx="1352550" cy="0"/>
          </a:xfrm>
          <a:prstGeom prst="straightConnector1">
            <a:avLst/>
          </a:prstGeom>
          <a:ln w="20955">
            <a:solidFill>
              <a:srgbClr val="40758A"/>
            </a:solidFill>
            <a:prstDash val="solid"/>
            <a:tailEnd type="triangle" w="med" len="med"/>
          </a:ln>
        </p:spPr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07DDE086-E42B-4FA2-A0D8-98F3D37D76BE}"/>
              </a:ext>
            </a:extLst>
          </p:cNvPr>
          <p:cNvCxnSpPr>
            <a:stCxn id="98" idx="2"/>
            <a:endCxn id="99" idx="0"/>
          </p:cNvCxnSpPr>
          <p:nvPr/>
        </p:nvCxnSpPr>
        <p:spPr>
          <a:xfrm>
            <a:off x="5619750" y="7162800"/>
            <a:ext cx="0" cy="295275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E83CFE2-BE48-499B-B08F-2F48E5F6879A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12192000" y="3533775"/>
            <a:ext cx="0" cy="571500"/>
          </a:xfrm>
          <a:prstGeom prst="straightConnector1">
            <a:avLst/>
          </a:prstGeom>
          <a:ln w="20955">
            <a:solidFill>
              <a:srgbClr val="5C8069"/>
            </a:solidFill>
            <a:prstDash val="solid"/>
            <a:tailEnd type="triangle" w="med" len="med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5E2639E-C446-411E-BD64-6DC0E094484B}"/>
              </a:ext>
            </a:extLst>
          </p:cNvPr>
          <p:cNvCxnSpPr>
            <a:cxnSpLocks/>
            <a:stCxn id="12" idx="0"/>
            <a:endCxn id="5" idx="2"/>
          </p:cNvCxnSpPr>
          <p:nvPr/>
        </p:nvCxnSpPr>
        <p:spPr>
          <a:xfrm flipH="1" flipV="1">
            <a:off x="6457949" y="3775710"/>
            <a:ext cx="14288" cy="374332"/>
          </a:xfrm>
          <a:prstGeom prst="straightConnector1">
            <a:avLst/>
          </a:prstGeom>
          <a:ln w="20955">
            <a:solidFill>
              <a:srgbClr val="B95660"/>
            </a:solidFill>
            <a:prstDash val="dash"/>
            <a:tailEnd type="triangle" w="med" len="med"/>
          </a:ln>
        </p:spPr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64E0A17B-A16B-4E18-BF6F-9640CD91422B}"/>
              </a:ext>
            </a:extLst>
          </p:cNvPr>
          <p:cNvCxnSpPr>
            <a:cxnSpLocks/>
            <a:stCxn id="4" idx="2"/>
            <a:endCxn id="12" idx="1"/>
          </p:cNvCxnSpPr>
          <p:nvPr/>
        </p:nvCxnSpPr>
        <p:spPr>
          <a:xfrm rot="16200000" flipH="1">
            <a:off x="2430304" y="2903696"/>
            <a:ext cx="940117" cy="2181224"/>
          </a:xfrm>
          <a:prstGeom prst="bentConnector2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22AB9DF-C780-452E-9DDA-2F46A4FEB9B5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8924923" y="2918460"/>
            <a:ext cx="827407" cy="6032"/>
          </a:xfrm>
          <a:prstGeom prst="straightConnector1">
            <a:avLst/>
          </a:prstGeom>
          <a:ln w="20955">
            <a:solidFill>
              <a:srgbClr val="5C8069"/>
            </a:solidFill>
            <a:prstDash val="solid"/>
            <a:tailEnd type="triangle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686FB82-DFD4-4377-9880-37E3B207BB3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048000" y="2914650"/>
            <a:ext cx="942975" cy="381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sp>
        <p:nvSpPr>
          <p:cNvPr id="126" name="shape-126">
            <a:extLst>
              <a:ext uri="{FF2B5EF4-FFF2-40B4-BE49-F238E27FC236}">
                <a16:creationId xmlns:a16="http://schemas.microsoft.com/office/drawing/2014/main" id="{C52E5CC8-FB8E-484B-ABE2-9C1E39D85B38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1409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图3.3  阶段回报条件与分路联合训练</a:t>
            </a:r>
          </a:p>
        </p:txBody>
      </p:sp>
      <p:sp>
        <p:nvSpPr>
          <p:cNvPr id="3" name="shape-128">
            <a:extLst>
              <a:ext uri="{FF2B5EF4-FFF2-40B4-BE49-F238E27FC236}">
                <a16:creationId xmlns:a16="http://schemas.microsoft.com/office/drawing/2014/main" id="{3D3CCA3C-204F-4A15-8BD6-CDB1341A121F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1257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a  独立价值拟合与阶段质量标签</a:t>
            </a:r>
          </a:p>
        </p:txBody>
      </p:sp>
      <p:sp>
        <p:nvSpPr>
          <p:cNvPr id="4" name="shape-129">
            <a:extLst>
              <a:ext uri="{FF2B5EF4-FFF2-40B4-BE49-F238E27FC236}">
                <a16:creationId xmlns:a16="http://schemas.microsoft.com/office/drawing/2014/main" id="{0639F83C-73D1-4BBB-8B3B-791C953B2E1E}"/>
              </a:ext>
            </a:extLst>
          </p:cNvPr>
          <p:cNvSpPr>
            <a:spLocks noGrp="1"/>
          </p:cNvSpPr>
          <p:nvPr/>
        </p:nvSpPr>
        <p:spPr>
          <a:xfrm>
            <a:off x="571500" y="2305050"/>
            <a:ext cx="2476500" cy="1219200"/>
          </a:xfrm>
          <a:prstGeom prst="roundRect">
            <a:avLst>
              <a:gd name="adj" fmla="val 7031"/>
            </a:avLst>
          </a:prstGeom>
          <a:solidFill>
            <a:srgbClr val="F2F3F4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记录的</a:t>
            </a:r>
          </a:p>
          <a:p>
            <a: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交互轨迹</a:t>
            </a:r>
          </a:p>
        </p:txBody>
      </p:sp>
      <p:sp>
        <p:nvSpPr>
          <p:cNvPr id="5" name="shape-130">
            <a:extLst>
              <a:ext uri="{FF2B5EF4-FFF2-40B4-BE49-F238E27FC236}">
                <a16:creationId xmlns:a16="http://schemas.microsoft.com/office/drawing/2014/main" id="{BD198BED-AEE2-4E47-BB4C-E83DE305F204}"/>
              </a:ext>
            </a:extLst>
          </p:cNvPr>
          <p:cNvSpPr>
            <a:spLocks noGrp="1"/>
          </p:cNvSpPr>
          <p:nvPr/>
        </p:nvSpPr>
        <p:spPr>
          <a:xfrm>
            <a:off x="3990975" y="2061210"/>
            <a:ext cx="4933948" cy="1714500"/>
          </a:xfrm>
          <a:prstGeom prst="roundRect">
            <a:avLst>
              <a:gd name="adj" fmla="val 5000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6" name="shape-131">
            <a:extLst>
              <a:ext uri="{FF2B5EF4-FFF2-40B4-BE49-F238E27FC236}">
                <a16:creationId xmlns:a16="http://schemas.microsoft.com/office/drawing/2014/main" id="{EFAEB35D-8C32-4E4F-AB3B-1FF31B47FD72}"/>
              </a:ext>
            </a:extLst>
          </p:cNvPr>
          <p:cNvSpPr>
            <a:spLocks noGrp="1"/>
          </p:cNvSpPr>
          <p:nvPr/>
        </p:nvSpPr>
        <p:spPr>
          <a:xfrm>
            <a:off x="4114800" y="2209800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47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独立价值模型 ψ</a:t>
            </a:r>
          </a:p>
        </p:txBody>
      </p:sp>
      <p:sp>
        <p:nvSpPr>
          <p:cNvPr id="7" name="shape-132">
            <a:extLst>
              <a:ext uri="{FF2B5EF4-FFF2-40B4-BE49-F238E27FC236}">
                <a16:creationId xmlns:a16="http://schemas.microsoft.com/office/drawing/2014/main" id="{272B0830-3C93-4189-9B98-EF42D1D47079}"/>
              </a:ext>
            </a:extLst>
          </p:cNvPr>
          <p:cNvSpPr>
            <a:spLocks noGrp="1"/>
          </p:cNvSpPr>
          <p:nvPr/>
        </p:nvSpPr>
        <p:spPr>
          <a:xfrm>
            <a:off x="4114800" y="27336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高层头：READ前</a:t>
            </a:r>
          </a:p>
        </p:txBody>
      </p:sp>
      <p:sp>
        <p:nvSpPr>
          <p:cNvPr id="8" name="shape-133">
            <a:extLst>
              <a:ext uri="{FF2B5EF4-FFF2-40B4-BE49-F238E27FC236}">
                <a16:creationId xmlns:a16="http://schemas.microsoft.com/office/drawing/2014/main" id="{62AB252B-3E00-4F00-A501-94E549072951}"/>
              </a:ext>
            </a:extLst>
          </p:cNvPr>
          <p:cNvSpPr>
            <a:spLocks noGrp="1"/>
          </p:cNvSpPr>
          <p:nvPr/>
        </p:nvSpPr>
        <p:spPr>
          <a:xfrm>
            <a:off x="4114800" y="3190875"/>
            <a:ext cx="453389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动作头：子任务后、动作前</a:t>
            </a:r>
          </a:p>
        </p:txBody>
      </p:sp>
      <p:sp>
        <p:nvSpPr>
          <p:cNvPr id="10" name="shape-134">
            <a:extLst>
              <a:ext uri="{FF2B5EF4-FFF2-40B4-BE49-F238E27FC236}">
                <a16:creationId xmlns:a16="http://schemas.microsoft.com/office/drawing/2014/main" id="{6B283CFF-4DCE-46FC-AC74-1550EAF367F8}"/>
              </a:ext>
            </a:extLst>
          </p:cNvPr>
          <p:cNvSpPr>
            <a:spLocks noGrp="1"/>
          </p:cNvSpPr>
          <p:nvPr/>
        </p:nvSpPr>
        <p:spPr>
          <a:xfrm>
            <a:off x="9752330" y="2314892"/>
            <a:ext cx="4953000" cy="1219200"/>
          </a:xfrm>
          <a:prstGeom prst="roundRect">
            <a:avLst>
              <a:gd name="adj" fmla="val 7031"/>
            </a:avLst>
          </a:prstGeom>
          <a:solidFill>
            <a:srgbClr val="FAF0C8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阶段回报＋边界价值</a:t>
            </a:r>
          </a:p>
          <a:p>
            <a: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优势 / 质量标签</a:t>
            </a:r>
          </a:p>
        </p:txBody>
      </p:sp>
      <p:sp>
        <p:nvSpPr>
          <p:cNvPr id="12" name="shape-135">
            <a:extLst>
              <a:ext uri="{FF2B5EF4-FFF2-40B4-BE49-F238E27FC236}">
                <a16:creationId xmlns:a16="http://schemas.microsoft.com/office/drawing/2014/main" id="{8A9DF054-7178-474A-8A95-1F63745F0ECD}"/>
              </a:ext>
            </a:extLst>
          </p:cNvPr>
          <p:cNvSpPr>
            <a:spLocks noGrp="1"/>
          </p:cNvSpPr>
          <p:nvPr/>
        </p:nvSpPr>
        <p:spPr>
          <a:xfrm>
            <a:off x="3990974" y="4150042"/>
            <a:ext cx="4962525" cy="628650"/>
          </a:xfrm>
          <a:prstGeom prst="roundRect">
            <a:avLst>
              <a:gd name="adj" fmla="val 13636"/>
            </a:avLst>
          </a:prstGeom>
          <a:solidFill>
            <a:srgbClr val="E3ED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MC回报分箱 CE</a:t>
            </a:r>
          </a:p>
        </p:txBody>
      </p:sp>
      <p:sp>
        <p:nvSpPr>
          <p:cNvPr id="16" name="shape-137">
            <a:extLst>
              <a:ext uri="{FF2B5EF4-FFF2-40B4-BE49-F238E27FC236}">
                <a16:creationId xmlns:a16="http://schemas.microsoft.com/office/drawing/2014/main" id="{37255172-E3BB-4E40-908C-6F3BDDBE30E3}"/>
              </a:ext>
            </a:extLst>
          </p:cNvPr>
          <p:cNvSpPr>
            <a:spLocks noGrp="1"/>
          </p:cNvSpPr>
          <p:nvPr/>
        </p:nvSpPr>
        <p:spPr>
          <a:xfrm>
            <a:off x="12182475" y="35147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7" name="shape-138">
            <a:extLst>
              <a:ext uri="{FF2B5EF4-FFF2-40B4-BE49-F238E27FC236}">
                <a16:creationId xmlns:a16="http://schemas.microsoft.com/office/drawing/2014/main" id="{D44828F4-3850-459C-AF24-F052A27D43A8}"/>
              </a:ext>
            </a:extLst>
          </p:cNvPr>
          <p:cNvSpPr>
            <a:spLocks noGrp="1"/>
          </p:cNvSpPr>
          <p:nvPr/>
        </p:nvSpPr>
        <p:spPr>
          <a:xfrm>
            <a:off x="12182475" y="410527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9" name="shape-139">
            <a:extLst>
              <a:ext uri="{FF2B5EF4-FFF2-40B4-BE49-F238E27FC236}">
                <a16:creationId xmlns:a16="http://schemas.microsoft.com/office/drawing/2014/main" id="{63E765FA-0A37-4F0F-83C6-B60B2500B612}"/>
              </a:ext>
            </a:extLst>
          </p:cNvPr>
          <p:cNvSpPr>
            <a:spLocks noGrp="1"/>
          </p:cNvSpPr>
          <p:nvPr/>
        </p:nvSpPr>
        <p:spPr>
          <a:xfrm>
            <a:off x="9477375" y="4267200"/>
            <a:ext cx="5191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75" b="1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5C8069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训练时填入对应条件 Iᴴ / Iᴬ</a:t>
            </a:r>
          </a:p>
        </p:txBody>
      </p:sp>
      <p:sp>
        <p:nvSpPr>
          <p:cNvPr id="20" name="line-140">
            <a:extLst>
              <a:ext uri="{FF2B5EF4-FFF2-40B4-BE49-F238E27FC236}">
                <a16:creationId xmlns:a16="http://schemas.microsoft.com/office/drawing/2014/main" id="{43A5D95F-9BF1-42DD-87EF-8E99BC619D73}"/>
              </a:ext>
            </a:extLst>
          </p:cNvPr>
          <p:cNvSpPr>
            <a:spLocks noGrp="1"/>
          </p:cNvSpPr>
          <p:nvPr/>
        </p:nvSpPr>
        <p:spPr>
          <a:xfrm>
            <a:off x="571500" y="5153025"/>
            <a:ext cx="14097000" cy="0"/>
          </a:xfrm>
          <a:prstGeom prst="line">
            <a:avLst/>
          </a:prstGeom>
          <a:noFill/>
          <a:ln w="15240">
            <a:solidFill>
              <a:srgbClr val="D3D6D8"/>
            </a:solidFill>
            <a:prstDash val="solid"/>
          </a:ln>
        </p:spPr>
      </p:sp>
      <p:sp>
        <p:nvSpPr>
          <p:cNvPr id="21" name="shape-141">
            <a:extLst>
              <a:ext uri="{FF2B5EF4-FFF2-40B4-BE49-F238E27FC236}">
                <a16:creationId xmlns:a16="http://schemas.microsoft.com/office/drawing/2014/main" id="{E864778C-00C6-4967-860F-FA1237892D8C}"/>
              </a:ext>
            </a:extLst>
          </p:cNvPr>
          <p:cNvSpPr>
            <a:spLocks noGrp="1"/>
          </p:cNvSpPr>
          <p:nvPr/>
        </p:nvSpPr>
        <p:spPr>
          <a:xfrm>
            <a:off x="571500" y="5267325"/>
            <a:ext cx="942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b  策略前向与梯度分工</a:t>
            </a:r>
          </a:p>
        </p:txBody>
      </p:sp>
      <p:sp>
        <p:nvSpPr>
          <p:cNvPr id="23" name="shape-143">
            <a:extLst>
              <a:ext uri="{FF2B5EF4-FFF2-40B4-BE49-F238E27FC236}">
                <a16:creationId xmlns:a16="http://schemas.microsoft.com/office/drawing/2014/main" id="{E792C9BC-BD40-4633-BA69-34611758C17D}"/>
              </a:ext>
            </a:extLst>
          </p:cNvPr>
          <p:cNvSpPr>
            <a:spLocks noGrp="1"/>
          </p:cNvSpPr>
          <p:nvPr/>
        </p:nvSpPr>
        <p:spPr>
          <a:xfrm>
            <a:off x="571500" y="5981700"/>
            <a:ext cx="2190750" cy="647700"/>
          </a:xfrm>
          <a:prstGeom prst="roundRect">
            <a:avLst>
              <a:gd name="adj" fmla="val 13235"/>
            </a:avLst>
          </a:prstGeom>
          <a:solidFill>
            <a:srgbClr val="F2F3F4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观测与指令</a:t>
            </a:r>
          </a:p>
          <a:p>
            <a:pPr algn="ctr">
              <a:def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记忆目录</a:t>
            </a:r>
          </a:p>
        </p:txBody>
      </p:sp>
      <p:sp>
        <p:nvSpPr>
          <p:cNvPr id="24" name="shape-144">
            <a:extLst>
              <a:ext uri="{FF2B5EF4-FFF2-40B4-BE49-F238E27FC236}">
                <a16:creationId xmlns:a16="http://schemas.microsoft.com/office/drawing/2014/main" id="{B68BB83B-CA61-4F8F-8C16-7ACE5DA1C00D}"/>
              </a:ext>
            </a:extLst>
          </p:cNvPr>
          <p:cNvSpPr>
            <a:spLocks noGrp="1"/>
          </p:cNvSpPr>
          <p:nvPr/>
        </p:nvSpPr>
        <p:spPr>
          <a:xfrm>
            <a:off x="2857500" y="5981700"/>
            <a:ext cx="619125" cy="647700"/>
          </a:xfrm>
          <a:prstGeom prst="roundRect">
            <a:avLst>
              <a:gd name="adj" fmla="val 13846"/>
            </a:avLst>
          </a:prstGeom>
          <a:solidFill>
            <a:srgbClr val="E3ED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Iᴴ</a:t>
            </a:r>
          </a:p>
        </p:txBody>
      </p:sp>
      <p:sp>
        <p:nvSpPr>
          <p:cNvPr id="25" name="shape-145">
            <a:extLst>
              <a:ext uri="{FF2B5EF4-FFF2-40B4-BE49-F238E27FC236}">
                <a16:creationId xmlns:a16="http://schemas.microsoft.com/office/drawing/2014/main" id="{32343B3D-A693-426C-B7E0-A3E0D3651104}"/>
              </a:ext>
            </a:extLst>
          </p:cNvPr>
          <p:cNvSpPr>
            <a:spLocks noGrp="1"/>
          </p:cNvSpPr>
          <p:nvPr/>
        </p:nvSpPr>
        <p:spPr>
          <a:xfrm>
            <a:off x="3571875" y="5981700"/>
            <a:ext cx="952500" cy="647700"/>
          </a:xfrm>
          <a:prstGeom prst="roundRect">
            <a:avLst>
              <a:gd name="adj" fmla="val 13235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18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READ</a:t>
            </a:r>
          </a:p>
        </p:txBody>
      </p:sp>
      <p:sp>
        <p:nvSpPr>
          <p:cNvPr id="26" name="shape-146">
            <a:extLst>
              <a:ext uri="{FF2B5EF4-FFF2-40B4-BE49-F238E27FC236}">
                <a16:creationId xmlns:a16="http://schemas.microsoft.com/office/drawing/2014/main" id="{990F1A6D-A8B4-4A61-B2E1-0E6DAAE994DC}"/>
              </a:ext>
            </a:extLst>
          </p:cNvPr>
          <p:cNvSpPr>
            <a:spLocks noGrp="1"/>
          </p:cNvSpPr>
          <p:nvPr/>
        </p:nvSpPr>
        <p:spPr>
          <a:xfrm>
            <a:off x="4619625" y="5981700"/>
            <a:ext cx="1428750" cy="647700"/>
          </a:xfrm>
          <a:prstGeom prst="roundRect">
            <a:avLst>
              <a:gd name="adj" fmla="val 13235"/>
            </a:avLst>
          </a:prstGeom>
          <a:solidFill>
            <a:srgbClr val="F2F3F4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19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9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返回正文</a:t>
            </a:r>
          </a:p>
        </p:txBody>
      </p:sp>
      <p:sp>
        <p:nvSpPr>
          <p:cNvPr id="27" name="shape-147">
            <a:extLst>
              <a:ext uri="{FF2B5EF4-FFF2-40B4-BE49-F238E27FC236}">
                <a16:creationId xmlns:a16="http://schemas.microsoft.com/office/drawing/2014/main" id="{A0B8C28E-90E9-4AEE-9CB1-F9F15565CB82}"/>
              </a:ext>
            </a:extLst>
          </p:cNvPr>
          <p:cNvSpPr>
            <a:spLocks noGrp="1"/>
          </p:cNvSpPr>
          <p:nvPr/>
        </p:nvSpPr>
        <p:spPr>
          <a:xfrm>
            <a:off x="6143625" y="5981700"/>
            <a:ext cx="1143000" cy="647700"/>
          </a:xfrm>
          <a:prstGeom prst="roundRect">
            <a:avLst>
              <a:gd name="adj" fmla="val 13235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WRITE</a:t>
            </a:r>
          </a:p>
        </p:txBody>
      </p:sp>
      <p:sp>
        <p:nvSpPr>
          <p:cNvPr id="28" name="shape-148">
            <a:extLst>
              <a:ext uri="{FF2B5EF4-FFF2-40B4-BE49-F238E27FC236}">
                <a16:creationId xmlns:a16="http://schemas.microsoft.com/office/drawing/2014/main" id="{E72D4F71-CC80-4566-A174-FEC86417170B}"/>
              </a:ext>
            </a:extLst>
          </p:cNvPr>
          <p:cNvSpPr>
            <a:spLocks noGrp="1"/>
          </p:cNvSpPr>
          <p:nvPr/>
        </p:nvSpPr>
        <p:spPr>
          <a:xfrm>
            <a:off x="7381875" y="5981700"/>
            <a:ext cx="1571625" cy="647700"/>
          </a:xfrm>
          <a:prstGeom prst="roundRect">
            <a:avLst>
              <a:gd name="adj" fmla="val 13235"/>
            </a:avLst>
          </a:prstGeom>
          <a:solidFill>
            <a:srgbClr val="F2F3F4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更新后</a:t>
            </a:r>
          </a:p>
          <a:p>
            <a:pPr algn="ctr">
              <a:def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可见记忆</a:t>
            </a:r>
          </a:p>
        </p:txBody>
      </p:sp>
      <p:sp>
        <p:nvSpPr>
          <p:cNvPr id="29" name="shape-149">
            <a:extLst>
              <a:ext uri="{FF2B5EF4-FFF2-40B4-BE49-F238E27FC236}">
                <a16:creationId xmlns:a16="http://schemas.microsoft.com/office/drawing/2014/main" id="{8FFD6EA6-A372-4763-A300-AE05F3CCD8F1}"/>
              </a:ext>
            </a:extLst>
          </p:cNvPr>
          <p:cNvSpPr>
            <a:spLocks noGrp="1"/>
          </p:cNvSpPr>
          <p:nvPr/>
        </p:nvSpPr>
        <p:spPr>
          <a:xfrm>
            <a:off x="9048750" y="5981700"/>
            <a:ext cx="1428750" cy="647700"/>
          </a:xfrm>
          <a:prstGeom prst="roundRect">
            <a:avLst>
              <a:gd name="adj" fmla="val 13235"/>
            </a:avLst>
          </a:prstGeom>
          <a:solidFill>
            <a:srgbClr val="F9DF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子任务</a:t>
            </a:r>
          </a:p>
        </p:txBody>
      </p:sp>
      <p:sp>
        <p:nvSpPr>
          <p:cNvPr id="30" name="shape-150">
            <a:extLst>
              <a:ext uri="{FF2B5EF4-FFF2-40B4-BE49-F238E27FC236}">
                <a16:creationId xmlns:a16="http://schemas.microsoft.com/office/drawing/2014/main" id="{863A44B8-2521-49F4-9792-24BC8FB11995}"/>
              </a:ext>
            </a:extLst>
          </p:cNvPr>
          <p:cNvSpPr>
            <a:spLocks noGrp="1"/>
          </p:cNvSpPr>
          <p:nvPr/>
        </p:nvSpPr>
        <p:spPr>
          <a:xfrm>
            <a:off x="10572750" y="5981700"/>
            <a:ext cx="571500" cy="647700"/>
          </a:xfrm>
          <a:prstGeom prst="roundRect">
            <a:avLst>
              <a:gd name="adj" fmla="val 15000"/>
            </a:avLst>
          </a:prstGeom>
          <a:solidFill>
            <a:srgbClr val="E3ED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Iᴬ</a:t>
            </a:r>
          </a:p>
        </p:txBody>
      </p:sp>
      <p:sp>
        <p:nvSpPr>
          <p:cNvPr id="31" name="shape-151">
            <a:extLst>
              <a:ext uri="{FF2B5EF4-FFF2-40B4-BE49-F238E27FC236}">
                <a16:creationId xmlns:a16="http://schemas.microsoft.com/office/drawing/2014/main" id="{D9A57256-CC7B-4940-B09B-16773D1F328B}"/>
              </a:ext>
            </a:extLst>
          </p:cNvPr>
          <p:cNvSpPr>
            <a:spLocks noGrp="1"/>
          </p:cNvSpPr>
          <p:nvPr/>
        </p:nvSpPr>
        <p:spPr>
          <a:xfrm>
            <a:off x="11239500" y="5981700"/>
            <a:ext cx="3429000" cy="647700"/>
          </a:xfrm>
          <a:prstGeom prst="roundRect">
            <a:avLst>
              <a:gd name="adj" fmla="val 13235"/>
            </a:avLst>
          </a:prstGeom>
          <a:solidFill>
            <a:srgbClr val="FAF0C8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FAST动作token</a:t>
            </a:r>
          </a:p>
        </p:txBody>
      </p:sp>
      <p:sp>
        <p:nvSpPr>
          <p:cNvPr id="35" name="shape-155">
            <a:extLst>
              <a:ext uri="{FF2B5EF4-FFF2-40B4-BE49-F238E27FC236}">
                <a16:creationId xmlns:a16="http://schemas.microsoft.com/office/drawing/2014/main" id="{86B9654E-0536-4E76-930B-D963914A7F53}"/>
              </a:ext>
            </a:extLst>
          </p:cNvPr>
          <p:cNvSpPr>
            <a:spLocks noGrp="1"/>
          </p:cNvSpPr>
          <p:nvPr/>
        </p:nvSpPr>
        <p:spPr>
          <a:xfrm>
            <a:off x="647700" y="7467600"/>
            <a:ext cx="10001250" cy="1104900"/>
          </a:xfrm>
          <a:prstGeom prst="roundRect">
            <a:avLst>
              <a:gd name="adj" fmla="val 6897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6" name="shape-156">
            <a:extLst>
              <a:ext uri="{FF2B5EF4-FFF2-40B4-BE49-F238E27FC236}">
                <a16:creationId xmlns:a16="http://schemas.microsoft.com/office/drawing/2014/main" id="{2A4DBF8C-0B33-421C-9DB9-2655B78EDFFC}"/>
              </a:ext>
            </a:extLst>
          </p:cNvPr>
          <p:cNvSpPr>
            <a:spLocks noGrp="1"/>
          </p:cNvSpPr>
          <p:nvPr/>
        </p:nvSpPr>
        <p:spPr>
          <a:xfrm>
            <a:off x="571500" y="7696200"/>
            <a:ext cx="10153650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288">
            <a:solidFill>
              <a:srgbClr val="40758A"/>
            </a:solidFill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7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7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π0.5 共享VLM θ</a:t>
            </a:r>
          </a:p>
        </p:txBody>
      </p:sp>
      <p:sp>
        <p:nvSpPr>
          <p:cNvPr id="37" name="shape-157">
            <a:extLst>
              <a:ext uri="{FF2B5EF4-FFF2-40B4-BE49-F238E27FC236}">
                <a16:creationId xmlns:a16="http://schemas.microsoft.com/office/drawing/2014/main" id="{F6C2C4C4-92C4-41B3-816E-DF878A72988F}"/>
              </a:ext>
            </a:extLst>
          </p:cNvPr>
          <p:cNvSpPr>
            <a:spLocks noGrp="1"/>
          </p:cNvSpPr>
          <p:nvPr/>
        </p:nvSpPr>
        <p:spPr>
          <a:xfrm>
            <a:off x="7905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8" name="shape-158">
            <a:extLst>
              <a:ext uri="{FF2B5EF4-FFF2-40B4-BE49-F238E27FC236}">
                <a16:creationId xmlns:a16="http://schemas.microsoft.com/office/drawing/2014/main" id="{317F41F1-2727-456F-BEA6-E5D0C382715C}"/>
              </a:ext>
            </a:extLst>
          </p:cNvPr>
          <p:cNvSpPr>
            <a:spLocks noGrp="1"/>
          </p:cNvSpPr>
          <p:nvPr/>
        </p:nvSpPr>
        <p:spPr>
          <a:xfrm>
            <a:off x="7905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39" name="shape-159">
            <a:extLst>
              <a:ext uri="{FF2B5EF4-FFF2-40B4-BE49-F238E27FC236}">
                <a16:creationId xmlns:a16="http://schemas.microsoft.com/office/drawing/2014/main" id="{6EC0A434-8374-43C6-859D-D22013E6B2B8}"/>
              </a:ext>
            </a:extLst>
          </p:cNvPr>
          <p:cNvSpPr>
            <a:spLocks noGrp="1"/>
          </p:cNvSpPr>
          <p:nvPr/>
        </p:nvSpPr>
        <p:spPr>
          <a:xfrm>
            <a:off x="11906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0" name="shape-160">
            <a:extLst>
              <a:ext uri="{FF2B5EF4-FFF2-40B4-BE49-F238E27FC236}">
                <a16:creationId xmlns:a16="http://schemas.microsoft.com/office/drawing/2014/main" id="{A6A63A9A-A799-48FB-98DC-E6884AAC4626}"/>
              </a:ext>
            </a:extLst>
          </p:cNvPr>
          <p:cNvSpPr>
            <a:spLocks noGrp="1"/>
          </p:cNvSpPr>
          <p:nvPr/>
        </p:nvSpPr>
        <p:spPr>
          <a:xfrm>
            <a:off x="11906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1" name="shape-161">
            <a:extLst>
              <a:ext uri="{FF2B5EF4-FFF2-40B4-BE49-F238E27FC236}">
                <a16:creationId xmlns:a16="http://schemas.microsoft.com/office/drawing/2014/main" id="{AABF69B8-604B-4D49-B60C-4D2101ABA57B}"/>
              </a:ext>
            </a:extLst>
          </p:cNvPr>
          <p:cNvSpPr>
            <a:spLocks noGrp="1"/>
          </p:cNvSpPr>
          <p:nvPr/>
        </p:nvSpPr>
        <p:spPr>
          <a:xfrm>
            <a:off x="15906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2" name="shape-162">
            <a:extLst>
              <a:ext uri="{FF2B5EF4-FFF2-40B4-BE49-F238E27FC236}">
                <a16:creationId xmlns:a16="http://schemas.microsoft.com/office/drawing/2014/main" id="{65B29C3F-D224-4B8E-BBDC-E85F5947BE82}"/>
              </a:ext>
            </a:extLst>
          </p:cNvPr>
          <p:cNvSpPr>
            <a:spLocks noGrp="1"/>
          </p:cNvSpPr>
          <p:nvPr/>
        </p:nvSpPr>
        <p:spPr>
          <a:xfrm>
            <a:off x="15906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3" name="shape-163">
            <a:extLst>
              <a:ext uri="{FF2B5EF4-FFF2-40B4-BE49-F238E27FC236}">
                <a16:creationId xmlns:a16="http://schemas.microsoft.com/office/drawing/2014/main" id="{E1F39E6D-30E9-4FE3-9AAB-2D18392E4830}"/>
              </a:ext>
            </a:extLst>
          </p:cNvPr>
          <p:cNvSpPr>
            <a:spLocks noGrp="1"/>
          </p:cNvSpPr>
          <p:nvPr/>
        </p:nvSpPr>
        <p:spPr>
          <a:xfrm>
            <a:off x="19907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4" name="shape-164">
            <a:extLst>
              <a:ext uri="{FF2B5EF4-FFF2-40B4-BE49-F238E27FC236}">
                <a16:creationId xmlns:a16="http://schemas.microsoft.com/office/drawing/2014/main" id="{2280E7BB-ECAA-4FF6-8F03-1B7B02482704}"/>
              </a:ext>
            </a:extLst>
          </p:cNvPr>
          <p:cNvSpPr>
            <a:spLocks noGrp="1"/>
          </p:cNvSpPr>
          <p:nvPr/>
        </p:nvSpPr>
        <p:spPr>
          <a:xfrm>
            <a:off x="19907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5" name="shape-165">
            <a:extLst>
              <a:ext uri="{FF2B5EF4-FFF2-40B4-BE49-F238E27FC236}">
                <a16:creationId xmlns:a16="http://schemas.microsoft.com/office/drawing/2014/main" id="{E03AE30B-B7BB-41FF-A7A6-4F92CA042751}"/>
              </a:ext>
            </a:extLst>
          </p:cNvPr>
          <p:cNvSpPr>
            <a:spLocks noGrp="1"/>
          </p:cNvSpPr>
          <p:nvPr/>
        </p:nvSpPr>
        <p:spPr>
          <a:xfrm>
            <a:off x="23907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6" name="shape-166">
            <a:extLst>
              <a:ext uri="{FF2B5EF4-FFF2-40B4-BE49-F238E27FC236}">
                <a16:creationId xmlns:a16="http://schemas.microsoft.com/office/drawing/2014/main" id="{EE70EAAC-5011-4DD9-8D75-3F511EBD14B9}"/>
              </a:ext>
            </a:extLst>
          </p:cNvPr>
          <p:cNvSpPr>
            <a:spLocks noGrp="1"/>
          </p:cNvSpPr>
          <p:nvPr/>
        </p:nvSpPr>
        <p:spPr>
          <a:xfrm>
            <a:off x="23907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7" name="shape-167">
            <a:extLst>
              <a:ext uri="{FF2B5EF4-FFF2-40B4-BE49-F238E27FC236}">
                <a16:creationId xmlns:a16="http://schemas.microsoft.com/office/drawing/2014/main" id="{D617E9CB-810E-4E71-9996-A27D4B6DEB1D}"/>
              </a:ext>
            </a:extLst>
          </p:cNvPr>
          <p:cNvSpPr>
            <a:spLocks noGrp="1"/>
          </p:cNvSpPr>
          <p:nvPr/>
        </p:nvSpPr>
        <p:spPr>
          <a:xfrm>
            <a:off x="27908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8" name="shape-168">
            <a:extLst>
              <a:ext uri="{FF2B5EF4-FFF2-40B4-BE49-F238E27FC236}">
                <a16:creationId xmlns:a16="http://schemas.microsoft.com/office/drawing/2014/main" id="{3AE78BA7-3115-4AE0-B75A-4DE95F5D9243}"/>
              </a:ext>
            </a:extLst>
          </p:cNvPr>
          <p:cNvSpPr>
            <a:spLocks noGrp="1"/>
          </p:cNvSpPr>
          <p:nvPr/>
        </p:nvSpPr>
        <p:spPr>
          <a:xfrm>
            <a:off x="27908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49" name="shape-169">
            <a:extLst>
              <a:ext uri="{FF2B5EF4-FFF2-40B4-BE49-F238E27FC236}">
                <a16:creationId xmlns:a16="http://schemas.microsoft.com/office/drawing/2014/main" id="{1D7C35F9-5FEB-47E6-B577-3F908574DC36}"/>
              </a:ext>
            </a:extLst>
          </p:cNvPr>
          <p:cNvSpPr>
            <a:spLocks noGrp="1"/>
          </p:cNvSpPr>
          <p:nvPr/>
        </p:nvSpPr>
        <p:spPr>
          <a:xfrm>
            <a:off x="31908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0" name="shape-170">
            <a:extLst>
              <a:ext uri="{FF2B5EF4-FFF2-40B4-BE49-F238E27FC236}">
                <a16:creationId xmlns:a16="http://schemas.microsoft.com/office/drawing/2014/main" id="{C8F58956-5F09-4978-9E4C-4A885EC459AF}"/>
              </a:ext>
            </a:extLst>
          </p:cNvPr>
          <p:cNvSpPr>
            <a:spLocks noGrp="1"/>
          </p:cNvSpPr>
          <p:nvPr/>
        </p:nvSpPr>
        <p:spPr>
          <a:xfrm>
            <a:off x="31908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1" name="shape-171">
            <a:extLst>
              <a:ext uri="{FF2B5EF4-FFF2-40B4-BE49-F238E27FC236}">
                <a16:creationId xmlns:a16="http://schemas.microsoft.com/office/drawing/2014/main" id="{8DB473DA-346A-4BEF-B375-64212ED65526}"/>
              </a:ext>
            </a:extLst>
          </p:cNvPr>
          <p:cNvSpPr>
            <a:spLocks noGrp="1"/>
          </p:cNvSpPr>
          <p:nvPr/>
        </p:nvSpPr>
        <p:spPr>
          <a:xfrm>
            <a:off x="35909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2" name="shape-172">
            <a:extLst>
              <a:ext uri="{FF2B5EF4-FFF2-40B4-BE49-F238E27FC236}">
                <a16:creationId xmlns:a16="http://schemas.microsoft.com/office/drawing/2014/main" id="{6B2C941C-59E0-4728-898E-8FA8D9EF1BAB}"/>
              </a:ext>
            </a:extLst>
          </p:cNvPr>
          <p:cNvSpPr>
            <a:spLocks noGrp="1"/>
          </p:cNvSpPr>
          <p:nvPr/>
        </p:nvSpPr>
        <p:spPr>
          <a:xfrm>
            <a:off x="35909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3" name="shape-173">
            <a:extLst>
              <a:ext uri="{FF2B5EF4-FFF2-40B4-BE49-F238E27FC236}">
                <a16:creationId xmlns:a16="http://schemas.microsoft.com/office/drawing/2014/main" id="{7251A8B3-4233-4114-9F3D-45D2C9D18CB5}"/>
              </a:ext>
            </a:extLst>
          </p:cNvPr>
          <p:cNvSpPr>
            <a:spLocks noGrp="1"/>
          </p:cNvSpPr>
          <p:nvPr/>
        </p:nvSpPr>
        <p:spPr>
          <a:xfrm>
            <a:off x="39909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4" name="shape-174">
            <a:extLst>
              <a:ext uri="{FF2B5EF4-FFF2-40B4-BE49-F238E27FC236}">
                <a16:creationId xmlns:a16="http://schemas.microsoft.com/office/drawing/2014/main" id="{56E3F9F1-C697-462B-A513-FDAC0460E419}"/>
              </a:ext>
            </a:extLst>
          </p:cNvPr>
          <p:cNvSpPr>
            <a:spLocks noGrp="1"/>
          </p:cNvSpPr>
          <p:nvPr/>
        </p:nvSpPr>
        <p:spPr>
          <a:xfrm>
            <a:off x="39909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5" name="shape-175">
            <a:extLst>
              <a:ext uri="{FF2B5EF4-FFF2-40B4-BE49-F238E27FC236}">
                <a16:creationId xmlns:a16="http://schemas.microsoft.com/office/drawing/2014/main" id="{DB5CAA6F-7CFA-426A-AC6E-50075063A399}"/>
              </a:ext>
            </a:extLst>
          </p:cNvPr>
          <p:cNvSpPr>
            <a:spLocks noGrp="1"/>
          </p:cNvSpPr>
          <p:nvPr/>
        </p:nvSpPr>
        <p:spPr>
          <a:xfrm>
            <a:off x="43910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6" name="shape-176">
            <a:extLst>
              <a:ext uri="{FF2B5EF4-FFF2-40B4-BE49-F238E27FC236}">
                <a16:creationId xmlns:a16="http://schemas.microsoft.com/office/drawing/2014/main" id="{6BE550D8-1C7D-4650-96E2-1B66A6CA93CD}"/>
              </a:ext>
            </a:extLst>
          </p:cNvPr>
          <p:cNvSpPr>
            <a:spLocks noGrp="1"/>
          </p:cNvSpPr>
          <p:nvPr/>
        </p:nvSpPr>
        <p:spPr>
          <a:xfrm>
            <a:off x="43910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7" name="shape-177">
            <a:extLst>
              <a:ext uri="{FF2B5EF4-FFF2-40B4-BE49-F238E27FC236}">
                <a16:creationId xmlns:a16="http://schemas.microsoft.com/office/drawing/2014/main" id="{E6EFCBE3-CFA7-464C-A039-D6FD6CC26C49}"/>
              </a:ext>
            </a:extLst>
          </p:cNvPr>
          <p:cNvSpPr>
            <a:spLocks noGrp="1"/>
          </p:cNvSpPr>
          <p:nvPr/>
        </p:nvSpPr>
        <p:spPr>
          <a:xfrm>
            <a:off x="47910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8" name="shape-178">
            <a:extLst>
              <a:ext uri="{FF2B5EF4-FFF2-40B4-BE49-F238E27FC236}">
                <a16:creationId xmlns:a16="http://schemas.microsoft.com/office/drawing/2014/main" id="{5B239862-D276-4547-BADC-F90A06B9AA9A}"/>
              </a:ext>
            </a:extLst>
          </p:cNvPr>
          <p:cNvSpPr>
            <a:spLocks noGrp="1"/>
          </p:cNvSpPr>
          <p:nvPr/>
        </p:nvSpPr>
        <p:spPr>
          <a:xfrm>
            <a:off x="47910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59" name="shape-179">
            <a:extLst>
              <a:ext uri="{FF2B5EF4-FFF2-40B4-BE49-F238E27FC236}">
                <a16:creationId xmlns:a16="http://schemas.microsoft.com/office/drawing/2014/main" id="{662CE4FC-518C-405B-804F-04F9FBE287FA}"/>
              </a:ext>
            </a:extLst>
          </p:cNvPr>
          <p:cNvSpPr>
            <a:spLocks noGrp="1"/>
          </p:cNvSpPr>
          <p:nvPr/>
        </p:nvSpPr>
        <p:spPr>
          <a:xfrm>
            <a:off x="51911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60" name="shape-180">
            <a:extLst>
              <a:ext uri="{FF2B5EF4-FFF2-40B4-BE49-F238E27FC236}">
                <a16:creationId xmlns:a16="http://schemas.microsoft.com/office/drawing/2014/main" id="{60850CB2-7FF9-4C9A-88ED-46DF40ED4BD8}"/>
              </a:ext>
            </a:extLst>
          </p:cNvPr>
          <p:cNvSpPr>
            <a:spLocks noGrp="1"/>
          </p:cNvSpPr>
          <p:nvPr/>
        </p:nvSpPr>
        <p:spPr>
          <a:xfrm>
            <a:off x="51911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61" name="shape-181">
            <a:extLst>
              <a:ext uri="{FF2B5EF4-FFF2-40B4-BE49-F238E27FC236}">
                <a16:creationId xmlns:a16="http://schemas.microsoft.com/office/drawing/2014/main" id="{862DE019-91FB-4A6F-B90D-CE0E5B5DA6AA}"/>
              </a:ext>
            </a:extLst>
          </p:cNvPr>
          <p:cNvSpPr>
            <a:spLocks noGrp="1"/>
          </p:cNvSpPr>
          <p:nvPr/>
        </p:nvSpPr>
        <p:spPr>
          <a:xfrm>
            <a:off x="55911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62" name="shape-182">
            <a:extLst>
              <a:ext uri="{FF2B5EF4-FFF2-40B4-BE49-F238E27FC236}">
                <a16:creationId xmlns:a16="http://schemas.microsoft.com/office/drawing/2014/main" id="{81A1E8C0-C1CC-4B0F-836B-C5B7576B3129}"/>
              </a:ext>
            </a:extLst>
          </p:cNvPr>
          <p:cNvSpPr>
            <a:spLocks noGrp="1"/>
          </p:cNvSpPr>
          <p:nvPr/>
        </p:nvSpPr>
        <p:spPr>
          <a:xfrm>
            <a:off x="55911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63" name="shape-183">
            <a:extLst>
              <a:ext uri="{FF2B5EF4-FFF2-40B4-BE49-F238E27FC236}">
                <a16:creationId xmlns:a16="http://schemas.microsoft.com/office/drawing/2014/main" id="{966E4420-9C25-4255-8944-6E49E753D518}"/>
              </a:ext>
            </a:extLst>
          </p:cNvPr>
          <p:cNvSpPr>
            <a:spLocks noGrp="1"/>
          </p:cNvSpPr>
          <p:nvPr/>
        </p:nvSpPr>
        <p:spPr>
          <a:xfrm>
            <a:off x="59912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64" name="shape-184">
            <a:extLst>
              <a:ext uri="{FF2B5EF4-FFF2-40B4-BE49-F238E27FC236}">
                <a16:creationId xmlns:a16="http://schemas.microsoft.com/office/drawing/2014/main" id="{6E92CF39-3341-49BC-AC7C-8893569F05CE}"/>
              </a:ext>
            </a:extLst>
          </p:cNvPr>
          <p:cNvSpPr>
            <a:spLocks noGrp="1"/>
          </p:cNvSpPr>
          <p:nvPr/>
        </p:nvSpPr>
        <p:spPr>
          <a:xfrm>
            <a:off x="59912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65" name="shape-185">
            <a:extLst>
              <a:ext uri="{FF2B5EF4-FFF2-40B4-BE49-F238E27FC236}">
                <a16:creationId xmlns:a16="http://schemas.microsoft.com/office/drawing/2014/main" id="{89AC72EB-55E0-4522-B037-5A845564972E}"/>
              </a:ext>
            </a:extLst>
          </p:cNvPr>
          <p:cNvSpPr>
            <a:spLocks noGrp="1"/>
          </p:cNvSpPr>
          <p:nvPr/>
        </p:nvSpPr>
        <p:spPr>
          <a:xfrm>
            <a:off x="63912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66" name="shape-186">
            <a:extLst>
              <a:ext uri="{FF2B5EF4-FFF2-40B4-BE49-F238E27FC236}">
                <a16:creationId xmlns:a16="http://schemas.microsoft.com/office/drawing/2014/main" id="{7CF91955-AAF3-45DE-9D47-68A4475E7B3C}"/>
              </a:ext>
            </a:extLst>
          </p:cNvPr>
          <p:cNvSpPr>
            <a:spLocks noGrp="1"/>
          </p:cNvSpPr>
          <p:nvPr/>
        </p:nvSpPr>
        <p:spPr>
          <a:xfrm>
            <a:off x="63912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67" name="shape-187">
            <a:extLst>
              <a:ext uri="{FF2B5EF4-FFF2-40B4-BE49-F238E27FC236}">
                <a16:creationId xmlns:a16="http://schemas.microsoft.com/office/drawing/2014/main" id="{45D36F33-9960-476D-A5D0-588DF77B7BBD}"/>
              </a:ext>
            </a:extLst>
          </p:cNvPr>
          <p:cNvSpPr>
            <a:spLocks noGrp="1"/>
          </p:cNvSpPr>
          <p:nvPr/>
        </p:nvSpPr>
        <p:spPr>
          <a:xfrm>
            <a:off x="67913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68" name="shape-188">
            <a:extLst>
              <a:ext uri="{FF2B5EF4-FFF2-40B4-BE49-F238E27FC236}">
                <a16:creationId xmlns:a16="http://schemas.microsoft.com/office/drawing/2014/main" id="{F9C7F038-38C1-4D5D-A503-6A4092919C6E}"/>
              </a:ext>
            </a:extLst>
          </p:cNvPr>
          <p:cNvSpPr>
            <a:spLocks noGrp="1"/>
          </p:cNvSpPr>
          <p:nvPr/>
        </p:nvSpPr>
        <p:spPr>
          <a:xfrm>
            <a:off x="67913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69" name="shape-189">
            <a:extLst>
              <a:ext uri="{FF2B5EF4-FFF2-40B4-BE49-F238E27FC236}">
                <a16:creationId xmlns:a16="http://schemas.microsoft.com/office/drawing/2014/main" id="{A35C4306-AA7C-4350-B34F-844B520A3AA2}"/>
              </a:ext>
            </a:extLst>
          </p:cNvPr>
          <p:cNvSpPr>
            <a:spLocks noGrp="1"/>
          </p:cNvSpPr>
          <p:nvPr/>
        </p:nvSpPr>
        <p:spPr>
          <a:xfrm>
            <a:off x="71913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70" name="shape-190">
            <a:extLst>
              <a:ext uri="{FF2B5EF4-FFF2-40B4-BE49-F238E27FC236}">
                <a16:creationId xmlns:a16="http://schemas.microsoft.com/office/drawing/2014/main" id="{86A243C4-C0ED-4679-AFCD-52A5F9A4190F}"/>
              </a:ext>
            </a:extLst>
          </p:cNvPr>
          <p:cNvSpPr>
            <a:spLocks noGrp="1"/>
          </p:cNvSpPr>
          <p:nvPr/>
        </p:nvSpPr>
        <p:spPr>
          <a:xfrm>
            <a:off x="71913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71" name="shape-191">
            <a:extLst>
              <a:ext uri="{FF2B5EF4-FFF2-40B4-BE49-F238E27FC236}">
                <a16:creationId xmlns:a16="http://schemas.microsoft.com/office/drawing/2014/main" id="{B5220966-F5F6-4622-98CA-6C07EB66F73E}"/>
              </a:ext>
            </a:extLst>
          </p:cNvPr>
          <p:cNvSpPr>
            <a:spLocks noGrp="1"/>
          </p:cNvSpPr>
          <p:nvPr/>
        </p:nvSpPr>
        <p:spPr>
          <a:xfrm>
            <a:off x="75914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72" name="shape-192">
            <a:extLst>
              <a:ext uri="{FF2B5EF4-FFF2-40B4-BE49-F238E27FC236}">
                <a16:creationId xmlns:a16="http://schemas.microsoft.com/office/drawing/2014/main" id="{0909732B-17E8-4172-BAA4-E14B8FC9C8CA}"/>
              </a:ext>
            </a:extLst>
          </p:cNvPr>
          <p:cNvSpPr>
            <a:spLocks noGrp="1"/>
          </p:cNvSpPr>
          <p:nvPr/>
        </p:nvSpPr>
        <p:spPr>
          <a:xfrm>
            <a:off x="75914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73" name="shape-193">
            <a:extLst>
              <a:ext uri="{FF2B5EF4-FFF2-40B4-BE49-F238E27FC236}">
                <a16:creationId xmlns:a16="http://schemas.microsoft.com/office/drawing/2014/main" id="{C95F99F3-B4F7-45D0-9E2F-FF5D9CD32350}"/>
              </a:ext>
            </a:extLst>
          </p:cNvPr>
          <p:cNvSpPr>
            <a:spLocks noGrp="1"/>
          </p:cNvSpPr>
          <p:nvPr/>
        </p:nvSpPr>
        <p:spPr>
          <a:xfrm>
            <a:off x="79914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74" name="shape-194">
            <a:extLst>
              <a:ext uri="{FF2B5EF4-FFF2-40B4-BE49-F238E27FC236}">
                <a16:creationId xmlns:a16="http://schemas.microsoft.com/office/drawing/2014/main" id="{F6F1F2D3-EF8E-4382-BDEC-EBBAE0F8CC89}"/>
              </a:ext>
            </a:extLst>
          </p:cNvPr>
          <p:cNvSpPr>
            <a:spLocks noGrp="1"/>
          </p:cNvSpPr>
          <p:nvPr/>
        </p:nvSpPr>
        <p:spPr>
          <a:xfrm>
            <a:off x="79914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75" name="shape-195">
            <a:extLst>
              <a:ext uri="{FF2B5EF4-FFF2-40B4-BE49-F238E27FC236}">
                <a16:creationId xmlns:a16="http://schemas.microsoft.com/office/drawing/2014/main" id="{A1422664-C351-48C0-A0E7-18DFCAE2840B}"/>
              </a:ext>
            </a:extLst>
          </p:cNvPr>
          <p:cNvSpPr>
            <a:spLocks noGrp="1"/>
          </p:cNvSpPr>
          <p:nvPr/>
        </p:nvSpPr>
        <p:spPr>
          <a:xfrm>
            <a:off x="83915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76" name="shape-196">
            <a:extLst>
              <a:ext uri="{FF2B5EF4-FFF2-40B4-BE49-F238E27FC236}">
                <a16:creationId xmlns:a16="http://schemas.microsoft.com/office/drawing/2014/main" id="{DA2DDBB9-2332-4098-91C7-8CEB2153AED3}"/>
              </a:ext>
            </a:extLst>
          </p:cNvPr>
          <p:cNvSpPr>
            <a:spLocks noGrp="1"/>
          </p:cNvSpPr>
          <p:nvPr/>
        </p:nvSpPr>
        <p:spPr>
          <a:xfrm>
            <a:off x="83915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77" name="shape-197">
            <a:extLst>
              <a:ext uri="{FF2B5EF4-FFF2-40B4-BE49-F238E27FC236}">
                <a16:creationId xmlns:a16="http://schemas.microsoft.com/office/drawing/2014/main" id="{4089829A-C374-41C9-863A-117DA2C7C0C5}"/>
              </a:ext>
            </a:extLst>
          </p:cNvPr>
          <p:cNvSpPr>
            <a:spLocks noGrp="1"/>
          </p:cNvSpPr>
          <p:nvPr/>
        </p:nvSpPr>
        <p:spPr>
          <a:xfrm>
            <a:off x="87915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78" name="shape-198">
            <a:extLst>
              <a:ext uri="{FF2B5EF4-FFF2-40B4-BE49-F238E27FC236}">
                <a16:creationId xmlns:a16="http://schemas.microsoft.com/office/drawing/2014/main" id="{9DF982B4-67E7-4CA3-954E-CDD71BD4BF42}"/>
              </a:ext>
            </a:extLst>
          </p:cNvPr>
          <p:cNvSpPr>
            <a:spLocks noGrp="1"/>
          </p:cNvSpPr>
          <p:nvPr/>
        </p:nvSpPr>
        <p:spPr>
          <a:xfrm>
            <a:off x="87915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79" name="shape-199">
            <a:extLst>
              <a:ext uri="{FF2B5EF4-FFF2-40B4-BE49-F238E27FC236}">
                <a16:creationId xmlns:a16="http://schemas.microsoft.com/office/drawing/2014/main" id="{CFBBBBF5-BA7E-4447-878B-51337E00B59A}"/>
              </a:ext>
            </a:extLst>
          </p:cNvPr>
          <p:cNvSpPr>
            <a:spLocks noGrp="1"/>
          </p:cNvSpPr>
          <p:nvPr/>
        </p:nvSpPr>
        <p:spPr>
          <a:xfrm>
            <a:off x="91916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80" name="shape-200">
            <a:extLst>
              <a:ext uri="{FF2B5EF4-FFF2-40B4-BE49-F238E27FC236}">
                <a16:creationId xmlns:a16="http://schemas.microsoft.com/office/drawing/2014/main" id="{829E0870-B8C5-459B-86D9-BB5F493F3263}"/>
              </a:ext>
            </a:extLst>
          </p:cNvPr>
          <p:cNvSpPr>
            <a:spLocks noGrp="1"/>
          </p:cNvSpPr>
          <p:nvPr/>
        </p:nvSpPr>
        <p:spPr>
          <a:xfrm>
            <a:off x="91916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81" name="shape-201">
            <a:extLst>
              <a:ext uri="{FF2B5EF4-FFF2-40B4-BE49-F238E27FC236}">
                <a16:creationId xmlns:a16="http://schemas.microsoft.com/office/drawing/2014/main" id="{1C7B253B-4E05-4D05-81F7-A7990895889B}"/>
              </a:ext>
            </a:extLst>
          </p:cNvPr>
          <p:cNvSpPr>
            <a:spLocks noGrp="1"/>
          </p:cNvSpPr>
          <p:nvPr/>
        </p:nvSpPr>
        <p:spPr>
          <a:xfrm>
            <a:off x="95916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82" name="shape-202">
            <a:extLst>
              <a:ext uri="{FF2B5EF4-FFF2-40B4-BE49-F238E27FC236}">
                <a16:creationId xmlns:a16="http://schemas.microsoft.com/office/drawing/2014/main" id="{D2952464-0B31-4542-A6A0-F82FDA4B0978}"/>
              </a:ext>
            </a:extLst>
          </p:cNvPr>
          <p:cNvSpPr>
            <a:spLocks noGrp="1"/>
          </p:cNvSpPr>
          <p:nvPr/>
        </p:nvSpPr>
        <p:spPr>
          <a:xfrm>
            <a:off x="95916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83" name="shape-203">
            <a:extLst>
              <a:ext uri="{FF2B5EF4-FFF2-40B4-BE49-F238E27FC236}">
                <a16:creationId xmlns:a16="http://schemas.microsoft.com/office/drawing/2014/main" id="{89FB9820-071E-481E-9FB0-0D44F901DE17}"/>
              </a:ext>
            </a:extLst>
          </p:cNvPr>
          <p:cNvSpPr>
            <a:spLocks noGrp="1"/>
          </p:cNvSpPr>
          <p:nvPr/>
        </p:nvSpPr>
        <p:spPr>
          <a:xfrm>
            <a:off x="99917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84" name="shape-204">
            <a:extLst>
              <a:ext uri="{FF2B5EF4-FFF2-40B4-BE49-F238E27FC236}">
                <a16:creationId xmlns:a16="http://schemas.microsoft.com/office/drawing/2014/main" id="{760E6A59-C7F8-46E3-BF5A-D5700AB45AE3}"/>
              </a:ext>
            </a:extLst>
          </p:cNvPr>
          <p:cNvSpPr>
            <a:spLocks noGrp="1"/>
          </p:cNvSpPr>
          <p:nvPr/>
        </p:nvSpPr>
        <p:spPr>
          <a:xfrm>
            <a:off x="99917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A9CFDC"/>
          </a:solidFill>
          <a:ln w="14288">
            <a:solidFill>
              <a:srgbClr val="40758A"/>
            </a:solidFill>
            <a:prstDash val="solid"/>
          </a:ln>
        </p:spPr>
      </p:sp>
      <p:sp>
        <p:nvSpPr>
          <p:cNvPr id="85" name="shape-205">
            <a:extLst>
              <a:ext uri="{FF2B5EF4-FFF2-40B4-BE49-F238E27FC236}">
                <a16:creationId xmlns:a16="http://schemas.microsoft.com/office/drawing/2014/main" id="{146FF2CB-DE36-46BE-809A-F39D4B76E91F}"/>
              </a:ext>
            </a:extLst>
          </p:cNvPr>
          <p:cNvSpPr>
            <a:spLocks noGrp="1"/>
          </p:cNvSpPr>
          <p:nvPr/>
        </p:nvSpPr>
        <p:spPr>
          <a:xfrm>
            <a:off x="12001500" y="7467600"/>
            <a:ext cx="2590800" cy="1104900"/>
          </a:xfrm>
          <a:prstGeom prst="roundRect">
            <a:avLst>
              <a:gd name="adj" fmla="val 6897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86" name="shape-206">
            <a:extLst>
              <a:ext uri="{FF2B5EF4-FFF2-40B4-BE49-F238E27FC236}">
                <a16:creationId xmlns:a16="http://schemas.microsoft.com/office/drawing/2014/main" id="{9AA12BF6-1285-40D4-B7B9-140A95979D99}"/>
              </a:ext>
            </a:extLst>
          </p:cNvPr>
          <p:cNvSpPr>
            <a:spLocks noGrp="1"/>
          </p:cNvSpPr>
          <p:nvPr/>
        </p:nvSpPr>
        <p:spPr>
          <a:xfrm>
            <a:off x="11925300" y="7696200"/>
            <a:ext cx="2743200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288">
            <a:solidFill>
              <a:srgbClr val="5C8069"/>
            </a:solidFill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连续动作专家 φ</a:t>
            </a:r>
          </a:p>
        </p:txBody>
      </p:sp>
      <p:sp>
        <p:nvSpPr>
          <p:cNvPr id="87" name="shape-207">
            <a:extLst>
              <a:ext uri="{FF2B5EF4-FFF2-40B4-BE49-F238E27FC236}">
                <a16:creationId xmlns:a16="http://schemas.microsoft.com/office/drawing/2014/main" id="{DF911D46-37CD-469B-B084-DB303FBBD6CF}"/>
              </a:ext>
            </a:extLst>
          </p:cNvPr>
          <p:cNvSpPr>
            <a:spLocks noGrp="1"/>
          </p:cNvSpPr>
          <p:nvPr/>
        </p:nvSpPr>
        <p:spPr>
          <a:xfrm>
            <a:off x="121443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88" name="shape-208">
            <a:extLst>
              <a:ext uri="{FF2B5EF4-FFF2-40B4-BE49-F238E27FC236}">
                <a16:creationId xmlns:a16="http://schemas.microsoft.com/office/drawing/2014/main" id="{09072AC5-1C98-4E2B-B8A9-D5F21E067238}"/>
              </a:ext>
            </a:extLst>
          </p:cNvPr>
          <p:cNvSpPr>
            <a:spLocks noGrp="1"/>
          </p:cNvSpPr>
          <p:nvPr/>
        </p:nvSpPr>
        <p:spPr>
          <a:xfrm>
            <a:off x="121443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89" name="shape-209">
            <a:extLst>
              <a:ext uri="{FF2B5EF4-FFF2-40B4-BE49-F238E27FC236}">
                <a16:creationId xmlns:a16="http://schemas.microsoft.com/office/drawing/2014/main" id="{83E1E195-0D2D-48C7-8BFD-9E6A4B3BCCDA}"/>
              </a:ext>
            </a:extLst>
          </p:cNvPr>
          <p:cNvSpPr>
            <a:spLocks noGrp="1"/>
          </p:cNvSpPr>
          <p:nvPr/>
        </p:nvSpPr>
        <p:spPr>
          <a:xfrm>
            <a:off x="125444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90" name="shape-210">
            <a:extLst>
              <a:ext uri="{FF2B5EF4-FFF2-40B4-BE49-F238E27FC236}">
                <a16:creationId xmlns:a16="http://schemas.microsoft.com/office/drawing/2014/main" id="{4020A985-F1CF-4BED-8D7D-2726C381E9EF}"/>
              </a:ext>
            </a:extLst>
          </p:cNvPr>
          <p:cNvSpPr>
            <a:spLocks noGrp="1"/>
          </p:cNvSpPr>
          <p:nvPr/>
        </p:nvSpPr>
        <p:spPr>
          <a:xfrm>
            <a:off x="125444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91" name="shape-211">
            <a:extLst>
              <a:ext uri="{FF2B5EF4-FFF2-40B4-BE49-F238E27FC236}">
                <a16:creationId xmlns:a16="http://schemas.microsoft.com/office/drawing/2014/main" id="{2F39C33E-2B60-4F57-A340-AB337B900BF1}"/>
              </a:ext>
            </a:extLst>
          </p:cNvPr>
          <p:cNvSpPr>
            <a:spLocks noGrp="1"/>
          </p:cNvSpPr>
          <p:nvPr/>
        </p:nvSpPr>
        <p:spPr>
          <a:xfrm>
            <a:off x="129444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92" name="shape-212">
            <a:extLst>
              <a:ext uri="{FF2B5EF4-FFF2-40B4-BE49-F238E27FC236}">
                <a16:creationId xmlns:a16="http://schemas.microsoft.com/office/drawing/2014/main" id="{467318E2-5853-40D3-8869-342376960142}"/>
              </a:ext>
            </a:extLst>
          </p:cNvPr>
          <p:cNvSpPr>
            <a:spLocks noGrp="1"/>
          </p:cNvSpPr>
          <p:nvPr/>
        </p:nvSpPr>
        <p:spPr>
          <a:xfrm>
            <a:off x="129444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93" name="shape-213">
            <a:extLst>
              <a:ext uri="{FF2B5EF4-FFF2-40B4-BE49-F238E27FC236}">
                <a16:creationId xmlns:a16="http://schemas.microsoft.com/office/drawing/2014/main" id="{24D4183E-6ECB-48AB-B178-F9A42F2FBEC8}"/>
              </a:ext>
            </a:extLst>
          </p:cNvPr>
          <p:cNvSpPr>
            <a:spLocks noGrp="1"/>
          </p:cNvSpPr>
          <p:nvPr/>
        </p:nvSpPr>
        <p:spPr>
          <a:xfrm>
            <a:off x="1334452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94" name="shape-214">
            <a:extLst>
              <a:ext uri="{FF2B5EF4-FFF2-40B4-BE49-F238E27FC236}">
                <a16:creationId xmlns:a16="http://schemas.microsoft.com/office/drawing/2014/main" id="{10665D55-67AA-4CBF-84DB-77343BF42A0F}"/>
              </a:ext>
            </a:extLst>
          </p:cNvPr>
          <p:cNvSpPr>
            <a:spLocks noGrp="1"/>
          </p:cNvSpPr>
          <p:nvPr/>
        </p:nvSpPr>
        <p:spPr>
          <a:xfrm>
            <a:off x="1334452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95" name="shape-215">
            <a:extLst>
              <a:ext uri="{FF2B5EF4-FFF2-40B4-BE49-F238E27FC236}">
                <a16:creationId xmlns:a16="http://schemas.microsoft.com/office/drawing/2014/main" id="{F7BF9FB9-2C9B-4B30-B300-CA2D937C71F4}"/>
              </a:ext>
            </a:extLst>
          </p:cNvPr>
          <p:cNvSpPr>
            <a:spLocks noGrp="1"/>
          </p:cNvSpPr>
          <p:nvPr/>
        </p:nvSpPr>
        <p:spPr>
          <a:xfrm>
            <a:off x="13744575" y="75438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96" name="shape-216">
            <a:extLst>
              <a:ext uri="{FF2B5EF4-FFF2-40B4-BE49-F238E27FC236}">
                <a16:creationId xmlns:a16="http://schemas.microsoft.com/office/drawing/2014/main" id="{8D7569F4-67C4-4CA2-863E-A9EDD77B803C}"/>
              </a:ext>
            </a:extLst>
          </p:cNvPr>
          <p:cNvSpPr>
            <a:spLocks noGrp="1"/>
          </p:cNvSpPr>
          <p:nvPr/>
        </p:nvSpPr>
        <p:spPr>
          <a:xfrm>
            <a:off x="13744575" y="8410575"/>
            <a:ext cx="285750" cy="85725"/>
          </a:xfrm>
          <a:prstGeom prst="roundRect">
            <a:avLst>
              <a:gd name="adj" fmla="val 44444"/>
            </a:avLst>
          </a:prstGeom>
          <a:solidFill>
            <a:srgbClr val="E3EDDA"/>
          </a:solidFill>
          <a:ln w="14288">
            <a:solidFill>
              <a:srgbClr val="5C8069"/>
            </a:solidFill>
            <a:prstDash val="solid"/>
          </a:ln>
        </p:spPr>
      </p:sp>
      <p:sp>
        <p:nvSpPr>
          <p:cNvPr id="97" name="line-217">
            <a:extLst>
              <a:ext uri="{FF2B5EF4-FFF2-40B4-BE49-F238E27FC236}">
                <a16:creationId xmlns:a16="http://schemas.microsoft.com/office/drawing/2014/main" id="{8D089E60-8354-455E-8BF1-4973A4994C2D}"/>
              </a:ext>
            </a:extLst>
          </p:cNvPr>
          <p:cNvSpPr>
            <a:spLocks noGrp="1"/>
          </p:cNvSpPr>
          <p:nvPr/>
        </p:nvSpPr>
        <p:spPr>
          <a:xfrm>
            <a:off x="571500" y="7153275"/>
            <a:ext cx="14097000" cy="0"/>
          </a:xfrm>
          <a:prstGeom prst="line">
            <a:avLst/>
          </a:prstGeom>
          <a:noFill/>
          <a:ln w="15240">
            <a:solidFill>
              <a:srgbClr val="666D72"/>
            </a:solidFill>
            <a:prstDash val="solid"/>
          </a:ln>
        </p:spPr>
      </p:sp>
      <p:sp>
        <p:nvSpPr>
          <p:cNvPr id="98" name="shape-218">
            <a:extLst>
              <a:ext uri="{FF2B5EF4-FFF2-40B4-BE49-F238E27FC236}">
                <a16:creationId xmlns:a16="http://schemas.microsoft.com/office/drawing/2014/main" id="{FBD8B42F-6FDC-41BD-A370-D80573F3DD73}"/>
              </a:ext>
            </a:extLst>
          </p:cNvPr>
          <p:cNvSpPr>
            <a:spLocks noGrp="1"/>
          </p:cNvSpPr>
          <p:nvPr/>
        </p:nvSpPr>
        <p:spPr>
          <a:xfrm>
            <a:off x="5610225" y="71437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9" name="shape-219">
            <a:extLst>
              <a:ext uri="{FF2B5EF4-FFF2-40B4-BE49-F238E27FC236}">
                <a16:creationId xmlns:a16="http://schemas.microsoft.com/office/drawing/2014/main" id="{4431A602-2911-4897-9B9D-9F62FCE98C82}"/>
              </a:ext>
            </a:extLst>
          </p:cNvPr>
          <p:cNvSpPr>
            <a:spLocks noGrp="1"/>
          </p:cNvSpPr>
          <p:nvPr/>
        </p:nvSpPr>
        <p:spPr>
          <a:xfrm>
            <a:off x="5610225" y="745807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2" name="shape-220">
            <a:extLst>
              <a:ext uri="{FF2B5EF4-FFF2-40B4-BE49-F238E27FC236}">
                <a16:creationId xmlns:a16="http://schemas.microsoft.com/office/drawing/2014/main" id="{840EADA6-6A84-4587-B56C-E78172212B5A}"/>
              </a:ext>
            </a:extLst>
          </p:cNvPr>
          <p:cNvSpPr>
            <a:spLocks noGrp="1"/>
          </p:cNvSpPr>
          <p:nvPr/>
        </p:nvSpPr>
        <p:spPr>
          <a:xfrm>
            <a:off x="7734300" y="6541254"/>
            <a:ext cx="48863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50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40758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前缀K/V</a:t>
            </a:r>
            <a:r>
              <a:rPr lang="en-US" sz="2800" b="0">
                <a:solidFill>
                  <a:srgbClr val="40758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  </a:t>
            </a:r>
            <a:r>
              <a:rPr sz="2800" b="0">
                <a:solidFill>
                  <a:srgbClr val="40758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不含FAST答案</a:t>
            </a:r>
          </a:p>
        </p:txBody>
      </p:sp>
      <p:sp>
        <p:nvSpPr>
          <p:cNvPr id="103" name="shape-221">
            <a:extLst>
              <a:ext uri="{FF2B5EF4-FFF2-40B4-BE49-F238E27FC236}">
                <a16:creationId xmlns:a16="http://schemas.microsoft.com/office/drawing/2014/main" id="{8315DB3B-9E89-466E-8FEC-604E35457B2E}"/>
              </a:ext>
            </a:extLst>
          </p:cNvPr>
          <p:cNvSpPr>
            <a:spLocks noGrp="1"/>
          </p:cNvSpPr>
          <p:nvPr/>
        </p:nvSpPr>
        <p:spPr>
          <a:xfrm>
            <a:off x="11049000" y="7810499"/>
            <a:ext cx="6477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4288">
            <a:solidFill>
              <a:srgbClr val="B95660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19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9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sg</a:t>
            </a:r>
          </a:p>
        </p:txBody>
      </p:sp>
      <p:sp>
        <p:nvSpPr>
          <p:cNvPr id="104" name="shape-222">
            <a:extLst>
              <a:ext uri="{FF2B5EF4-FFF2-40B4-BE49-F238E27FC236}">
                <a16:creationId xmlns:a16="http://schemas.microsoft.com/office/drawing/2014/main" id="{2E28241D-5ED6-4862-8427-9C0109A6F77B}"/>
              </a:ext>
            </a:extLst>
          </p:cNvPr>
          <p:cNvSpPr>
            <a:spLocks noGrp="1"/>
          </p:cNvSpPr>
          <p:nvPr/>
        </p:nvSpPr>
        <p:spPr>
          <a:xfrm>
            <a:off x="571499" y="9401175"/>
            <a:ext cx="4105274" cy="1066800"/>
          </a:xfrm>
          <a:prstGeom prst="roundRect">
            <a:avLst>
              <a:gd name="adj" fmla="val 8036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高层条件CE</a:t>
            </a:r>
          </a:p>
          <a:p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READ / WRITE / 子任务</a:t>
            </a:r>
          </a:p>
        </p:txBody>
      </p:sp>
      <p:sp>
        <p:nvSpPr>
          <p:cNvPr id="105" name="shape-223">
            <a:extLst>
              <a:ext uri="{FF2B5EF4-FFF2-40B4-BE49-F238E27FC236}">
                <a16:creationId xmlns:a16="http://schemas.microsoft.com/office/drawing/2014/main" id="{DCB3A411-EB4E-4451-83EF-CC842DB52A07}"/>
              </a:ext>
            </a:extLst>
          </p:cNvPr>
          <p:cNvSpPr>
            <a:spLocks noGrp="1"/>
          </p:cNvSpPr>
          <p:nvPr/>
        </p:nvSpPr>
        <p:spPr>
          <a:xfrm>
            <a:off x="5238749" y="9401175"/>
            <a:ext cx="4513575" cy="1066800"/>
          </a:xfrm>
          <a:prstGeom prst="roundRect">
            <a:avLst>
              <a:gd name="adj" fmla="val 8036"/>
            </a:avLst>
          </a:prstGeom>
          <a:solidFill>
            <a:srgbClr val="FAF0C8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FAST CE</a:t>
            </a:r>
          </a:p>
          <a:p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记录动作的离散编码</a:t>
            </a:r>
          </a:p>
        </p:txBody>
      </p:sp>
      <p:sp>
        <p:nvSpPr>
          <p:cNvPr id="106" name="shape-224">
            <a:extLst>
              <a:ext uri="{FF2B5EF4-FFF2-40B4-BE49-F238E27FC236}">
                <a16:creationId xmlns:a16="http://schemas.microsoft.com/office/drawing/2014/main" id="{A2C3DD79-7EC9-4331-BF1E-A95B8A9206EB}"/>
              </a:ext>
            </a:extLst>
          </p:cNvPr>
          <p:cNvSpPr>
            <a:spLocks noGrp="1"/>
          </p:cNvSpPr>
          <p:nvPr/>
        </p:nvSpPr>
        <p:spPr>
          <a:xfrm>
            <a:off x="10858500" y="9401175"/>
            <a:ext cx="3810000" cy="1066800"/>
          </a:xfrm>
          <a:prstGeom prst="roundRect">
            <a:avLst>
              <a:gd name="adj" fmla="val 8036"/>
            </a:avLst>
          </a:prstGeom>
          <a:solidFill>
            <a:srgbClr val="E3ED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Flow Matching</a:t>
            </a:r>
          </a:p>
          <a:p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0">
                <a:solidFill>
                  <a:srgbClr val="20212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噪声插值与速度目标</a:t>
            </a:r>
          </a:p>
        </p:txBody>
      </p:sp>
      <p:sp>
        <p:nvSpPr>
          <p:cNvPr id="107" name="shape-225">
            <a:extLst>
              <a:ext uri="{FF2B5EF4-FFF2-40B4-BE49-F238E27FC236}">
                <a16:creationId xmlns:a16="http://schemas.microsoft.com/office/drawing/2014/main" id="{2A385FAF-65EA-415F-A18E-10652A6EEE39}"/>
              </a:ext>
            </a:extLst>
          </p:cNvPr>
          <p:cNvSpPr>
            <a:spLocks noGrp="1"/>
          </p:cNvSpPr>
          <p:nvPr/>
        </p:nvSpPr>
        <p:spPr>
          <a:xfrm>
            <a:off x="1752600" y="856297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8" name="shape-226">
            <a:extLst>
              <a:ext uri="{FF2B5EF4-FFF2-40B4-BE49-F238E27FC236}">
                <a16:creationId xmlns:a16="http://schemas.microsoft.com/office/drawing/2014/main" id="{7908FF9C-59D2-4BFE-9F80-272AEBAEECD1}"/>
              </a:ext>
            </a:extLst>
          </p:cNvPr>
          <p:cNvSpPr>
            <a:spLocks noGrp="1"/>
          </p:cNvSpPr>
          <p:nvPr/>
        </p:nvSpPr>
        <p:spPr>
          <a:xfrm>
            <a:off x="1752600" y="93916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0" name="shape-227">
            <a:extLst>
              <a:ext uri="{FF2B5EF4-FFF2-40B4-BE49-F238E27FC236}">
                <a16:creationId xmlns:a16="http://schemas.microsoft.com/office/drawing/2014/main" id="{18306869-D196-4E23-82C2-6E7A31FB15B2}"/>
              </a:ext>
            </a:extLst>
          </p:cNvPr>
          <p:cNvSpPr>
            <a:spLocks noGrp="1"/>
          </p:cNvSpPr>
          <p:nvPr/>
        </p:nvSpPr>
        <p:spPr>
          <a:xfrm>
            <a:off x="3228975" y="93916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1" name="shape-228">
            <a:extLst>
              <a:ext uri="{FF2B5EF4-FFF2-40B4-BE49-F238E27FC236}">
                <a16:creationId xmlns:a16="http://schemas.microsoft.com/office/drawing/2014/main" id="{6CAF100B-2FFA-4AC4-9EB4-B2E869E8CF3B}"/>
              </a:ext>
            </a:extLst>
          </p:cNvPr>
          <p:cNvSpPr>
            <a:spLocks noGrp="1"/>
          </p:cNvSpPr>
          <p:nvPr/>
        </p:nvSpPr>
        <p:spPr>
          <a:xfrm>
            <a:off x="3228975" y="856297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3" name="shape-229">
            <a:extLst>
              <a:ext uri="{FF2B5EF4-FFF2-40B4-BE49-F238E27FC236}">
                <a16:creationId xmlns:a16="http://schemas.microsoft.com/office/drawing/2014/main" id="{385386E6-DED5-48C4-A813-7914ED48914A}"/>
              </a:ext>
            </a:extLst>
          </p:cNvPr>
          <p:cNvSpPr>
            <a:spLocks noGrp="1"/>
          </p:cNvSpPr>
          <p:nvPr/>
        </p:nvSpPr>
        <p:spPr>
          <a:xfrm>
            <a:off x="6181725" y="856297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4" name="shape-230">
            <a:extLst>
              <a:ext uri="{FF2B5EF4-FFF2-40B4-BE49-F238E27FC236}">
                <a16:creationId xmlns:a16="http://schemas.microsoft.com/office/drawing/2014/main" id="{094A0995-2A7A-4D44-A2A9-25424A957B6F}"/>
              </a:ext>
            </a:extLst>
          </p:cNvPr>
          <p:cNvSpPr>
            <a:spLocks noGrp="1"/>
          </p:cNvSpPr>
          <p:nvPr/>
        </p:nvSpPr>
        <p:spPr>
          <a:xfrm>
            <a:off x="6181725" y="93916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6" name="shape-231">
            <a:extLst>
              <a:ext uri="{FF2B5EF4-FFF2-40B4-BE49-F238E27FC236}">
                <a16:creationId xmlns:a16="http://schemas.microsoft.com/office/drawing/2014/main" id="{8D5DC1CD-40BB-4538-A5AE-63265E5A5C30}"/>
              </a:ext>
            </a:extLst>
          </p:cNvPr>
          <p:cNvSpPr>
            <a:spLocks noGrp="1"/>
          </p:cNvSpPr>
          <p:nvPr/>
        </p:nvSpPr>
        <p:spPr>
          <a:xfrm>
            <a:off x="7943850" y="93916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7" name="shape-232">
            <a:extLst>
              <a:ext uri="{FF2B5EF4-FFF2-40B4-BE49-F238E27FC236}">
                <a16:creationId xmlns:a16="http://schemas.microsoft.com/office/drawing/2014/main" id="{4D69B594-6110-4C87-A825-D192929875C5}"/>
              </a:ext>
            </a:extLst>
          </p:cNvPr>
          <p:cNvSpPr>
            <a:spLocks noGrp="1"/>
          </p:cNvSpPr>
          <p:nvPr/>
        </p:nvSpPr>
        <p:spPr>
          <a:xfrm>
            <a:off x="7943850" y="856297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9" name="shape-233">
            <a:extLst>
              <a:ext uri="{FF2B5EF4-FFF2-40B4-BE49-F238E27FC236}">
                <a16:creationId xmlns:a16="http://schemas.microsoft.com/office/drawing/2014/main" id="{A15611E5-038B-4A2D-9133-825E69AAD608}"/>
              </a:ext>
            </a:extLst>
          </p:cNvPr>
          <p:cNvSpPr>
            <a:spLocks noGrp="1"/>
          </p:cNvSpPr>
          <p:nvPr/>
        </p:nvSpPr>
        <p:spPr>
          <a:xfrm>
            <a:off x="12372975" y="856297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0" name="shape-234">
            <a:extLst>
              <a:ext uri="{FF2B5EF4-FFF2-40B4-BE49-F238E27FC236}">
                <a16:creationId xmlns:a16="http://schemas.microsoft.com/office/drawing/2014/main" id="{545F256D-B934-469E-98D4-CD2555D17C98}"/>
              </a:ext>
            </a:extLst>
          </p:cNvPr>
          <p:cNvSpPr>
            <a:spLocks noGrp="1"/>
          </p:cNvSpPr>
          <p:nvPr/>
        </p:nvSpPr>
        <p:spPr>
          <a:xfrm>
            <a:off x="12372975" y="93916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2" name="shape-235">
            <a:extLst>
              <a:ext uri="{FF2B5EF4-FFF2-40B4-BE49-F238E27FC236}">
                <a16:creationId xmlns:a16="http://schemas.microsoft.com/office/drawing/2014/main" id="{61761A8A-CA4A-4F3E-B717-738E6F8E2358}"/>
              </a:ext>
            </a:extLst>
          </p:cNvPr>
          <p:cNvSpPr>
            <a:spLocks noGrp="1"/>
          </p:cNvSpPr>
          <p:nvPr/>
        </p:nvSpPr>
        <p:spPr>
          <a:xfrm>
            <a:off x="13896975" y="93916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3" name="shape-236">
            <a:extLst>
              <a:ext uri="{FF2B5EF4-FFF2-40B4-BE49-F238E27FC236}">
                <a16:creationId xmlns:a16="http://schemas.microsoft.com/office/drawing/2014/main" id="{CCE0D3D9-B3AE-4FC3-8200-EC7258F9279C}"/>
              </a:ext>
            </a:extLst>
          </p:cNvPr>
          <p:cNvSpPr>
            <a:spLocks noGrp="1"/>
          </p:cNvSpPr>
          <p:nvPr/>
        </p:nvSpPr>
        <p:spPr>
          <a:xfrm>
            <a:off x="13896975" y="856297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5" name="shape-237">
            <a:extLst>
              <a:ext uri="{FF2B5EF4-FFF2-40B4-BE49-F238E27FC236}">
                <a16:creationId xmlns:a16="http://schemas.microsoft.com/office/drawing/2014/main" id="{A9864ACB-5263-4A3F-9A76-97361F5FABD9}"/>
              </a:ext>
            </a:extLst>
          </p:cNvPr>
          <p:cNvSpPr>
            <a:spLocks noGrp="1"/>
          </p:cNvSpPr>
          <p:nvPr/>
        </p:nvSpPr>
        <p:spPr>
          <a:xfrm>
            <a:off x="10086975" y="8572500"/>
            <a:ext cx="247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650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B9566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FM梯度在</a:t>
            </a:r>
          </a:p>
          <a:p>
            <a:pPr algn="ctr">
              <a:defRPr sz="1650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B9566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/>
              </a:rPr>
              <a:t>sg处停止</a:t>
            </a:r>
          </a:p>
        </p:txBody>
      </p:sp>
    </p:spTree>
    <p:extLst>
      <p:ext uri="{BB962C8B-B14F-4D97-AF65-F5344CB8AC3E}">
        <p14:creationId xmlns:p14="http://schemas.microsoft.com/office/powerpoint/2010/main" val="1136382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75E78E7D-5A25-413C-BB98-1E80A35AD38C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9239250" y="9429750"/>
            <a:ext cx="1000125" cy="0"/>
          </a:xfrm>
          <a:prstGeom prst="straightConnector1">
            <a:avLst/>
          </a:prstGeom>
          <a:ln w="20955">
            <a:solidFill>
              <a:srgbClr val="B95660"/>
            </a:solidFill>
            <a:prstDash val="dash"/>
            <a:tailEnd type="triangle" w="med" len="med"/>
          </a:ln>
        </p:spPr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24413A5-4951-4F9E-85F1-A92C8BF699B1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4381500" y="9429750"/>
            <a:ext cx="1000125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03F1991-5EB5-4F34-B134-90087061EB3E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10572750" y="6262688"/>
            <a:ext cx="762000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A39AC18-85E4-46BC-ADDF-1E427F00AAB3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6877050" y="6262688"/>
            <a:ext cx="666750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54A97A8-BD6D-47E2-ACE3-B6ED39CF261D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3352800" y="6262688"/>
            <a:ext cx="666750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8834631-560B-42B6-BCCC-0815852ECCB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10572750" y="4538663"/>
            <a:ext cx="762000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FB02C92-B3E7-4439-9358-E5EB6BE6A438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877050" y="4538663"/>
            <a:ext cx="666750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B98A499-AD2C-40D1-989E-CFC5FD44ECD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352800" y="4538663"/>
            <a:ext cx="666750" cy="0"/>
          </a:xfrm>
          <a:prstGeom prst="straightConnector1">
            <a:avLst/>
          </a:prstGeom>
          <a:ln w="20955">
            <a:solidFill>
              <a:srgbClr val="666D72"/>
            </a:solidFill>
            <a:prstDash val="solid"/>
            <a:tailEnd type="triangle" w="med" len="med"/>
          </a:ln>
        </p:spPr>
      </p:cxnSp>
      <p:sp>
        <p:nvSpPr>
          <p:cNvPr id="34" name="shape-238">
            <a:extLst>
              <a:ext uri="{FF2B5EF4-FFF2-40B4-BE49-F238E27FC236}">
                <a16:creationId xmlns:a16="http://schemas.microsoft.com/office/drawing/2014/main" id="{AC580AC1-6062-4B55-B7C5-46084DABDE09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1409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图3.4  配对续跑的读写效用与辅助训练</a:t>
            </a:r>
          </a:p>
        </p:txBody>
      </p:sp>
      <p:sp>
        <p:nvSpPr>
          <p:cNvPr id="3" name="shape-240">
            <a:extLst>
              <a:ext uri="{FF2B5EF4-FFF2-40B4-BE49-F238E27FC236}">
                <a16:creationId xmlns:a16="http://schemas.microsoft.com/office/drawing/2014/main" id="{A6014FEC-47B4-4597-A1B7-05BDCBE33A98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1162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a  同一高层边界的受控比较</a:t>
            </a:r>
          </a:p>
        </p:txBody>
      </p:sp>
      <p:sp>
        <p:nvSpPr>
          <p:cNvPr id="4" name="shape-241">
            <a:extLst>
              <a:ext uri="{FF2B5EF4-FFF2-40B4-BE49-F238E27FC236}">
                <a16:creationId xmlns:a16="http://schemas.microsoft.com/office/drawing/2014/main" id="{FCE561BB-0E95-4752-9AA4-1D8A0E54BF7B}"/>
              </a:ext>
            </a:extLst>
          </p:cNvPr>
          <p:cNvSpPr>
            <a:spLocks noGrp="1"/>
          </p:cNvSpPr>
          <p:nvPr/>
        </p:nvSpPr>
        <p:spPr>
          <a:xfrm>
            <a:off x="571500" y="2009775"/>
            <a:ext cx="7143750" cy="1028700"/>
          </a:xfrm>
          <a:prstGeom prst="roundRect">
            <a:avLst>
              <a:gd name="adj" fmla="val 8333"/>
            </a:avLst>
          </a:prstGeom>
          <a:solidFill>
            <a:srgbClr val="EBDFF1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扩展起点 x</a:t>
            </a:r>
          </a:p>
          <a:p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物理、控制器、历史、记忆与缓存</a:t>
            </a:r>
          </a:p>
        </p:txBody>
      </p:sp>
      <p:sp>
        <p:nvSpPr>
          <p:cNvPr id="5" name="shape-242">
            <a:extLst>
              <a:ext uri="{FF2B5EF4-FFF2-40B4-BE49-F238E27FC236}">
                <a16:creationId xmlns:a16="http://schemas.microsoft.com/office/drawing/2014/main" id="{B66B4666-8CE9-421D-B2C2-46CA876B349E}"/>
              </a:ext>
            </a:extLst>
          </p:cNvPr>
          <p:cNvSpPr>
            <a:spLocks noGrp="1"/>
          </p:cNvSpPr>
          <p:nvPr/>
        </p:nvSpPr>
        <p:spPr>
          <a:xfrm>
            <a:off x="8572500" y="2009775"/>
            <a:ext cx="6096000" cy="1028700"/>
          </a:xfrm>
          <a:prstGeom prst="roundRect">
            <a:avLst>
              <a:gd name="adj" fmla="val 8333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后续参数 κᵣ 固定</a:t>
            </a:r>
          </a:p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信息预算相同</a:t>
            </a:r>
          </a:p>
        </p:txBody>
      </p:sp>
      <p:sp>
        <p:nvSpPr>
          <p:cNvPr id="6" name="shape-243">
            <a:extLst>
              <a:ext uri="{FF2B5EF4-FFF2-40B4-BE49-F238E27FC236}">
                <a16:creationId xmlns:a16="http://schemas.microsoft.com/office/drawing/2014/main" id="{8D9C3FB0-E38A-43BF-ACBB-34E8A98FA550}"/>
              </a:ext>
            </a:extLst>
          </p:cNvPr>
          <p:cNvSpPr>
            <a:spLocks noGrp="1"/>
          </p:cNvSpPr>
          <p:nvPr/>
        </p:nvSpPr>
        <p:spPr>
          <a:xfrm>
            <a:off x="571500" y="3200400"/>
            <a:ext cx="495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0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先核验恢复重复性</a:t>
            </a:r>
          </a:p>
        </p:txBody>
      </p:sp>
      <p:sp>
        <p:nvSpPr>
          <p:cNvPr id="7" name="shape-244">
            <a:extLst>
              <a:ext uri="{FF2B5EF4-FFF2-40B4-BE49-F238E27FC236}">
                <a16:creationId xmlns:a16="http://schemas.microsoft.com/office/drawing/2014/main" id="{71E249F2-543E-4BDE-9323-D294793545BA}"/>
              </a:ext>
            </a:extLst>
          </p:cNvPr>
          <p:cNvSpPr>
            <a:spLocks noGrp="1"/>
          </p:cNvSpPr>
          <p:nvPr/>
        </p:nvSpPr>
        <p:spPr>
          <a:xfrm>
            <a:off x="8191500" y="3200400"/>
            <a:ext cx="647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2175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defRPr sz="2175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rPr>
              <a:t>第 i 组：组内配对随机数</a:t>
            </a:r>
          </a:p>
        </p:txBody>
      </p:sp>
      <p:sp>
        <p:nvSpPr>
          <p:cNvPr id="8" name="shape-245">
            <a:extLst>
              <a:ext uri="{FF2B5EF4-FFF2-40B4-BE49-F238E27FC236}">
                <a16:creationId xmlns:a16="http://schemas.microsoft.com/office/drawing/2014/main" id="{3B8E307C-7804-49A2-98EF-1836B2887D86}"/>
              </a:ext>
            </a:extLst>
          </p:cNvPr>
          <p:cNvSpPr>
            <a:spLocks noGrp="1"/>
          </p:cNvSpPr>
          <p:nvPr/>
        </p:nvSpPr>
        <p:spPr>
          <a:xfrm>
            <a:off x="571500" y="3990975"/>
            <a:ext cx="2781300" cy="1095375"/>
          </a:xfrm>
          <a:prstGeom prst="roundRect">
            <a:avLst>
              <a:gd name="adj" fmla="val 7826"/>
            </a:avLst>
          </a:prstGeom>
          <a:solidFill>
            <a:srgbClr val="EBDFF1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候选读写 u</a:t>
            </a:r>
          </a:p>
          <a:p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有据READ / WRITE</a:t>
            </a:r>
          </a:p>
        </p:txBody>
      </p:sp>
      <p:sp>
        <p:nvSpPr>
          <p:cNvPr id="9" name="shape-246">
            <a:extLst>
              <a:ext uri="{FF2B5EF4-FFF2-40B4-BE49-F238E27FC236}">
                <a16:creationId xmlns:a16="http://schemas.microsoft.com/office/drawing/2014/main" id="{AA2B85C7-6A42-4486-BFB0-08E5E399BFB2}"/>
              </a:ext>
            </a:extLst>
          </p:cNvPr>
          <p:cNvSpPr>
            <a:spLocks noGrp="1"/>
          </p:cNvSpPr>
          <p:nvPr/>
        </p:nvSpPr>
        <p:spPr>
          <a:xfrm>
            <a:off x="4019550" y="3990975"/>
            <a:ext cx="2857500" cy="1095375"/>
          </a:xfrm>
          <a:prstGeom prst="roundRect">
            <a:avLst>
              <a:gd name="adj" fmla="val 7826"/>
            </a:avLst>
          </a:prstGeom>
          <a:solidFill>
            <a:srgbClr val="F9DF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重新生成</a:t>
            </a:r>
          </a:p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子任务文本</a:t>
            </a:r>
          </a:p>
        </p:txBody>
      </p:sp>
      <p:sp>
        <p:nvSpPr>
          <p:cNvPr id="10" name="shape-247">
            <a:extLst>
              <a:ext uri="{FF2B5EF4-FFF2-40B4-BE49-F238E27FC236}">
                <a16:creationId xmlns:a16="http://schemas.microsoft.com/office/drawing/2014/main" id="{58D0B2D8-6EE8-48C0-A77F-A89982A8AAA2}"/>
              </a:ext>
            </a:extLst>
          </p:cNvPr>
          <p:cNvSpPr>
            <a:spLocks noGrp="1"/>
          </p:cNvSpPr>
          <p:nvPr/>
        </p:nvSpPr>
        <p:spPr>
          <a:xfrm>
            <a:off x="7543800" y="3990975"/>
            <a:ext cx="3028950" cy="1095375"/>
          </a:xfrm>
          <a:prstGeom prst="roundRect">
            <a:avLst>
              <a:gd name="adj" fmla="val 7826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动作与新观察</a:t>
            </a:r>
          </a:p>
          <a:p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继续闭环执行</a:t>
            </a:r>
          </a:p>
        </p:txBody>
      </p:sp>
      <p:sp>
        <p:nvSpPr>
          <p:cNvPr id="11" name="shape-248">
            <a:extLst>
              <a:ext uri="{FF2B5EF4-FFF2-40B4-BE49-F238E27FC236}">
                <a16:creationId xmlns:a16="http://schemas.microsoft.com/office/drawing/2014/main" id="{44EAC43A-0E8C-4F2F-B31B-0EAA7AD8BA68}"/>
              </a:ext>
            </a:extLst>
          </p:cNvPr>
          <p:cNvSpPr>
            <a:spLocks noGrp="1"/>
          </p:cNvSpPr>
          <p:nvPr/>
        </p:nvSpPr>
        <p:spPr>
          <a:xfrm>
            <a:off x="11334750" y="3990975"/>
            <a:ext cx="3333750" cy="1095375"/>
          </a:xfrm>
          <a:prstGeom prst="roundRect">
            <a:avLst>
              <a:gd name="adj" fmla="val 7826"/>
            </a:avLst>
          </a:prstGeom>
          <a:solidFill>
            <a:srgbClr val="E3ED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续跑回报 Gᵢ(u)</a:t>
            </a:r>
          </a:p>
        </p:txBody>
      </p:sp>
      <p:sp>
        <p:nvSpPr>
          <p:cNvPr id="15" name="shape-249">
            <a:extLst>
              <a:ext uri="{FF2B5EF4-FFF2-40B4-BE49-F238E27FC236}">
                <a16:creationId xmlns:a16="http://schemas.microsoft.com/office/drawing/2014/main" id="{09059E9A-2B9A-46BD-9C99-1F04385680F9}"/>
              </a:ext>
            </a:extLst>
          </p:cNvPr>
          <p:cNvSpPr>
            <a:spLocks noGrp="1"/>
          </p:cNvSpPr>
          <p:nvPr/>
        </p:nvSpPr>
        <p:spPr>
          <a:xfrm>
            <a:off x="571500" y="5715000"/>
            <a:ext cx="2781300" cy="1095375"/>
          </a:xfrm>
          <a:prstGeom prst="roundRect">
            <a:avLst>
              <a:gd name="adj" fmla="val 7826"/>
            </a:avLst>
          </a:prstGeom>
          <a:solidFill>
            <a:srgbClr val="F2F3F4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参考读写 u₀</a:t>
            </a:r>
          </a:p>
          <a:p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例如NONE / KEEP</a:t>
            </a:r>
          </a:p>
        </p:txBody>
      </p:sp>
      <p:sp>
        <p:nvSpPr>
          <p:cNvPr id="16" name="shape-250">
            <a:extLst>
              <a:ext uri="{FF2B5EF4-FFF2-40B4-BE49-F238E27FC236}">
                <a16:creationId xmlns:a16="http://schemas.microsoft.com/office/drawing/2014/main" id="{221507A5-60E5-4E92-B3EF-C6E2F846DB5C}"/>
              </a:ext>
            </a:extLst>
          </p:cNvPr>
          <p:cNvSpPr>
            <a:spLocks noGrp="1"/>
          </p:cNvSpPr>
          <p:nvPr/>
        </p:nvSpPr>
        <p:spPr>
          <a:xfrm>
            <a:off x="4019550" y="5715000"/>
            <a:ext cx="2857500" cy="1095375"/>
          </a:xfrm>
          <a:prstGeom prst="roundRect">
            <a:avLst>
              <a:gd name="adj" fmla="val 7826"/>
            </a:avLst>
          </a:prstGeom>
          <a:solidFill>
            <a:srgbClr val="F9DF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重新生成</a:t>
            </a:r>
          </a:p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子任务文本</a:t>
            </a:r>
          </a:p>
        </p:txBody>
      </p:sp>
      <p:sp>
        <p:nvSpPr>
          <p:cNvPr id="17" name="shape-251">
            <a:extLst>
              <a:ext uri="{FF2B5EF4-FFF2-40B4-BE49-F238E27FC236}">
                <a16:creationId xmlns:a16="http://schemas.microsoft.com/office/drawing/2014/main" id="{BAE698DB-71C3-4AAF-9978-2D814497514C}"/>
              </a:ext>
            </a:extLst>
          </p:cNvPr>
          <p:cNvSpPr>
            <a:spLocks noGrp="1"/>
          </p:cNvSpPr>
          <p:nvPr/>
        </p:nvSpPr>
        <p:spPr>
          <a:xfrm>
            <a:off x="7543800" y="5715000"/>
            <a:ext cx="3028950" cy="1095375"/>
          </a:xfrm>
          <a:prstGeom prst="roundRect">
            <a:avLst>
              <a:gd name="adj" fmla="val 7826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动作与新观察</a:t>
            </a:r>
          </a:p>
          <a:p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继续闭环执行</a:t>
            </a:r>
          </a:p>
        </p:txBody>
      </p:sp>
      <p:sp>
        <p:nvSpPr>
          <p:cNvPr id="18" name="shape-252">
            <a:extLst>
              <a:ext uri="{FF2B5EF4-FFF2-40B4-BE49-F238E27FC236}">
                <a16:creationId xmlns:a16="http://schemas.microsoft.com/office/drawing/2014/main" id="{66C80D49-66CE-4AD7-8FA3-B3C2039103B9}"/>
              </a:ext>
            </a:extLst>
          </p:cNvPr>
          <p:cNvSpPr>
            <a:spLocks noGrp="1"/>
          </p:cNvSpPr>
          <p:nvPr/>
        </p:nvSpPr>
        <p:spPr>
          <a:xfrm>
            <a:off x="11334750" y="5715000"/>
            <a:ext cx="3333750" cy="1095375"/>
          </a:xfrm>
          <a:prstGeom prst="roundRect">
            <a:avLst>
              <a:gd name="adj" fmla="val 7826"/>
            </a:avLst>
          </a:prstGeom>
          <a:solidFill>
            <a:srgbClr val="E3ED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续跑回报 Gᵢ(u₀)</a:t>
            </a:r>
          </a:p>
        </p:txBody>
      </p:sp>
      <p:sp>
        <p:nvSpPr>
          <p:cNvPr id="23" name="shape-254">
            <a:extLst>
              <a:ext uri="{FF2B5EF4-FFF2-40B4-BE49-F238E27FC236}">
                <a16:creationId xmlns:a16="http://schemas.microsoft.com/office/drawing/2014/main" id="{AA1D4F67-571D-42C5-87AC-EE0094811DA3}"/>
              </a:ext>
            </a:extLst>
          </p:cNvPr>
          <p:cNvSpPr>
            <a:spLocks noGrp="1"/>
          </p:cNvSpPr>
          <p:nvPr/>
        </p:nvSpPr>
        <p:spPr>
          <a:xfrm>
            <a:off x="571500" y="7058025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400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rPr>
              <a:t>独立重复组 i = 1, …, N</a:t>
            </a:r>
          </a:p>
        </p:txBody>
      </p:sp>
      <p:sp>
        <p:nvSpPr>
          <p:cNvPr id="25" name="line-256">
            <a:extLst>
              <a:ext uri="{FF2B5EF4-FFF2-40B4-BE49-F238E27FC236}">
                <a16:creationId xmlns:a16="http://schemas.microsoft.com/office/drawing/2014/main" id="{C5961C57-148B-4D73-90B8-94D9B9B49FA3}"/>
              </a:ext>
            </a:extLst>
          </p:cNvPr>
          <p:cNvSpPr>
            <a:spLocks noGrp="1"/>
          </p:cNvSpPr>
          <p:nvPr/>
        </p:nvSpPr>
        <p:spPr>
          <a:xfrm>
            <a:off x="571500" y="7762875"/>
            <a:ext cx="14097000" cy="0"/>
          </a:xfrm>
          <a:prstGeom prst="line">
            <a:avLst/>
          </a:prstGeom>
          <a:noFill/>
          <a:ln w="15240">
            <a:solidFill>
              <a:srgbClr val="D3D6D8"/>
            </a:solidFill>
            <a:prstDash val="solid"/>
          </a:ln>
        </p:spPr>
      </p:sp>
      <p:sp>
        <p:nvSpPr>
          <p:cNvPr id="26" name="shape-257">
            <a:extLst>
              <a:ext uri="{FF2B5EF4-FFF2-40B4-BE49-F238E27FC236}">
                <a16:creationId xmlns:a16="http://schemas.microsoft.com/office/drawing/2014/main" id="{3231A8FE-2407-4759-BAB9-E94BD4BF0F30}"/>
              </a:ext>
            </a:extLst>
          </p:cNvPr>
          <p:cNvSpPr>
            <a:spLocks noGrp="1"/>
          </p:cNvSpPr>
          <p:nvPr/>
        </p:nvSpPr>
        <p:spPr>
          <a:xfrm>
            <a:off x="571500" y="7924800"/>
            <a:ext cx="1285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b  相对效用估计与读写辅助学习</a:t>
            </a:r>
          </a:p>
        </p:txBody>
      </p:sp>
      <p:sp>
        <p:nvSpPr>
          <p:cNvPr id="27" name="shape-258">
            <a:extLst>
              <a:ext uri="{FF2B5EF4-FFF2-40B4-BE49-F238E27FC236}">
                <a16:creationId xmlns:a16="http://schemas.microsoft.com/office/drawing/2014/main" id="{31886666-815F-4B08-B791-E5217310FA83}"/>
              </a:ext>
            </a:extLst>
          </p:cNvPr>
          <p:cNvSpPr>
            <a:spLocks noGrp="1"/>
          </p:cNvSpPr>
          <p:nvPr/>
        </p:nvSpPr>
        <p:spPr>
          <a:xfrm>
            <a:off x="571500" y="8810625"/>
            <a:ext cx="3810000" cy="1238250"/>
          </a:xfrm>
          <a:prstGeom prst="roundRect">
            <a:avLst>
              <a:gd name="adj" fmla="val 6923"/>
            </a:avLst>
          </a:prstGeom>
          <a:solidFill>
            <a:srgbClr val="E3EDDA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4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4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平均回报差</a:t>
            </a:r>
          </a:p>
          <a:p>
            <a:pPr algn="ctr">
              <a:defRPr sz="24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及其不确定性</a:t>
            </a:r>
          </a:p>
        </p:txBody>
      </p:sp>
      <p:sp>
        <p:nvSpPr>
          <p:cNvPr id="28" name="shape-259">
            <a:extLst>
              <a:ext uri="{FF2B5EF4-FFF2-40B4-BE49-F238E27FC236}">
                <a16:creationId xmlns:a16="http://schemas.microsoft.com/office/drawing/2014/main" id="{0E872ADD-CAFF-4A88-8EF1-7674E4C0939C}"/>
              </a:ext>
            </a:extLst>
          </p:cNvPr>
          <p:cNvSpPr>
            <a:spLocks noGrp="1"/>
          </p:cNvSpPr>
          <p:nvPr/>
        </p:nvSpPr>
        <p:spPr>
          <a:xfrm>
            <a:off x="5381625" y="8810625"/>
            <a:ext cx="3857625" cy="1238250"/>
          </a:xfrm>
          <a:prstGeom prst="roundRect">
            <a:avLst>
              <a:gd name="adj" fmla="val 6923"/>
            </a:avLst>
          </a:prstGeom>
          <a:solidFill>
            <a:srgbClr val="FAF0C8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可信偏好 (u⁺, u⁻)</a:t>
            </a:r>
          </a:p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差异不明则弃权</a:t>
            </a:r>
          </a:p>
        </p:txBody>
      </p:sp>
      <p:sp>
        <p:nvSpPr>
          <p:cNvPr id="29" name="shape-260">
            <a:extLst>
              <a:ext uri="{FF2B5EF4-FFF2-40B4-BE49-F238E27FC236}">
                <a16:creationId xmlns:a16="http://schemas.microsoft.com/office/drawing/2014/main" id="{19690FAD-6619-4563-83E8-73F88E1D3A26}"/>
              </a:ext>
            </a:extLst>
          </p:cNvPr>
          <p:cNvSpPr>
            <a:spLocks noGrp="1"/>
          </p:cNvSpPr>
          <p:nvPr/>
        </p:nvSpPr>
        <p:spPr>
          <a:xfrm>
            <a:off x="10239375" y="8810625"/>
            <a:ext cx="4429125" cy="1238250"/>
          </a:xfrm>
          <a:prstGeom prst="roundRect">
            <a:avLst>
              <a:gd name="adj" fmla="val 6923"/>
            </a:avLst>
          </a:prstGeom>
          <a:solidFill>
            <a:srgbClr val="E5F1F5"/>
          </a:solidFill>
          <a:ln w="14288">
            <a:solidFill>
              <a:srgbClr val="666D72"/>
            </a:solidFill>
            <a:prstDash val="solid"/>
          </a:ln>
        </p:spPr>
        <p:txBody>
          <a:bodyPr lIns="133350" tIns="76200" rIns="133350" bIns="76200" anchor="ctr">
            <a:noAutofit/>
          </a:bodyPr>
          <a:lstStyle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基础目标＋读写辅助项</a:t>
            </a:r>
          </a:p>
          <a:p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更新共享VLM θ</a:t>
            </a:r>
          </a:p>
        </p:txBody>
      </p:sp>
      <p:sp>
        <p:nvSpPr>
          <p:cNvPr id="33" name="shape-262">
            <a:extLst>
              <a:ext uri="{FF2B5EF4-FFF2-40B4-BE49-F238E27FC236}">
                <a16:creationId xmlns:a16="http://schemas.microsoft.com/office/drawing/2014/main" id="{AB4431B8-2A88-4C67-86C1-6524C7ECB0DA}"/>
              </a:ext>
            </a:extLst>
          </p:cNvPr>
          <p:cNvSpPr>
            <a:spLocks noGrp="1"/>
          </p:cNvSpPr>
          <p:nvPr/>
        </p:nvSpPr>
        <p:spPr>
          <a:xfrm>
            <a:off x="8429625" y="8267700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2025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defRPr sz="2025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rPr>
              <a:t>辅助项仅计READ / WRITE token</a:t>
            </a:r>
          </a:p>
        </p:txBody>
      </p:sp>
    </p:spTree>
    <p:extLst>
      <p:ext uri="{BB962C8B-B14F-4D97-AF65-F5344CB8AC3E}">
        <p14:creationId xmlns:p14="http://schemas.microsoft.com/office/powerpoint/2010/main" val="9280735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1116</Words>
  <Application>Microsoft Office PowerPoint</Application>
  <PresentationFormat>自定义</PresentationFormat>
  <Paragraphs>186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Noto Sans CJK SC</vt:lpstr>
      <vt:lpstr>宋体</vt:lpstr>
      <vt:lpstr>Aptos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鸣鹤 李</cp:lastModifiedBy>
  <cp:revision>9</cp:revision>
  <dcterms:created xsi:type="dcterms:W3CDTF">2026-10-19T08:34:48Z</dcterms:created>
  <dcterms:modified xsi:type="dcterms:W3CDTF">2026-10-21T05:46:07Z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1033-11.1.0.11733</vt:lpwstr>
  </property>
</Properties>
</file>