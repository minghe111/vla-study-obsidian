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jpeg" ContentType="image/jpeg"/>
  <Default Extension="JPG" ContentType="image/.jp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media/image24.svg" ContentType="image/svg+xml"/>
  <Override PartName="/ppt/media/image42.svg" ContentType="image/svg+xml"/>
  <Override PartName="/ppt/media/image46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9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18"/>
  </p:handoutMasterIdLst>
  <p:sldIdLst>
    <p:sldId id="302" r:id="rId3"/>
    <p:sldId id="292" r:id="rId5"/>
    <p:sldId id="304" r:id="rId6"/>
    <p:sldId id="303" r:id="rId7"/>
    <p:sldId id="305" r:id="rId8"/>
    <p:sldId id="306" r:id="rId9"/>
    <p:sldId id="308" r:id="rId10"/>
    <p:sldId id="307" r:id="rId11"/>
    <p:sldId id="309" r:id="rId12"/>
    <p:sldId id="315" r:id="rId13"/>
    <p:sldId id="311" r:id="rId14"/>
    <p:sldId id="313" r:id="rId15"/>
    <p:sldId id="314" r:id="rId16"/>
    <p:sldId id="298" r:id="rId17"/>
  </p:sldIdLst>
  <p:sldSz cx="12192000" cy="6858000"/>
  <p:notesSz cx="6858000" cy="9144000"/>
  <p:embeddedFontLst>
    <p:embeddedFont>
      <p:font typeface="微软雅黑" panose="020B0503020204020204" charset="-122"/>
      <p:regular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  <p:embeddedFont>
      <p:font typeface="华文楷体" panose="02010600040101010101" charset="-122"/>
      <p:regular r:id="rId27"/>
    </p:embeddedFont>
    <p:embeddedFont>
      <p:font typeface="AR Fruda Sans Flat" panose="020B0600000000000000" charset="0"/>
      <p:regular r:id="rId28"/>
    </p:embeddedFont>
    <p:embeddedFont>
      <p:font typeface="汉仪颜楷简" panose="00020600040101010101" charset="-122"/>
      <p:regular r:id="rId29"/>
    </p:embeddedFont>
    <p:embeddedFont>
      <p:font typeface="Calibri" panose="020F0502020204030204"/>
      <p:regular r:id="rId30"/>
      <p:bold r:id="rId31"/>
      <p:italic r:id="rId32"/>
      <p:boldItalic r:id="rId33"/>
    </p:embeddedFont>
  </p:embeddedFontLst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6" userDrawn="1">
          <p15:clr>
            <a:srgbClr val="A4A3A4"/>
          </p15:clr>
        </p15:guide>
        <p15:guide id="2" pos="379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F1FA"/>
    <a:srgbClr val="4874CB"/>
    <a:srgbClr val="FFFFFF"/>
    <a:srgbClr val="EBF4EA"/>
    <a:srgbClr val="DCDCDC"/>
    <a:srgbClr val="588E31"/>
    <a:srgbClr val="325395"/>
    <a:srgbClr val="3F5E9C"/>
    <a:srgbClr val="EDE9E1"/>
    <a:srgbClr val="1838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75FBEE3-D603-485F-AB0E-6DAB72EF9625}" styleName="表样式 1 12">
    <a:wholeTbl>
      <a:tcTxStyle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accent1">
              <a:lumMod val="40000"/>
              <a:lumOff val="60000"/>
              <a:alpha val="25000"/>
            </a:scheme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40000"/>
              <a:lumOff val="60000"/>
              <a:alpha val="25000"/>
            </a:schemeClr>
          </a:solidFill>
        </a:fill>
      </a:tcStyle>
    </a:band1V>
    <a:lastCol>
      <a:tcTxStyle b="on"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40000"/>
              <a:lumOff val="60000"/>
              <a:alpha val="4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40000"/>
              <a:lumOff val="60000"/>
              <a:alpha val="4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firstRow>
      <a:tcTxStyle b="on">
        <a:fontRef idx="none">
          <a:schemeClr val="bg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582" y="102"/>
      </p:cViewPr>
      <p:guideLst>
        <p:guide orient="horz" pos="2266"/>
        <p:guide pos="379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gs" Target="tags/tag110.xml"/><Relationship Id="rId33" Type="http://schemas.openxmlformats.org/officeDocument/2006/relationships/font" Target="fonts/font12.fntdata"/><Relationship Id="rId32" Type="http://schemas.openxmlformats.org/officeDocument/2006/relationships/font" Target="fonts/font11.fntdata"/><Relationship Id="rId31" Type="http://schemas.openxmlformats.org/officeDocument/2006/relationships/font" Target="fonts/font10.fntdata"/><Relationship Id="rId30" Type="http://schemas.openxmlformats.org/officeDocument/2006/relationships/font" Target="fonts/font9.fntdata"/><Relationship Id="rId3" Type="http://schemas.openxmlformats.org/officeDocument/2006/relationships/slide" Target="slides/slide1.xml"/><Relationship Id="rId29" Type="http://schemas.openxmlformats.org/officeDocument/2006/relationships/font" Target="fonts/font8.fntdata"/><Relationship Id="rId28" Type="http://schemas.openxmlformats.org/officeDocument/2006/relationships/font" Target="fonts/font7.fntdata"/><Relationship Id="rId27" Type="http://schemas.openxmlformats.org/officeDocument/2006/relationships/font" Target="fonts/font6.fntdata"/><Relationship Id="rId26" Type="http://schemas.openxmlformats.org/officeDocument/2006/relationships/font" Target="fonts/font5.fntdata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F8E4CD-FAEB-4051-B8F5-A2639C806FD0}" type="doc">
      <dgm:prSet loTypeId="urn:microsoft.com/office/officeart/2005/8/layout/chevron1" loCatId="process" qsTypeId="urn:microsoft.com/office/officeart/2005/8/quickstyle/simple1#1" qsCatId="simple" csTypeId="urn:microsoft.com/office/officeart/2005/8/colors/accent1_2#1" csCatId="accent1" phldr="1"/>
      <dgm:spPr/>
    </dgm:pt>
    <dgm:pt modelId="{3E24FD53-2685-4DD7-AAE2-2F99C98A3CE6}">
      <dgm:prSet phldrT="[文本]" phldr="0" custT="1"/>
      <dgm:spPr>
        <a:solidFill>
          <a:schemeClr val="accent1">
            <a:lumMod val="20000"/>
            <a:lumOff val="80000"/>
          </a:schemeClr>
        </a:solidFill>
      </dgm:spPr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rPr>
            <a:t/>
          </a:r>
          <a:endParaRPr lang="zh-CN" altLang="en-US" sz="1600" b="1" dirty="0">
            <a:solidFill>
              <a:schemeClr val="tx1"/>
            </a:solidFill>
            <a:latin typeface="微软雅黑" panose="020B0503020204020204" charset="-122"/>
            <a:ea typeface="微软雅黑" panose="020B0503020204020204" charset="-122"/>
          </a:endParaRPr>
        </a:p>
      </dgm:t>
    </dgm:pt>
    <dgm:pt modelId="{7FF4AED5-7FBC-4A67-9D94-4CCF5B46CB77}" cxnId="{EB5D59BD-E9C5-437D-A585-5AFCB65122E5}" type="parTrans">
      <dgm:prSet/>
      <dgm:spPr/>
      <dgm:t>
        <a:bodyPr/>
        <a:lstStyle/>
        <a:p>
          <a:endParaRPr lang="zh-CN" altLang="en-US"/>
        </a:p>
      </dgm:t>
    </dgm:pt>
    <dgm:pt modelId="{5DEF1511-F278-43D4-8D43-E7634C13C6C7}" cxnId="{EB5D59BD-E9C5-437D-A585-5AFCB65122E5}" type="sibTrans">
      <dgm:prSet/>
      <dgm:spPr/>
      <dgm:t>
        <a:bodyPr/>
        <a:lstStyle/>
        <a:p>
          <a:endParaRPr lang="zh-CN" altLang="en-US"/>
        </a:p>
      </dgm:t>
    </dgm:pt>
    <dgm:pt modelId="{E0A9C8CF-E01A-4514-BE66-AAED91023151}" type="pres">
      <dgm:prSet presAssocID="{7FF8E4CD-FAEB-4051-B8F5-A2639C806FD0}" presName="Name0" presStyleCnt="0">
        <dgm:presLayoutVars>
          <dgm:dir/>
          <dgm:animLvl val="lvl"/>
          <dgm:resizeHandles val="exact"/>
        </dgm:presLayoutVars>
      </dgm:prSet>
      <dgm:spPr/>
    </dgm:pt>
    <dgm:pt modelId="{F396FC8F-7D62-44A6-B459-B19F168DEE10}" type="pres">
      <dgm:prSet presAssocID="{3E24FD53-2685-4DD7-AAE2-2F99C98A3CE6}" presName="parTxOnly" presStyleLbl="node1" presStyleIdx="0" presStyleCnt="1">
        <dgm:presLayoutVars>
          <dgm:chMax val="0"/>
          <dgm:chPref val="0"/>
          <dgm:bulletEnabled val="1"/>
        </dgm:presLayoutVars>
      </dgm:prSet>
      <dgm:spPr/>
    </dgm:pt>
  </dgm:ptLst>
  <dgm:cxnLst>
    <dgm:cxn modelId="{EB5D59BD-E9C5-437D-A585-5AFCB65122E5}" srcId="{7FF8E4CD-FAEB-4051-B8F5-A2639C806FD0}" destId="{3E24FD53-2685-4DD7-AAE2-2F99C98A3CE6}" srcOrd="0" destOrd="0" parTransId="{7FF4AED5-7FBC-4A67-9D94-4CCF5B46CB77}" sibTransId="{5DEF1511-F278-43D4-8D43-E7634C13C6C7}"/>
    <dgm:cxn modelId="{B110B5D3-1C86-4978-8F18-B902C67D2440}" type="presOf" srcId="{7FF8E4CD-FAEB-4051-B8F5-A2639C806FD0}" destId="{E0A9C8CF-E01A-4514-BE66-AAED91023151}" srcOrd="0" destOrd="0" presId="urn:microsoft.com/office/officeart/2005/8/layout/chevron1"/>
    <dgm:cxn modelId="{0D048468-7DC6-45F3-BB27-48F7E51CD595}" type="presParOf" srcId="{E0A9C8CF-E01A-4514-BE66-AAED91023151}" destId="{F396FC8F-7D62-44A6-B459-B19F168DEE10}" srcOrd="0" destOrd="0" presId="urn:microsoft.com/office/officeart/2005/8/layout/chevron1"/>
    <dgm:cxn modelId="{CEAE11B6-382A-4AE6-A869-AAC957E5022F}" type="presOf" srcId="{3E24FD53-2685-4DD7-AAE2-2F99C98A3CE6}" destId="{F396FC8F-7D62-44A6-B459-B19F168DEE10}" srcOrd="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2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FF8E4CD-FAEB-4051-B8F5-A2639C806FD0}" type="doc">
      <dgm:prSet loTypeId="urn:microsoft.com/office/officeart/2005/8/layout/chevron1" loCatId="process" qsTypeId="urn:microsoft.com/office/officeart/2005/8/quickstyle/simple1#1" qsCatId="simple" csTypeId="urn:microsoft.com/office/officeart/2005/8/colors/accent1_2#1" csCatId="accent1" phldr="1"/>
      <dgm:spPr/>
    </dgm:pt>
    <dgm:pt modelId="{3E24FD53-2685-4DD7-AAE2-2F99C98A3CE6}">
      <dgm:prSet phldrT="[文本]" phldr="0" custT="1"/>
      <dgm:spPr>
        <a:solidFill>
          <a:schemeClr val="accent1">
            <a:lumMod val="20000"/>
            <a:lumOff val="80000"/>
          </a:schemeClr>
        </a:solidFill>
      </dgm:spPr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rPr>
            <a:t/>
          </a:r>
          <a:endParaRPr lang="zh-CN" altLang="en-US" sz="1600" b="1" dirty="0">
            <a:solidFill>
              <a:schemeClr val="tx1"/>
            </a:solidFill>
            <a:latin typeface="微软雅黑" panose="020B0503020204020204" charset="-122"/>
            <a:ea typeface="微软雅黑" panose="020B0503020204020204" charset="-122"/>
          </a:endParaRPr>
        </a:p>
      </dgm:t>
    </dgm:pt>
    <dgm:pt modelId="{7FF4AED5-7FBC-4A67-9D94-4CCF5B46CB77}" cxnId="{EB5D59BD-E9C5-437D-A585-5AFCB65122E5}" type="parTrans">
      <dgm:prSet/>
      <dgm:spPr/>
      <dgm:t>
        <a:bodyPr/>
        <a:lstStyle/>
        <a:p>
          <a:endParaRPr lang="zh-CN" altLang="en-US"/>
        </a:p>
      </dgm:t>
    </dgm:pt>
    <dgm:pt modelId="{5DEF1511-F278-43D4-8D43-E7634C13C6C7}" cxnId="{EB5D59BD-E9C5-437D-A585-5AFCB65122E5}" type="sibTrans">
      <dgm:prSet/>
      <dgm:spPr/>
      <dgm:t>
        <a:bodyPr/>
        <a:lstStyle/>
        <a:p>
          <a:endParaRPr lang="zh-CN" altLang="en-US"/>
        </a:p>
      </dgm:t>
    </dgm:pt>
    <dgm:pt modelId="{E0A9C8CF-E01A-4514-BE66-AAED91023151}" type="pres">
      <dgm:prSet presAssocID="{7FF8E4CD-FAEB-4051-B8F5-A2639C806FD0}" presName="Name0" presStyleCnt="0">
        <dgm:presLayoutVars>
          <dgm:dir/>
          <dgm:animLvl val="lvl"/>
          <dgm:resizeHandles val="exact"/>
        </dgm:presLayoutVars>
      </dgm:prSet>
      <dgm:spPr/>
    </dgm:pt>
    <dgm:pt modelId="{F396FC8F-7D62-44A6-B459-B19F168DEE10}" type="pres">
      <dgm:prSet presAssocID="{3E24FD53-2685-4DD7-AAE2-2F99C98A3CE6}" presName="parTxOnly" presStyleLbl="node1" presStyleIdx="0" presStyleCnt="1">
        <dgm:presLayoutVars>
          <dgm:chMax val="0"/>
          <dgm:chPref val="0"/>
          <dgm:bulletEnabled val="1"/>
        </dgm:presLayoutVars>
      </dgm:prSet>
      <dgm:spPr/>
    </dgm:pt>
  </dgm:ptLst>
  <dgm:cxnLst>
    <dgm:cxn modelId="{EB5D59BD-E9C5-437D-A585-5AFCB65122E5}" srcId="{7FF8E4CD-FAEB-4051-B8F5-A2639C806FD0}" destId="{3E24FD53-2685-4DD7-AAE2-2F99C98A3CE6}" srcOrd="0" destOrd="0" parTransId="{7FF4AED5-7FBC-4A67-9D94-4CCF5B46CB77}" sibTransId="{5DEF1511-F278-43D4-8D43-E7634C13C6C7}"/>
    <dgm:cxn modelId="{B110B5D3-1C86-4978-8F18-B902C67D2440}" type="presOf" srcId="{7FF8E4CD-FAEB-4051-B8F5-A2639C806FD0}" destId="{E0A9C8CF-E01A-4514-BE66-AAED91023151}" srcOrd="0" destOrd="0" presId="urn:microsoft.com/office/officeart/2005/8/layout/chevron1"/>
    <dgm:cxn modelId="{0D048468-7DC6-45F3-BB27-48F7E51CD595}" type="presParOf" srcId="{E0A9C8CF-E01A-4514-BE66-AAED91023151}" destId="{F396FC8F-7D62-44A6-B459-B19F168DEE10}" srcOrd="0" destOrd="0" presId="urn:microsoft.com/office/officeart/2005/8/layout/chevron1"/>
    <dgm:cxn modelId="{CEAE11B6-382A-4AE6-A869-AAC957E5022F}" type="presOf" srcId="{3E24FD53-2685-4DD7-AAE2-2F99C98A3CE6}" destId="{F396FC8F-7D62-44A6-B459-B19F168DEE10}" srcOrd="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34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556260" cy="393700"/>
        <a:chOff x="0" y="0"/>
        <a:chExt cx="556260" cy="393700"/>
      </a:xfrm>
    </dsp:grpSpPr>
    <dsp:sp modelId="{F396FC8F-7D62-44A6-B459-B19F168DEE10}">
      <dsp:nvSpPr>
        <dsp:cNvPr id="3" name="燕尾形 2"/>
        <dsp:cNvSpPr/>
      </dsp:nvSpPr>
      <dsp:spPr bwMode="white">
        <a:xfrm>
          <a:off x="0" y="85598"/>
          <a:ext cx="556260" cy="222504"/>
        </a:xfrm>
        <a:prstGeom prst="chevron">
          <a:avLst/>
        </a:prstGeom>
        <a:solidFill>
          <a:schemeClr val="accent1">
            <a:lumMod val="20000"/>
            <a:lumOff val="80000"/>
          </a:schemeClr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sz="1600" b="1" dirty="0">
            <a:solidFill>
              <a:schemeClr val="tx1"/>
            </a:solidFill>
            <a:latin typeface="微软雅黑" panose="020B0503020204020204" charset="-122"/>
            <a:ea typeface="微软雅黑" panose="020B0503020204020204" charset="-122"/>
          </a:endParaRPr>
        </a:p>
      </dsp:txBody>
      <dsp:txXfrm>
        <a:off x="0" y="85598"/>
        <a:ext cx="556260" cy="2225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469900" cy="320675"/>
        <a:chOff x="0" y="0"/>
        <a:chExt cx="469900" cy="320675"/>
      </a:xfrm>
    </dsp:grpSpPr>
    <dsp:sp modelId="{F396FC8F-7D62-44A6-B459-B19F168DEE10}">
      <dsp:nvSpPr>
        <dsp:cNvPr id="3" name="燕尾形 2"/>
        <dsp:cNvSpPr/>
      </dsp:nvSpPr>
      <dsp:spPr bwMode="white">
        <a:xfrm>
          <a:off x="0" y="66358"/>
          <a:ext cx="469900" cy="187960"/>
        </a:xfrm>
        <a:prstGeom prst="chevron">
          <a:avLst/>
        </a:prstGeom>
        <a:solidFill>
          <a:schemeClr val="accent1">
            <a:lumMod val="20000"/>
            <a:lumOff val="80000"/>
          </a:schemeClr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sz="1600" b="1" dirty="0">
            <a:solidFill>
              <a:schemeClr val="tx1"/>
            </a:solidFill>
            <a:latin typeface="微软雅黑" panose="020B0503020204020204" charset="-122"/>
            <a:ea typeface="微软雅黑" panose="020B0503020204020204" charset="-122"/>
          </a:endParaRPr>
        </a:p>
      </dsp:txBody>
      <dsp:txXfrm>
        <a:off x="0" y="66358"/>
        <a:ext cx="469900" cy="1879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type="chevron" r:blip="" rot="180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type="chevron" r:blip="" rot="180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type="chevron" r:blip="" rot="180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type="chevron" r:blip="" rot="180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fld id="{39853E65-094F-4355-B763-9E26C441A5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本次汇报</a:t>
            </a:r>
            <a:r>
              <a:rPr lang="zh-CN" altLang="en-US" dirty="0"/>
              <a:t>主要包含以下五部分</a:t>
            </a:r>
            <a:r>
              <a:rPr lang="zh-CN" altLang="en-US" dirty="0"/>
              <a:t>内容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10E0B-E88D-4395-BE52-CC4BCF8210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首先是背景：</a:t>
            </a:r>
            <a:br>
              <a:rPr lang="zh-CN" altLang="en-US" dirty="0"/>
            </a:br>
            <a:r>
              <a:rPr lang="zh-CN" altLang="en-US" dirty="0"/>
              <a:t>材料研发实验流程流程长、重复性高，且常伴随安全风险。本课题以辽材的合作项目为切入口：由对方提供真实场景与具体需求，已进行深入调研，接下来将在其实验</a:t>
            </a:r>
            <a:r>
              <a:rPr lang="zh-CN" altLang="en-US" dirty="0"/>
              <a:t>场景验证本课题。针对该任务，现有两条主流智能体路线均存在明显短板。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10E0B-E88D-4395-BE52-CC4BCF8210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现有的端到端视觉</a:t>
            </a:r>
            <a:r>
              <a:rPr lang="en-US" altLang="zh-CN" dirty="0"/>
              <a:t>-</a:t>
            </a:r>
            <a:r>
              <a:rPr lang="zh-CN" altLang="en-US" dirty="0"/>
              <a:t>语言</a:t>
            </a:r>
            <a:r>
              <a:rPr lang="en-US" altLang="zh-CN" dirty="0"/>
              <a:t>-</a:t>
            </a:r>
            <a:r>
              <a:rPr lang="zh-CN" altLang="en-US" dirty="0"/>
              <a:t>动作（</a:t>
            </a:r>
            <a:r>
              <a:rPr lang="en-US" altLang="zh-CN" dirty="0"/>
              <a:t>VLA</a:t>
            </a:r>
            <a:r>
              <a:rPr lang="zh-CN" altLang="en-US" dirty="0"/>
              <a:t>）模型，如</a:t>
            </a:r>
            <a:r>
              <a:rPr lang="en-US" altLang="zh-CN" dirty="0"/>
              <a:t>RT-2</a:t>
            </a:r>
            <a:r>
              <a:rPr lang="zh-CN" altLang="en-US" dirty="0"/>
              <a:t>和</a:t>
            </a:r>
            <a:r>
              <a:rPr lang="en-US" altLang="zh-CN" dirty="0"/>
              <a:t>SmolVLA</a:t>
            </a:r>
            <a:r>
              <a:rPr lang="zh-CN" altLang="en-US" dirty="0"/>
              <a:t>，以及模仿学习方法，虽然有其优势，但面临数据需求大、灾难性遗忘和长序列处理不足的问题。这些挑战在特定领域如化学实验中尤为突出。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10E0B-E88D-4395-BE52-CC4BCF8210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为了克服这些挑战，我们的研究基于</a:t>
            </a:r>
            <a:r>
              <a:rPr lang="en-US" altLang="zh-CN" dirty="0"/>
              <a:t>CaP</a:t>
            </a:r>
            <a:r>
              <a:rPr lang="zh-CN" altLang="en-US" dirty="0"/>
              <a:t>、和</a:t>
            </a:r>
            <a:r>
              <a:rPr lang="en-US" altLang="zh-CN" dirty="0"/>
              <a:t>Triple-S</a:t>
            </a:r>
            <a:r>
              <a:rPr lang="zh-CN" altLang="en-US" dirty="0"/>
              <a:t>等代表工作，通过用户指令和环境观测，利用</a:t>
            </a:r>
            <a:r>
              <a:rPr lang="en-US" altLang="zh-CN" dirty="0"/>
              <a:t>LLM</a:t>
            </a:r>
            <a:r>
              <a:rPr lang="zh-CN" altLang="en-US" dirty="0"/>
              <a:t>进行决策，生成可执行代码，实现机械臂的部署和执行。这种方法不仅具有可解释性和可验证性，还支持少样本学习，这对于数据稀缺的领域尤为重要。</a:t>
            </a:r>
            <a:br>
              <a:rPr lang="zh-CN" altLang="en-US" dirty="0"/>
            </a:br>
            <a:r>
              <a:rPr lang="zh-CN" altLang="en-US" dirty="0"/>
              <a:t>但</a:t>
            </a:r>
            <a:r>
              <a:rPr lang="zh-CN" altLang="en-US" dirty="0"/>
              <a:t>这些方法在长序列任务中还面临</a:t>
            </a:r>
            <a:r>
              <a:rPr lang="zh-CN" altLang="en-US" dirty="0"/>
              <a:t>以下关键问题。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10E0B-E88D-4395-BE52-CC4BCF8210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首先，单一</a:t>
            </a:r>
            <a:r>
              <a:rPr lang="en-US" altLang="zh-CN" dirty="0">
                <a:sym typeface="+mn-ea"/>
              </a:rPr>
              <a:t>LLM</a:t>
            </a:r>
            <a:r>
              <a:rPr lang="zh-CN" altLang="en-US" dirty="0">
                <a:sym typeface="+mn-ea"/>
              </a:rPr>
              <a:t>和单臂难并行完成复杂任务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，本课题采用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大小脑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分工机制</a:t>
            </a:r>
            <a:r>
              <a:rPr lang="en-US" altLang="zh-CN" dirty="0">
                <a:sym typeface="+mn-ea"/>
              </a:rPr>
              <a:t>——</a:t>
            </a:r>
            <a:r>
              <a:rPr lang="zh-CN" altLang="en-US" dirty="0">
                <a:sym typeface="+mn-ea"/>
              </a:rPr>
              <a:t>大脑</a:t>
            </a:r>
            <a:r>
              <a:rPr lang="en-US" altLang="zh-CN" dirty="0">
                <a:sym typeface="+mn-ea"/>
              </a:rPr>
              <a:t>LLM</a:t>
            </a:r>
            <a:r>
              <a:rPr lang="zh-CN" altLang="en-US" dirty="0">
                <a:sym typeface="+mn-ea"/>
              </a:rPr>
              <a:t>做全局规划，小脑</a:t>
            </a:r>
            <a:r>
              <a:rPr lang="en-US" altLang="zh-CN" dirty="0">
                <a:sym typeface="+mn-ea"/>
              </a:rPr>
              <a:t>LLM</a:t>
            </a:r>
            <a:r>
              <a:rPr lang="zh-CN" altLang="en-US" dirty="0">
                <a:sym typeface="+mn-ea"/>
              </a:rPr>
              <a:t>各自产出可执行</a:t>
            </a:r>
            <a:r>
              <a:rPr lang="en-US" altLang="zh-CN" dirty="0">
                <a:sym typeface="+mn-ea"/>
              </a:rPr>
              <a:t>API</a:t>
            </a:r>
            <a:r>
              <a:rPr lang="zh-CN" altLang="en-US" dirty="0">
                <a:sym typeface="+mn-ea"/>
              </a:rPr>
              <a:t>完成精细控制。其次，针对长序列的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提示性遗忘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，本课题用结构化记忆的上下文检索框架，通过路由</a:t>
            </a:r>
            <a:r>
              <a:rPr lang="en-US" altLang="zh-CN" dirty="0">
                <a:sym typeface="+mn-ea"/>
              </a:rPr>
              <a:t>+</a:t>
            </a:r>
            <a:r>
              <a:rPr lang="zh-CN" altLang="en-US" dirty="0">
                <a:sym typeface="+mn-ea"/>
              </a:rPr>
              <a:t>提示编译只喂给模型最小必需集合，避免上下文丢失。第三，现有方法多缺少针对长序列任务的失败处理机制，本课题通过引入基于影响分析的自适应恢复：</a:t>
            </a:r>
            <a:r>
              <a:rPr lang="zh-CN" altLang="en-US" dirty="0">
                <a:sym typeface="+mn-ea"/>
              </a:rPr>
              <a:t>定位受影响步骤，进行参数修正、步骤重排或回滚重试。接下来展开详细技术路线。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第一个问题是：单一小模型</a:t>
            </a:r>
            <a:r>
              <a:rPr lang="en-US" altLang="zh-CN" dirty="0"/>
              <a:t>+</a:t>
            </a:r>
            <a:r>
              <a:rPr lang="zh-CN" altLang="en-US" dirty="0"/>
              <a:t>单臂，通常很难兼顾长续列任务的全局规划和精细控制；</a:t>
            </a:r>
            <a:br>
              <a:rPr lang="zh-CN" altLang="en-US" dirty="0"/>
            </a:br>
            <a:r>
              <a:rPr lang="zh-CN" altLang="en-US" dirty="0">
                <a:sym typeface="+mn-ea"/>
              </a:rPr>
              <a:t>第二个问题是</a:t>
            </a:r>
            <a:r>
              <a:rPr lang="zh-CN" altLang="en-US" dirty="0"/>
              <a:t>：随着</a:t>
            </a:r>
            <a:r>
              <a:rPr lang="en-US" altLang="zh-CN" dirty="0"/>
              <a:t>API</a:t>
            </a:r>
            <a:r>
              <a:rPr lang="zh-CN" altLang="en-US" dirty="0"/>
              <a:t>库的增加以及任务复杂度的</a:t>
            </a:r>
            <a:r>
              <a:rPr lang="zh-CN" altLang="en-US" dirty="0"/>
              <a:t>上升提示性遗忘导致长流程上下文易丢；</a:t>
            </a:r>
            <a:br>
              <a:rPr lang="zh-CN" altLang="en-US" dirty="0"/>
            </a:br>
            <a:r>
              <a:rPr lang="zh-CN" altLang="en-US" dirty="0"/>
              <a:t>问题</a:t>
            </a:r>
            <a:r>
              <a:rPr lang="en-US" altLang="zh-CN" dirty="0"/>
              <a:t>3</a:t>
            </a:r>
            <a:r>
              <a:rPr lang="zh-CN" altLang="en-US" dirty="0"/>
              <a:t>：长序列任务中缺乏灵活的系统的失败处理和错误恢复能力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10E0B-E88D-4395-BE52-CC4BCF8210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整体技术路线按图从左到右推进：先由</a:t>
            </a:r>
            <a:r>
              <a:rPr lang="en-US" altLang="zh-CN" dirty="0"/>
              <a:t>“</a:t>
            </a:r>
            <a:r>
              <a:rPr lang="zh-CN" altLang="en-US" dirty="0"/>
              <a:t>大脑</a:t>
            </a:r>
            <a:r>
              <a:rPr lang="en-US" altLang="zh-CN" dirty="0"/>
              <a:t>”</a:t>
            </a:r>
            <a:r>
              <a:rPr lang="zh-CN" altLang="en-US" dirty="0"/>
              <a:t>把用户指令和环境观测分解与时序规划，标注每步前置条件与成功判据，（当遇到模糊不清的指令时，向用户发出二次提问）；随后两个</a:t>
            </a:r>
            <a:r>
              <a:rPr lang="en-US" altLang="zh-CN" dirty="0"/>
              <a:t>“</a:t>
            </a:r>
            <a:r>
              <a:rPr lang="zh-CN" altLang="en-US" dirty="0"/>
              <a:t>小脑</a:t>
            </a:r>
            <a:r>
              <a:rPr lang="en-US" altLang="zh-CN" dirty="0"/>
              <a:t>”</a:t>
            </a:r>
            <a:r>
              <a:rPr lang="zh-CN" altLang="en-US" dirty="0"/>
              <a:t>分别为两侧机械臂生成可执行</a:t>
            </a:r>
            <a:r>
              <a:rPr lang="en-US" altLang="zh-CN" dirty="0"/>
              <a:t>API</a:t>
            </a:r>
            <a:r>
              <a:rPr lang="zh-CN" altLang="en-US" dirty="0"/>
              <a:t>并逐步校验。中间模块解决长序列的上下文稳定性：采用</a:t>
            </a:r>
            <a:r>
              <a:rPr lang="zh-CN" altLang="en-US" dirty="0">
                <a:sym typeface="+mn-ea"/>
              </a:rPr>
              <a:t>（即时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召回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归档）</a:t>
            </a:r>
            <a:r>
              <a:rPr lang="zh-CN" altLang="en-US" dirty="0"/>
              <a:t>三层记忆，并做结构化嵌入；通过路由</a:t>
            </a:r>
            <a:r>
              <a:rPr lang="en-US" altLang="zh-CN" dirty="0"/>
              <a:t>+</a:t>
            </a:r>
            <a:r>
              <a:rPr lang="zh-CN" altLang="en-US" dirty="0"/>
              <a:t>提示编译只拼接最小必需上下文，并用</a:t>
            </a:r>
            <a:r>
              <a:rPr lang="en-US" altLang="zh-CN" dirty="0"/>
              <a:t>MMR</a:t>
            </a:r>
            <a:r>
              <a:rPr lang="zh-CN" altLang="en-US" dirty="0"/>
              <a:t>做去冗与多样性；指标含</a:t>
            </a:r>
            <a:r>
              <a:rPr lang="en-US" altLang="zh-CN" dirty="0"/>
              <a:t>Recall@K</a:t>
            </a:r>
            <a:r>
              <a:rPr lang="zh-CN" altLang="en-US" dirty="0"/>
              <a:t>、</a:t>
            </a:r>
            <a:r>
              <a:rPr lang="en-US" altLang="zh-CN" dirty="0"/>
              <a:t>E2E SR</a:t>
            </a:r>
            <a:r>
              <a:rPr lang="zh-CN" altLang="en-US" dirty="0"/>
              <a:t>、</a:t>
            </a:r>
            <a:r>
              <a:rPr lang="en-US" altLang="zh-CN" dirty="0"/>
              <a:t>FT/BT</a:t>
            </a:r>
            <a:r>
              <a:rPr lang="zh-CN" altLang="en-US" dirty="0"/>
              <a:t>等。右侧是影响分析</a:t>
            </a:r>
            <a:r>
              <a:rPr lang="en-US" altLang="zh-CN" dirty="0"/>
              <a:t>—</a:t>
            </a:r>
            <a:r>
              <a:rPr lang="zh-CN" altLang="en-US" dirty="0"/>
              <a:t>自适应恢复：验证未通过时定位受影响范围，进行参数修正、步骤重排、工具切换或回滚，并记录经验提升</a:t>
            </a:r>
            <a:r>
              <a:rPr lang="en-US" altLang="zh-CN" dirty="0"/>
              <a:t>ASR</a:t>
            </a:r>
            <a:r>
              <a:rPr lang="zh-CN" altLang="en-US" dirty="0"/>
              <a:t>。具体</a:t>
            </a:r>
            <a:r>
              <a:rPr lang="zh-CN" altLang="en-US" dirty="0"/>
              <a:t>来说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>
                <a:sym typeface="+mn-ea"/>
              </a:rPr>
              <a:t>注：（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函数签名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指函数名与参数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约束）</a:t>
            </a:r>
            <a:r>
              <a:rPr lang="en-US" altLang="zh-CN" dirty="0">
                <a:sym typeface="+mn-ea"/>
              </a:rPr>
              <a:t>CFG/DFG</a:t>
            </a:r>
            <a:r>
              <a:rPr lang="zh-CN" altLang="en-US" dirty="0">
                <a:sym typeface="+mn-ea"/>
              </a:rPr>
              <a:t>是控制流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数据流图描述顺序与依赖；</a:t>
            </a:r>
            <a:endParaRPr lang="zh-CN" altLang="en-US" dirty="0"/>
          </a:p>
          <a:p>
            <a:r>
              <a:rPr lang="zh-CN" altLang="en-US" dirty="0"/>
              <a:t>用</a:t>
            </a:r>
            <a:r>
              <a:rPr lang="en-US" altLang="zh-CN" dirty="0"/>
              <a:t> JSON </a:t>
            </a:r>
            <a:r>
              <a:rPr lang="zh-CN" altLang="en-US" dirty="0"/>
              <a:t>记录每次执行的状态</a:t>
            </a:r>
            <a:r>
              <a:rPr lang="en-US" altLang="zh-CN" dirty="0"/>
              <a:t>—</a:t>
            </a:r>
            <a:r>
              <a:rPr lang="zh-CN" altLang="en-US" dirty="0"/>
              <a:t>动作</a:t>
            </a:r>
            <a:r>
              <a:rPr lang="en-US" altLang="zh-CN" dirty="0"/>
              <a:t>—</a:t>
            </a:r>
            <a:r>
              <a:rPr lang="zh-CN" altLang="en-US" dirty="0"/>
              <a:t>反馈序列与关键中间变量，形成可回放</a:t>
            </a:r>
            <a:r>
              <a:rPr lang="en-US" altLang="zh-CN" dirty="0"/>
              <a:t>/</a:t>
            </a:r>
            <a:r>
              <a:rPr lang="zh-CN" altLang="en-US" dirty="0"/>
              <a:t>检索的轨迹。</a:t>
            </a:r>
            <a:endParaRPr lang="zh-CN" altLang="en-US" dirty="0"/>
          </a:p>
          <a:p>
            <a:r>
              <a:rPr lang="zh-CN" altLang="en-US" dirty="0"/>
              <a:t>函数签名嵌入（</a:t>
            </a:r>
            <a:r>
              <a:rPr lang="en-US" altLang="zh-CN" dirty="0"/>
              <a:t>Function-signature embeddings</a:t>
            </a:r>
            <a:r>
              <a:rPr lang="zh-CN" altLang="en-US" dirty="0"/>
              <a:t>）：将函数</a:t>
            </a:r>
            <a:r>
              <a:rPr lang="en-US" altLang="zh-CN" dirty="0"/>
              <a:t>/</a:t>
            </a:r>
            <a:r>
              <a:rPr lang="zh-CN" altLang="en-US" dirty="0"/>
              <a:t>技能的名称、参数类型与含义、返回值、前置</a:t>
            </a:r>
            <a:r>
              <a:rPr lang="en-US" altLang="zh-CN" dirty="0"/>
              <a:t>/</a:t>
            </a:r>
            <a:r>
              <a:rPr lang="zh-CN" altLang="en-US" dirty="0"/>
              <a:t>后置条件等要素编码成向量；比仅用注释</a:t>
            </a:r>
            <a:r>
              <a:rPr lang="en-US" altLang="zh-CN" dirty="0"/>
              <a:t>/</a:t>
            </a:r>
            <a:r>
              <a:rPr lang="zh-CN" altLang="en-US" dirty="0"/>
              <a:t>文本更稳健，便于按</a:t>
            </a:r>
            <a:r>
              <a:rPr lang="en-US" altLang="zh-CN" dirty="0"/>
              <a:t>“</a:t>
            </a:r>
            <a:r>
              <a:rPr lang="zh-CN" altLang="en-US" dirty="0"/>
              <a:t>能做什么</a:t>
            </a:r>
            <a:r>
              <a:rPr lang="en-US" altLang="zh-CN" dirty="0"/>
              <a:t>+</a:t>
            </a:r>
            <a:r>
              <a:rPr lang="zh-CN" altLang="en-US" dirty="0"/>
              <a:t>怎么用</a:t>
            </a:r>
            <a:r>
              <a:rPr lang="en-US" altLang="zh-CN" dirty="0"/>
              <a:t>”</a:t>
            </a:r>
            <a:r>
              <a:rPr lang="zh-CN" altLang="en-US" dirty="0"/>
              <a:t>来检索技能。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含义说明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dirty="0"/>
              <a:t>Retrieval Recall@K; Top-k miss rate</a:t>
            </a:r>
            <a:r>
              <a:rPr lang="zh-CN" altLang="en-US" dirty="0"/>
              <a:t>：在前</a:t>
            </a:r>
            <a:r>
              <a:rPr lang="en-US" altLang="zh-CN" dirty="0"/>
              <a:t> K </a:t>
            </a:r>
            <a:r>
              <a:rPr lang="zh-CN" altLang="en-US" dirty="0"/>
              <a:t>条检索结果中的召回率及关键证据漏检率，衡量结构化检索是否把</a:t>
            </a:r>
            <a:r>
              <a:rPr lang="en-US" altLang="zh-CN" dirty="0"/>
              <a:t>“</a:t>
            </a:r>
            <a:r>
              <a:rPr lang="zh-CN" altLang="en-US" dirty="0"/>
              <a:t>必要的记忆</a:t>
            </a:r>
            <a:r>
              <a:rPr lang="en-US" altLang="zh-CN" dirty="0"/>
              <a:t>/</a:t>
            </a:r>
            <a:r>
              <a:rPr lang="zh-CN" altLang="en-US" dirty="0"/>
              <a:t>代码片段</a:t>
            </a:r>
            <a:r>
              <a:rPr lang="en-US" altLang="zh-CN" dirty="0"/>
              <a:t>”</a:t>
            </a:r>
            <a:r>
              <a:rPr lang="zh-CN" altLang="en-US" dirty="0"/>
              <a:t>取回。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dirty="0"/>
              <a:t>MMR/DPP diversity</a:t>
            </a:r>
            <a:r>
              <a:rPr lang="zh-CN" altLang="en-US" dirty="0"/>
              <a:t>：用</a:t>
            </a:r>
            <a:r>
              <a:rPr lang="en-US" altLang="zh-CN" dirty="0"/>
              <a:t> MMR </a:t>
            </a:r>
            <a:r>
              <a:rPr lang="zh-CN" altLang="en-US" dirty="0"/>
              <a:t>或</a:t>
            </a:r>
            <a:r>
              <a:rPr lang="en-US" altLang="zh-CN" dirty="0"/>
              <a:t> DPP </a:t>
            </a:r>
            <a:r>
              <a:rPr lang="zh-CN" altLang="en-US" dirty="0"/>
              <a:t>评估取回集合的多样性</a:t>
            </a:r>
            <a:r>
              <a:rPr lang="en-US" altLang="zh-CN" dirty="0"/>
              <a:t>/</a:t>
            </a:r>
            <a:r>
              <a:rPr lang="zh-CN" altLang="en-US" dirty="0"/>
              <a:t>去冗余，避免上下文被同质证据挤占。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dirty="0"/>
              <a:t>E2E SR; FT/BT; steps to success</a:t>
            </a:r>
            <a:r>
              <a:rPr lang="zh-CN" altLang="en-US" dirty="0"/>
              <a:t>：端到端成功率、前向</a:t>
            </a:r>
            <a:r>
              <a:rPr lang="en-US" altLang="zh-CN" dirty="0"/>
              <a:t>/</a:t>
            </a:r>
            <a:r>
              <a:rPr lang="zh-CN" altLang="en-US" dirty="0"/>
              <a:t>后向迁移</a:t>
            </a:r>
            <a:r>
              <a:rPr lang="en-US" altLang="zh-CN" dirty="0"/>
              <a:t> (FT/BT)</a:t>
            </a:r>
            <a:r>
              <a:rPr lang="zh-CN" altLang="en-US" dirty="0"/>
              <a:t>（新技能学习后对新旧任务的增益</a:t>
            </a:r>
            <a:r>
              <a:rPr lang="en-US" altLang="zh-CN" dirty="0"/>
              <a:t>/</a:t>
            </a:r>
            <a:r>
              <a:rPr lang="zh-CN" altLang="en-US" dirty="0"/>
              <a:t>保持），以及完成一次成功所需步数，反映</a:t>
            </a:r>
            <a:r>
              <a:rPr lang="en-US" altLang="zh-CN" dirty="0"/>
              <a:t>“</a:t>
            </a:r>
            <a:r>
              <a:rPr lang="zh-CN" altLang="en-US" dirty="0"/>
              <a:t>提示性遗忘被抑制、检索有用</a:t>
            </a:r>
            <a:r>
              <a:rPr lang="en-US" altLang="zh-CN" dirty="0"/>
              <a:t>”</a:t>
            </a:r>
            <a:r>
              <a:rPr lang="zh-CN" altLang="en-US" dirty="0"/>
              <a:t>的整体效果。</a:t>
            </a:r>
            <a:br>
              <a:rPr lang="zh-CN" altLang="en-US" dirty="0"/>
            </a:b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10E0B-E88D-4395-BE52-CC4BCF8210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系统接收指令与观测后，由</a:t>
            </a:r>
            <a:r>
              <a:rPr lang="en-US" altLang="zh-CN" dirty="0"/>
              <a:t>“</a:t>
            </a:r>
            <a:r>
              <a:rPr lang="zh-CN" altLang="en-US" dirty="0"/>
              <a:t>大脑</a:t>
            </a:r>
            <a:r>
              <a:rPr lang="en-US" altLang="zh-CN" dirty="0"/>
              <a:t>”</a:t>
            </a:r>
            <a:r>
              <a:rPr lang="zh-CN" altLang="en-US" dirty="0"/>
              <a:t>生成并</a:t>
            </a:r>
            <a:r>
              <a:rPr lang="en-US" altLang="zh-CN" dirty="0"/>
              <a:t>/</a:t>
            </a:r>
            <a:r>
              <a:rPr lang="zh-CN" altLang="en-US" dirty="0"/>
              <a:t>串行计划并标注</a:t>
            </a:r>
            <a:r>
              <a:rPr lang="en-US" altLang="zh-CN" dirty="0"/>
              <a:t>preconditions</a:t>
            </a:r>
            <a:r>
              <a:rPr lang="zh-CN" altLang="en-US" dirty="0"/>
              <a:t>与</a:t>
            </a:r>
            <a:r>
              <a:rPr lang="en-US" altLang="zh-CN" dirty="0"/>
              <a:t>vsv_check</a:t>
            </a:r>
            <a:r>
              <a:rPr lang="zh-CN" altLang="en-US" dirty="0"/>
              <a:t>，两</a:t>
            </a:r>
            <a:r>
              <a:rPr lang="en-US" altLang="zh-CN" dirty="0"/>
              <a:t>“</a:t>
            </a:r>
            <a:r>
              <a:rPr lang="zh-CN" altLang="en-US" dirty="0"/>
              <a:t>小脑</a:t>
            </a:r>
            <a:r>
              <a:rPr lang="en-US" altLang="zh-CN" dirty="0"/>
              <a:t>”</a:t>
            </a:r>
            <a:r>
              <a:rPr lang="zh-CN" altLang="en-US" dirty="0"/>
              <a:t>为两臂产出</a:t>
            </a:r>
            <a:r>
              <a:rPr lang="en-US" altLang="zh-CN" dirty="0"/>
              <a:t>API</a:t>
            </a:r>
            <a:r>
              <a:rPr lang="zh-CN" altLang="en-US" dirty="0"/>
              <a:t>，关键点接入视觉</a:t>
            </a:r>
            <a:r>
              <a:rPr lang="en-US" altLang="zh-CN" dirty="0"/>
              <a:t>/RIO</a:t>
            </a:r>
            <a:r>
              <a:rPr lang="zh-CN" altLang="en-US" dirty="0"/>
              <a:t>进行任务状态</a:t>
            </a:r>
            <a:r>
              <a:rPr lang="zh-CN" altLang="en-US" dirty="0"/>
              <a:t>监测。</a:t>
            </a:r>
            <a:r>
              <a:rPr lang="en-US" altLang="zh-CN" dirty="0"/>
              <a:t>Step1</a:t>
            </a:r>
            <a:r>
              <a:rPr lang="zh-CN" altLang="en-US" dirty="0"/>
              <a:t>并行抓取烧杯与定量容器，夹爪需为空且到位；通过即前进。</a:t>
            </a:r>
            <a:r>
              <a:rPr lang="en-US" altLang="zh-CN" dirty="0"/>
              <a:t>Step2</a:t>
            </a:r>
            <a:r>
              <a:rPr lang="zh-CN" altLang="en-US" dirty="0"/>
              <a:t>定量倒液；若发生</a:t>
            </a:r>
            <a:r>
              <a:rPr lang="zh-CN" altLang="en-US" dirty="0"/>
              <a:t>倾洒，入废品区并回到</a:t>
            </a:r>
            <a:r>
              <a:rPr lang="en-US" altLang="zh-CN" dirty="0"/>
              <a:t>Step1</a:t>
            </a:r>
            <a:r>
              <a:rPr lang="zh-CN" altLang="en-US" dirty="0"/>
              <a:t>。</a:t>
            </a:r>
            <a:r>
              <a:rPr lang="en-US" altLang="zh-CN" dirty="0"/>
              <a:t>Step3</a:t>
            </a:r>
            <a:r>
              <a:rPr lang="zh-CN" altLang="en-US" dirty="0"/>
              <a:t>投放搅拌子，若掉在杯外，属局部问题，仅重试本步。</a:t>
            </a:r>
            <a:r>
              <a:rPr lang="en-US" altLang="zh-CN" dirty="0"/>
              <a:t>Step4</a:t>
            </a:r>
            <a:r>
              <a:rPr lang="zh-CN" altLang="en-US" dirty="0"/>
              <a:t>加盐固体，天平达标即过。</a:t>
            </a:r>
            <a:r>
              <a:rPr lang="en-US" altLang="zh-CN" dirty="0"/>
              <a:t>Step5</a:t>
            </a:r>
            <a:r>
              <a:rPr lang="zh-CN" altLang="en-US" dirty="0"/>
              <a:t>移至搅拌台，</a:t>
            </a:r>
            <a:r>
              <a:rPr lang="en-US" altLang="zh-CN" dirty="0"/>
              <a:t>VLM/</a:t>
            </a:r>
            <a:r>
              <a:rPr lang="zh-CN" altLang="en-US" dirty="0"/>
              <a:t>传感器验证，若溢出立即急停、人工处置，并从</a:t>
            </a:r>
            <a:r>
              <a:rPr lang="en-US" altLang="zh-CN" dirty="0"/>
              <a:t>Step1</a:t>
            </a:r>
            <a:r>
              <a:rPr lang="zh-CN" altLang="en-US" dirty="0"/>
              <a:t>重启。所有失败都做影响分析决定</a:t>
            </a:r>
            <a:r>
              <a:rPr lang="en-US" altLang="zh-CN" dirty="0"/>
              <a:t>“</a:t>
            </a:r>
            <a:r>
              <a:rPr lang="zh-CN" altLang="en-US" dirty="0"/>
              <a:t>局部重试或全局回滚</a:t>
            </a:r>
            <a:r>
              <a:rPr lang="en-US" altLang="zh-CN" dirty="0"/>
              <a:t>”</a:t>
            </a:r>
            <a:r>
              <a:rPr lang="zh-CN" altLang="en-US" dirty="0"/>
              <a:t>，并写回经验库。下一页我说明结构化记忆如何让检索与提示最小化。</a:t>
            </a:r>
            <a:br>
              <a:rPr lang="en-US" altLang="zh-CN" dirty="0"/>
            </a:b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同时</a:t>
            </a:r>
            <a:r>
              <a:rPr lang="en-US" altLang="zh-CN" dirty="0"/>
              <a:t>(</a:t>
            </a:r>
            <a:r>
              <a:rPr lang="zh-CN" altLang="en-US" dirty="0"/>
              <a:t>并行</a:t>
            </a:r>
            <a:r>
              <a:rPr lang="en-US" altLang="zh-CN" dirty="0"/>
              <a:t>)</a:t>
            </a:r>
            <a:r>
              <a:rPr lang="zh-CN" altLang="en-US" dirty="0"/>
              <a:t>抓取烧杯和装固定剂量水的容器（先验条件都是加载是空的，后验条件是夹爪中有容器和烧杯在目标位置）</a:t>
            </a:r>
            <a:br>
              <a:rPr lang="zh-CN" altLang="en-US" dirty="0"/>
            </a:br>
            <a:r>
              <a:rPr lang="en-US" altLang="zh-CN" dirty="0"/>
              <a:t>2.</a:t>
            </a:r>
            <a:r>
              <a:rPr lang="zh-CN" altLang="en-US" dirty="0"/>
              <a:t>倒入溶液（电子天平数据来判断），水量严重超出或不足（例如</a:t>
            </a:r>
            <a:r>
              <a:rPr lang="en-US" altLang="zh-CN" dirty="0"/>
              <a:t> &lt; 80ml </a:t>
            </a:r>
            <a:r>
              <a:rPr lang="zh-CN" altLang="en-US" dirty="0"/>
              <a:t>或</a:t>
            </a:r>
            <a:r>
              <a:rPr lang="en-US" altLang="zh-CN" dirty="0"/>
              <a:t> &gt; 120ml</a:t>
            </a:r>
            <a:r>
              <a:rPr lang="zh-CN" altLang="en-US" dirty="0"/>
              <a:t>）。将烧杯和容器放置到废品区，重新</a:t>
            </a:r>
            <a:r>
              <a:rPr lang="en-US" altLang="zh-CN" dirty="0"/>
              <a:t>step1</a:t>
            </a:r>
            <a:br>
              <a:rPr lang="en-US" altLang="zh-CN" dirty="0"/>
            </a:br>
            <a:r>
              <a:rPr lang="en-US" altLang="zh-CN" dirty="0"/>
              <a:t>3.</a:t>
            </a:r>
            <a:r>
              <a:rPr lang="zh-CN" altLang="en-US" dirty="0"/>
              <a:t>放入搅拌子</a:t>
            </a:r>
            <a:r>
              <a:rPr lang="en-US" altLang="zh-CN" dirty="0"/>
              <a:t>:</a:t>
            </a:r>
            <a:r>
              <a:rPr lang="zh-CN" altLang="en-US" dirty="0"/>
              <a:t>搅拌子掉落在烧杯外面（但仍在干燥的操作台上）。重试步骤</a:t>
            </a:r>
            <a:r>
              <a:rPr lang="en-US" altLang="zh-CN" dirty="0"/>
              <a:t>3</a:t>
            </a:r>
            <a:br>
              <a:rPr lang="zh-CN" altLang="en-US" dirty="0"/>
            </a:br>
            <a:r>
              <a:rPr lang="en-US" altLang="zh-CN" dirty="0"/>
              <a:t>4.</a:t>
            </a:r>
            <a:r>
              <a:rPr lang="zh-CN" altLang="en-US" dirty="0"/>
              <a:t>抓取盐固体颗粒（预制）到烧杯</a:t>
            </a:r>
            <a:r>
              <a:rPr lang="zh-CN" altLang="en-US" dirty="0">
                <a:sym typeface="+mn-ea"/>
              </a:rPr>
              <a:t>（电子天平数据来判断）</a:t>
            </a:r>
            <a:endParaRPr lang="zh-CN" altLang="en-US" dirty="0"/>
          </a:p>
          <a:p>
            <a:r>
              <a:rPr lang="en-US" altLang="zh-CN" dirty="0"/>
              <a:t>5.</a:t>
            </a:r>
            <a:r>
              <a:rPr lang="zh-CN" altLang="en-US" dirty="0"/>
              <a:t>移动至搅拌台（电子天平</a:t>
            </a:r>
            <a:r>
              <a:rPr lang="en-US" altLang="zh-CN" dirty="0"/>
              <a:t>)VLM</a:t>
            </a:r>
            <a:r>
              <a:rPr lang="zh-CN" altLang="en-US" dirty="0"/>
              <a:t>验证，发生溢出！可能损坏设备。实验终止，请</a:t>
            </a:r>
            <a:r>
              <a:rPr lang="zh-CN" altLang="en-US" dirty="0"/>
              <a:t>人工清理搅拌台，并从【步骤</a:t>
            </a:r>
            <a:r>
              <a:rPr lang="en-US" altLang="zh-CN" dirty="0"/>
              <a:t>1</a:t>
            </a:r>
            <a:r>
              <a:rPr lang="zh-CN" altLang="en-US" dirty="0"/>
              <a:t>】重新开始。</a:t>
            </a:r>
            <a:r>
              <a:rPr lang="en-US" altLang="zh-CN" dirty="0"/>
              <a:t>"</a:t>
            </a:r>
            <a:br>
              <a:rPr lang="zh-CN" altLang="en-US" dirty="0"/>
            </a:b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10E0B-E88D-4395-BE52-CC4BCF8210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结构化记忆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分离线构建，</a:t>
            </a:r>
            <a:r>
              <a:rPr lang="zh-CN" altLang="en-US" dirty="0">
                <a:sym typeface="+mn-ea"/>
              </a:rPr>
              <a:t>在线运行两块</a:t>
            </a:r>
            <a:endParaRPr lang="zh-CN" altLang="en-US" dirty="0"/>
          </a:p>
          <a:p>
            <a:r>
              <a:rPr lang="zh-CN" altLang="en-US" dirty="0"/>
              <a:t>离线把知识分成三层：即时，召回，归档。对每个</a:t>
            </a:r>
            <a:r>
              <a:rPr lang="en-US" altLang="zh-CN" dirty="0"/>
              <a:t>API</a:t>
            </a:r>
            <a:r>
              <a:rPr lang="zh-CN" altLang="en-US" dirty="0"/>
              <a:t>我们存函数签名（名字、参数、约束）和语义（用途与边界），再抽取</a:t>
            </a:r>
            <a:r>
              <a:rPr lang="en-US" altLang="zh-CN" dirty="0"/>
              <a:t>CFG/DFG</a:t>
            </a:r>
            <a:r>
              <a:rPr lang="zh-CN" altLang="en-US" dirty="0"/>
              <a:t>（前者是控制流，管调用顺序；后者是数据流，管输入输出依赖）。</a:t>
            </a:r>
            <a:r>
              <a:rPr lang="zh-CN" altLang="en-US" dirty="0">
                <a:sym typeface="+mn-ea"/>
              </a:rPr>
              <a:t>同时提示编译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模板蒸馏把高频套路固化为短模板</a:t>
            </a:r>
            <a:r>
              <a:rPr lang="en-US" altLang="zh-CN" dirty="0">
                <a:sym typeface="+mn-ea"/>
              </a:rPr>
              <a:t>+</a:t>
            </a:r>
            <a:r>
              <a:rPr lang="zh-CN" altLang="en-US" dirty="0">
                <a:sym typeface="+mn-ea"/>
              </a:rPr>
              <a:t>单测，并微调小路由器（</a:t>
            </a:r>
            <a:r>
              <a:rPr lang="en-US" altLang="zh-CN" dirty="0">
                <a:sym typeface="+mn-ea"/>
              </a:rPr>
              <a:t>≈2–3B</a:t>
            </a:r>
            <a:r>
              <a:rPr lang="zh-CN" altLang="en-US" dirty="0">
                <a:sym typeface="+mn-ea"/>
              </a:rPr>
              <a:t>）学会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暴露哪些</a:t>
            </a:r>
            <a:r>
              <a:rPr lang="en-US" altLang="zh-CN" dirty="0">
                <a:sym typeface="+mn-ea"/>
              </a:rPr>
              <a:t>API</a:t>
            </a:r>
            <a:r>
              <a:rPr lang="zh-CN" altLang="en-US" dirty="0">
                <a:sym typeface="+mn-ea"/>
              </a:rPr>
              <a:t>、示例如何排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，</a:t>
            </a:r>
            <a:r>
              <a:rPr lang="zh-CN" altLang="en-US" dirty="0"/>
              <a:t>运行时先做查询扩展，再用</a:t>
            </a:r>
            <a:r>
              <a:rPr lang="en-US" altLang="zh-CN" dirty="0"/>
              <a:t>Top-k+MMR</a:t>
            </a:r>
            <a:r>
              <a:rPr lang="zh-CN" altLang="en-US" dirty="0"/>
              <a:t>检索：先找最相关，再去冗保多样。随后路由器裁剪掉无关工具与示例，交给提示编译自动排好</a:t>
            </a:r>
            <a:r>
              <a:rPr lang="en-US" altLang="zh-CN" dirty="0"/>
              <a:t>“</a:t>
            </a:r>
            <a:r>
              <a:rPr lang="zh-CN" altLang="en-US" dirty="0"/>
              <a:t>最短、最有用</a:t>
            </a:r>
            <a:r>
              <a:rPr lang="en-US" altLang="zh-CN" dirty="0"/>
              <a:t>”</a:t>
            </a:r>
            <a:r>
              <a:rPr lang="zh-CN" altLang="en-US" dirty="0"/>
              <a:t>的提示，让</a:t>
            </a:r>
            <a:r>
              <a:rPr lang="en-US" altLang="zh-CN" dirty="0"/>
              <a:t>LLM</a:t>
            </a:r>
            <a:r>
              <a:rPr lang="zh-CN" altLang="en-US" dirty="0"/>
              <a:t>直接生成绑定技能库的</a:t>
            </a:r>
            <a:r>
              <a:rPr lang="en-US" altLang="zh-CN" dirty="0"/>
              <a:t> Python</a:t>
            </a:r>
            <a:r>
              <a:rPr lang="zh-CN" altLang="en-US" dirty="0"/>
              <a:t>。评估上我们看关键</a:t>
            </a:r>
            <a:r>
              <a:rPr lang="en-US" altLang="zh-CN" dirty="0"/>
              <a:t>API</a:t>
            </a:r>
            <a:r>
              <a:rPr lang="zh-CN" altLang="en-US" dirty="0"/>
              <a:t>召回率</a:t>
            </a:r>
            <a:r>
              <a:rPr lang="en-US" altLang="zh-CN" dirty="0"/>
              <a:t>@K</a:t>
            </a:r>
            <a:r>
              <a:rPr lang="zh-CN" altLang="en-US" dirty="0"/>
              <a:t>、</a:t>
            </a:r>
            <a:r>
              <a:rPr lang="en-US" altLang="zh-CN" dirty="0"/>
              <a:t>SR/ESR</a:t>
            </a:r>
            <a:r>
              <a:rPr lang="zh-CN" altLang="en-US" dirty="0"/>
              <a:t>、</a:t>
            </a:r>
            <a:r>
              <a:rPr lang="en-US" altLang="zh-CN" dirty="0"/>
              <a:t>FT/BT</a:t>
            </a:r>
            <a:r>
              <a:rPr lang="zh-CN" altLang="en-US" dirty="0"/>
              <a:t>、延迟以及语法</a:t>
            </a:r>
            <a:r>
              <a:rPr lang="en-US" altLang="zh-CN" dirty="0"/>
              <a:t>/</a:t>
            </a:r>
            <a:r>
              <a:rPr lang="zh-CN" altLang="en-US" dirty="0"/>
              <a:t>未定义调用率，目标是在更短上下文里命中</a:t>
            </a:r>
            <a:r>
              <a:rPr lang="en-US" altLang="zh-CN" dirty="0"/>
              <a:t>“</a:t>
            </a:r>
            <a:r>
              <a:rPr lang="zh-CN" altLang="en-US" dirty="0"/>
              <a:t>最小必需子集</a:t>
            </a:r>
            <a:r>
              <a:rPr lang="en-US" altLang="zh-CN" dirty="0"/>
              <a:t>”</a:t>
            </a:r>
            <a:r>
              <a:rPr lang="zh-CN" altLang="en-US" dirty="0"/>
              <a:t>，稳住长序列执行。</a:t>
            </a:r>
            <a:endParaRPr lang="zh-CN" altLang="en-US" dirty="0"/>
          </a:p>
          <a:p>
            <a:br>
              <a:rPr lang="zh-CN" altLang="en-US" dirty="0"/>
            </a:br>
            <a:r>
              <a:rPr lang="en-US" altLang="zh-CN" dirty="0">
                <a:highlight>
                  <a:srgbClr val="FFFF00"/>
                </a:highlight>
              </a:rPr>
              <a:t>“</a:t>
            </a:r>
            <a:r>
              <a:rPr lang="zh-CN" altLang="en-US" dirty="0">
                <a:highlight>
                  <a:srgbClr val="FFFF00"/>
                </a:highlight>
              </a:rPr>
              <a:t>即时</a:t>
            </a:r>
            <a:r>
              <a:rPr lang="en-US" altLang="zh-CN" dirty="0">
                <a:highlight>
                  <a:srgbClr val="FFFF00"/>
                </a:highlight>
              </a:rPr>
              <a:t>+</a:t>
            </a:r>
            <a:r>
              <a:rPr lang="zh-CN" altLang="en-US" dirty="0">
                <a:highlight>
                  <a:srgbClr val="FFFF00"/>
                </a:highlight>
              </a:rPr>
              <a:t>少量召回</a:t>
            </a:r>
            <a:r>
              <a:rPr lang="en-US" altLang="zh-CN" dirty="0">
                <a:highlight>
                  <a:srgbClr val="FFFF00"/>
                </a:highlight>
              </a:rPr>
              <a:t>”</a:t>
            </a:r>
            <a:r>
              <a:rPr lang="zh-CN" altLang="en-US" dirty="0"/>
              <a:t>指运行时只把当前任务必需的小工作集直接放进提示（即时层，如：目标</a:t>
            </a:r>
            <a:r>
              <a:rPr lang="en-US" altLang="zh-CN" dirty="0"/>
              <a:t>/</a:t>
            </a:r>
            <a:r>
              <a:rPr lang="zh-CN" altLang="en-US" dirty="0"/>
              <a:t>约束、单位规范、关键</a:t>
            </a:r>
            <a:r>
              <a:rPr lang="en-US" altLang="zh-CN" dirty="0"/>
              <a:t>API</a:t>
            </a:r>
            <a:r>
              <a:rPr lang="zh-CN" altLang="en-US" dirty="0"/>
              <a:t>签名与安全规则、最近一次失败的参数</a:t>
            </a:r>
            <a:r>
              <a:rPr lang="en-US" altLang="zh-CN" dirty="0"/>
              <a:t>Δ</a:t>
            </a:r>
            <a:r>
              <a:rPr lang="zh-CN" altLang="en-US" dirty="0"/>
              <a:t>等），再从记忆库里检索极少量（如</a:t>
            </a:r>
            <a:r>
              <a:rPr lang="en-US" altLang="zh-CN" dirty="0"/>
              <a:t> k≈3–8</a:t>
            </a:r>
            <a:r>
              <a:rPr lang="zh-CN" altLang="en-US" dirty="0"/>
              <a:t>）最相关的示例</a:t>
            </a:r>
            <a:r>
              <a:rPr lang="en-US" altLang="zh-CN" dirty="0"/>
              <a:t>/</a:t>
            </a:r>
            <a:r>
              <a:rPr lang="zh-CN" altLang="en-US" dirty="0"/>
              <a:t>套路作为补充；其余大体量资料仍留在召回</a:t>
            </a:r>
            <a:r>
              <a:rPr lang="en-US" altLang="zh-CN" dirty="0"/>
              <a:t>/</a:t>
            </a:r>
            <a:r>
              <a:rPr lang="zh-CN" altLang="en-US" dirty="0"/>
              <a:t>归档层，按需索引。这样做的目的，是在不丢关键信息的前提下，显著压缩上下文长度、降低干扰与位置效应，并通过</a:t>
            </a:r>
            <a:r>
              <a:rPr lang="en-US" altLang="zh-CN" dirty="0"/>
              <a:t> Top-k+MMR </a:t>
            </a:r>
            <a:r>
              <a:rPr lang="zh-CN" altLang="en-US" dirty="0"/>
              <a:t>保证覆盖面与多样性。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dirty="0">
                <a:highlight>
                  <a:srgbClr val="FFFF00"/>
                </a:highlight>
              </a:rPr>
              <a:t>Immediate</a:t>
            </a:r>
            <a:r>
              <a:rPr lang="zh-CN" altLang="en-US" dirty="0">
                <a:highlight>
                  <a:srgbClr val="FFFF00"/>
                </a:highlight>
              </a:rPr>
              <a:t>：</a:t>
            </a:r>
            <a:r>
              <a:rPr lang="zh-CN" altLang="en-US" dirty="0"/>
              <a:t>当前任务立刻要用的一小撮</a:t>
            </a:r>
            <a:r>
              <a:rPr lang="en-US" altLang="zh-CN" dirty="0"/>
              <a:t>“</a:t>
            </a:r>
            <a:r>
              <a:rPr lang="zh-CN" altLang="en-US" dirty="0"/>
              <a:t>卡片</a:t>
            </a:r>
            <a:r>
              <a:rPr lang="en-US" altLang="zh-CN" dirty="0"/>
              <a:t>”</a:t>
            </a:r>
            <a:r>
              <a:rPr lang="zh-CN" altLang="en-US" dirty="0"/>
              <a:t>，如将要调用的</a:t>
            </a:r>
            <a:r>
              <a:rPr lang="en-US" altLang="zh-CN" dirty="0"/>
              <a:t>2–5</a:t>
            </a:r>
            <a:r>
              <a:rPr lang="zh-CN" altLang="en-US" dirty="0"/>
              <a:t>个</a:t>
            </a:r>
            <a:r>
              <a:rPr lang="en-US" altLang="zh-CN" dirty="0"/>
              <a:t>API</a:t>
            </a:r>
            <a:r>
              <a:rPr lang="zh-CN" altLang="en-US" dirty="0"/>
              <a:t>名字与参数边界、物体</a:t>
            </a:r>
            <a:r>
              <a:rPr lang="en-US" altLang="zh-CN" dirty="0"/>
              <a:t>/</a:t>
            </a:r>
            <a:r>
              <a:rPr lang="zh-CN" altLang="en-US" dirty="0"/>
              <a:t>工位状态、当步的前置条件和成功判定。</a:t>
            </a:r>
            <a:r>
              <a:rPr lang="en-US" altLang="zh-CN" dirty="0">
                <a:highlight>
                  <a:srgbClr val="FFFF00"/>
                </a:highlight>
              </a:rPr>
              <a:t>Recall</a:t>
            </a:r>
            <a:r>
              <a:rPr lang="zh-CN" altLang="en-US" dirty="0">
                <a:highlight>
                  <a:srgbClr val="FFFF00"/>
                </a:highlight>
              </a:rPr>
              <a:t>：</a:t>
            </a:r>
            <a:r>
              <a:rPr lang="zh-CN" altLang="en-US" dirty="0"/>
              <a:t>最近常用或刚学到的套路与示例、等价</a:t>
            </a:r>
            <a:r>
              <a:rPr lang="en-US" altLang="zh-CN" dirty="0"/>
              <a:t>API</a:t>
            </a:r>
            <a:r>
              <a:rPr lang="zh-CN" altLang="en-US" dirty="0"/>
              <a:t>备选、常见坑与修正（如</a:t>
            </a:r>
            <a:r>
              <a:rPr lang="en-US" altLang="zh-CN" dirty="0"/>
              <a:t>“</a:t>
            </a:r>
            <a:r>
              <a:rPr lang="zh-CN" altLang="en-US" dirty="0"/>
              <a:t>倒液易超量</a:t>
            </a:r>
            <a:r>
              <a:rPr lang="en-US" altLang="zh-CN" dirty="0"/>
              <a:t>”</a:t>
            </a:r>
            <a:r>
              <a:rPr lang="zh-CN" altLang="en-US" dirty="0"/>
              <a:t>的调参经验）。</a:t>
            </a:r>
            <a:r>
              <a:rPr lang="en-US" altLang="zh-CN" dirty="0">
                <a:highlight>
                  <a:srgbClr val="FFFF00"/>
                </a:highlight>
              </a:rPr>
              <a:t>Archive</a:t>
            </a:r>
            <a:r>
              <a:rPr lang="zh-CN" altLang="en-US" dirty="0">
                <a:highlight>
                  <a:srgbClr val="FFFF00"/>
                </a:highlight>
              </a:rPr>
              <a:t>：</a:t>
            </a:r>
            <a:r>
              <a:rPr lang="zh-CN" altLang="en-US" dirty="0"/>
              <a:t>完整长库与历史日志，含全部</a:t>
            </a:r>
            <a:r>
              <a:rPr lang="en-US" altLang="zh-CN" dirty="0"/>
              <a:t>API</a:t>
            </a:r>
            <a:r>
              <a:rPr lang="zh-CN" altLang="en-US" dirty="0"/>
              <a:t>说明、较长示例脚本、传感器阈值与评测记录等，平时不加载，按需检索再抽到前两层用。</a:t>
            </a:r>
            <a:br>
              <a:rPr lang="zh-CN" altLang="en-US" dirty="0"/>
            </a:br>
            <a:br>
              <a:rPr lang="zh-CN" altLang="en-US" dirty="0"/>
            </a:br>
            <a:r>
              <a:rPr lang="zh-CN" altLang="en-US" dirty="0">
                <a:highlight>
                  <a:srgbClr val="FFFF00"/>
                </a:highlight>
              </a:rPr>
              <a:t>成功率</a:t>
            </a:r>
            <a:r>
              <a:rPr lang="en-US" altLang="zh-CN" dirty="0">
                <a:highlight>
                  <a:srgbClr val="FFFF00"/>
                </a:highlight>
              </a:rPr>
              <a:t>SR</a:t>
            </a:r>
            <a:r>
              <a:rPr lang="zh-CN" altLang="en-US" dirty="0"/>
              <a:t>＝一次到位的比例，</a:t>
            </a:r>
            <a:r>
              <a:rPr lang="zh-CN" altLang="en-US" dirty="0">
                <a:highlight>
                  <a:srgbClr val="FFFF00"/>
                </a:highlight>
              </a:rPr>
              <a:t>端到端成功率</a:t>
            </a:r>
            <a:r>
              <a:rPr lang="en-US" altLang="zh-CN" dirty="0">
                <a:highlight>
                  <a:srgbClr val="FFFF00"/>
                </a:highlight>
              </a:rPr>
              <a:t>ESR</a:t>
            </a:r>
            <a:r>
              <a:rPr lang="zh-CN" altLang="en-US" dirty="0"/>
              <a:t>＝从头到尾一次全程通过，</a:t>
            </a:r>
            <a:r>
              <a:rPr lang="zh-CN" altLang="en-US" dirty="0">
                <a:highlight>
                  <a:srgbClr val="FFFF00"/>
                </a:highlight>
              </a:rPr>
              <a:t>恢复后成功率</a:t>
            </a:r>
            <a:r>
              <a:rPr lang="en-US" altLang="zh-CN" dirty="0">
                <a:highlight>
                  <a:srgbClr val="FFFF00"/>
                </a:highlight>
              </a:rPr>
              <a:t>ASR</a:t>
            </a:r>
            <a:r>
              <a:rPr lang="zh-CN" altLang="en-US" dirty="0"/>
              <a:t>＝出错后纠正还能成的比例；</a:t>
            </a:r>
            <a:r>
              <a:rPr lang="zh-CN" altLang="en-US" dirty="0">
                <a:highlight>
                  <a:srgbClr val="FFFF00"/>
                </a:highlight>
              </a:rPr>
              <a:t>学习迁移：</a:t>
            </a:r>
            <a:r>
              <a:rPr lang="en-US" altLang="zh-CN" dirty="0">
                <a:highlight>
                  <a:srgbClr val="FFFF00"/>
                </a:highlight>
              </a:rPr>
              <a:t>FT</a:t>
            </a:r>
            <a:r>
              <a:rPr lang="zh-CN" altLang="en-US" dirty="0"/>
              <a:t>（学</a:t>
            </a:r>
            <a:r>
              <a:rPr lang="en-US" altLang="zh-CN" dirty="0"/>
              <a:t>A</a:t>
            </a:r>
            <a:r>
              <a:rPr lang="zh-CN" altLang="en-US" dirty="0"/>
              <a:t>后做</a:t>
            </a:r>
            <a:r>
              <a:rPr lang="en-US" altLang="zh-CN" dirty="0"/>
              <a:t>B</a:t>
            </a:r>
            <a:r>
              <a:rPr lang="zh-CN" altLang="en-US" dirty="0"/>
              <a:t>更顺）、</a:t>
            </a:r>
            <a:r>
              <a:rPr lang="en-US" altLang="zh-CN" dirty="0">
                <a:highlight>
                  <a:srgbClr val="FFFF00"/>
                </a:highlight>
              </a:rPr>
              <a:t>BT</a:t>
            </a:r>
            <a:r>
              <a:rPr lang="zh-CN" altLang="en-US" dirty="0">
                <a:highlight>
                  <a:srgbClr val="FFFF00"/>
                </a:highlight>
              </a:rPr>
              <a:t>（学</a:t>
            </a:r>
            <a:r>
              <a:rPr lang="en-US" altLang="zh-CN" dirty="0">
                <a:highlight>
                  <a:srgbClr val="FFFF00"/>
                </a:highlight>
              </a:rPr>
              <a:t>B</a:t>
            </a:r>
            <a:r>
              <a:rPr lang="zh-CN" altLang="en-US" dirty="0">
                <a:highlight>
                  <a:srgbClr val="FFFF00"/>
                </a:highlight>
              </a:rPr>
              <a:t>不把</a:t>
            </a:r>
            <a:r>
              <a:rPr lang="en-US" altLang="zh-CN" dirty="0">
                <a:highlight>
                  <a:srgbClr val="FFFF00"/>
                </a:highlight>
              </a:rPr>
              <a:t>A</a:t>
            </a:r>
            <a:r>
              <a:rPr lang="zh-CN" altLang="en-US" dirty="0"/>
              <a:t>搞坏）；</a:t>
            </a:r>
            <a:r>
              <a:rPr lang="zh-CN" altLang="en-US" dirty="0">
                <a:highlight>
                  <a:srgbClr val="FFFF00"/>
                </a:highlight>
              </a:rPr>
              <a:t>检索</a:t>
            </a:r>
            <a:r>
              <a:rPr lang="en-US" altLang="zh-CN" dirty="0">
                <a:highlight>
                  <a:srgbClr val="FFFF00"/>
                </a:highlight>
              </a:rPr>
              <a:t>/</a:t>
            </a:r>
            <a:r>
              <a:rPr lang="zh-CN" altLang="en-US" dirty="0">
                <a:highlight>
                  <a:srgbClr val="FFFF00"/>
                </a:highlight>
              </a:rPr>
              <a:t>记忆：</a:t>
            </a:r>
            <a:r>
              <a:rPr lang="zh-CN" altLang="en-US" dirty="0"/>
              <a:t>关键</a:t>
            </a:r>
            <a:r>
              <a:rPr lang="en-US" altLang="zh-CN" dirty="0"/>
              <a:t>API Recall@K</a:t>
            </a:r>
            <a:r>
              <a:rPr lang="zh-CN" altLang="en-US" dirty="0"/>
              <a:t>（能不能把对的</a:t>
            </a:r>
            <a:r>
              <a:rPr lang="en-US" altLang="zh-CN" dirty="0"/>
              <a:t>“</a:t>
            </a:r>
            <a:r>
              <a:rPr lang="zh-CN" altLang="en-US" dirty="0"/>
              <a:t>卡片</a:t>
            </a:r>
            <a:r>
              <a:rPr lang="en-US" altLang="zh-CN" dirty="0"/>
              <a:t>”</a:t>
            </a:r>
            <a:r>
              <a:rPr lang="zh-CN" altLang="en-US" dirty="0"/>
              <a:t>取出来）、提示长度是否精简；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10E0B-E88D-4395-BE52-CC4BCF8210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这是我们已完成的前期工作：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左侧是</a:t>
            </a:r>
            <a:r>
              <a:rPr lang="en-US" altLang="zh-CN" dirty="0">
                <a:sym typeface="+mn-ea"/>
              </a:rPr>
              <a:t>RIO</a:t>
            </a:r>
            <a:r>
              <a:rPr lang="zh-CN" altLang="en-US" dirty="0">
                <a:sym typeface="+mn-ea"/>
              </a:rPr>
              <a:t>区域监测：为夹爪、台面等设定感兴趣区，做占用检测与高度分布；下方是歧义指令检测，当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把瓶子放进盒子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这类描述不明确时，系统给出候选并追问；右侧为部分</a:t>
            </a:r>
            <a:r>
              <a:rPr lang="en-US" altLang="zh-CN" dirty="0">
                <a:sym typeface="+mn-ea"/>
              </a:rPr>
              <a:t>API</a:t>
            </a:r>
            <a:r>
              <a:rPr lang="zh-CN" altLang="en-US" dirty="0">
                <a:sym typeface="+mn-ea"/>
              </a:rPr>
              <a:t>测试，这些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带监测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带重试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的原语后续可被多</a:t>
            </a:r>
            <a:r>
              <a:rPr lang="en-US" altLang="zh-CN" dirty="0">
                <a:sym typeface="+mn-ea"/>
              </a:rPr>
              <a:t>LLM</a:t>
            </a:r>
            <a:r>
              <a:rPr lang="zh-CN" altLang="en-US" dirty="0">
                <a:sym typeface="+mn-ea"/>
              </a:rPr>
              <a:t>规划直接调用，保证执行链路可回滚。接下来我展示这些原语在仿真与实机上的闭环效果。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包括</a:t>
            </a:r>
            <a:r>
              <a:rPr lang="en-US" altLang="zh-CN" dirty="0">
                <a:sym typeface="+mn-ea"/>
              </a:rPr>
              <a:t>move_slow</a:t>
            </a:r>
            <a:r>
              <a:rPr lang="zh-CN" altLang="en-US" dirty="0">
                <a:sym typeface="+mn-ea"/>
              </a:rPr>
              <a:t>与</a:t>
            </a:r>
            <a:r>
              <a:rPr lang="en-US" altLang="zh-CN" dirty="0">
                <a:sym typeface="+mn-ea"/>
              </a:rPr>
              <a:t>move_with_monitoring</a:t>
            </a:r>
            <a:r>
              <a:rPr lang="zh-CN" altLang="en-US" dirty="0">
                <a:sym typeface="+mn-ea"/>
              </a:rPr>
              <a:t>（带速度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间隔与在线检查）、</a:t>
            </a:r>
            <a:r>
              <a:rPr lang="en-US" altLang="zh-CN" dirty="0">
                <a:sym typeface="+mn-ea"/>
              </a:rPr>
              <a:t>grab_with_retry</a:t>
            </a:r>
            <a:r>
              <a:rPr lang="zh-CN" altLang="en-US" dirty="0">
                <a:sym typeface="+mn-ea"/>
              </a:rPr>
              <a:t>（自动重试）、以及</a:t>
            </a:r>
            <a:r>
              <a:rPr lang="en-US" altLang="zh-CN" dirty="0">
                <a:sym typeface="+mn-ea"/>
              </a:rPr>
              <a:t>pick_and_place_verified</a:t>
            </a:r>
            <a:r>
              <a:rPr lang="zh-CN" altLang="en-US" dirty="0">
                <a:sym typeface="+mn-ea"/>
              </a:rPr>
              <a:t>（自带验证的取放）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10E0B-E88D-4395-BE52-CC4BCF8210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给出三类验证画面。首先是二次重试：抓取或放置失败后由监控器触发重试策略，重复执行到达成功阈值或进入回滚分支；第二是修正抓取位姿：基于目标偏差，在线微调位姿，从而降低因初始误差导致的失败；第三是单臂实机实验：在真实场景完成长序列任务的闭环演示，证明基于策略代码生成的方法在长序列任务的层面的</a:t>
            </a:r>
            <a:r>
              <a:rPr lang="zh-CN" altLang="en-US" dirty="0"/>
              <a:t>可行性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10E0B-E88D-4395-BE52-CC4BCF8210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预期三方面产出：构建可验证双臂控制</a:t>
            </a:r>
            <a:r>
              <a:rPr lang="en-US" altLang="zh-CN" dirty="0"/>
              <a:t>——</a:t>
            </a:r>
            <a:r>
              <a:rPr lang="zh-CN" altLang="en-US" dirty="0"/>
              <a:t>大脑分解并</a:t>
            </a:r>
            <a:r>
              <a:rPr lang="en-US" altLang="zh-CN" dirty="0"/>
              <a:t>/</a:t>
            </a:r>
            <a:r>
              <a:rPr lang="zh-CN" altLang="en-US" dirty="0"/>
              <a:t>串行、设前置与</a:t>
            </a:r>
            <a:r>
              <a:rPr lang="en-US" altLang="zh-CN" dirty="0"/>
              <a:t>VSV</a:t>
            </a:r>
            <a:r>
              <a:rPr lang="zh-CN" altLang="en-US" dirty="0"/>
              <a:t>，两小脑并行执行；配套分层记忆与路由，只取最小必需集，缓解提示性遗忘；结合影响分析与</a:t>
            </a:r>
            <a:r>
              <a:rPr lang="en-US" altLang="zh-CN" dirty="0"/>
              <a:t>Retry/Correction</a:t>
            </a:r>
            <a:r>
              <a:rPr lang="zh-CN" altLang="en-US" dirty="0"/>
              <a:t>，支持回滚重试与经验写回。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10E0B-E88D-4395-BE52-CC4BCF8210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明年下半年打通单臂闭环并投稿；明年</a:t>
            </a:r>
            <a:r>
              <a:rPr lang="zh-CN" altLang="en-US" dirty="0"/>
              <a:t>上半年搭建双臂仿真与</a:t>
            </a:r>
            <a:r>
              <a:rPr lang="en-US" altLang="zh-CN" dirty="0"/>
              <a:t>API</a:t>
            </a:r>
            <a:r>
              <a:rPr lang="zh-CN" altLang="en-US" dirty="0"/>
              <a:t>库、微调多</a:t>
            </a:r>
            <a:r>
              <a:rPr lang="en-US" altLang="zh-CN" dirty="0"/>
              <a:t>LLM</a:t>
            </a:r>
            <a:r>
              <a:rPr lang="zh-CN" altLang="en-US" dirty="0"/>
              <a:t>与路由器，完成对照；随后扩展实验与消融，收束论文与毕业。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10E0B-E88D-4395-BE52-CC4BCF8210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D86AC2-4E2B-455C-A796-3AC65089000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hyperlink" Target="http://www.neurcl.cn/" TargetMode="External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png"/><Relationship Id="rId7" Type="http://schemas.openxmlformats.org/officeDocument/2006/relationships/image" Target="../media/image5.png"/><Relationship Id="rId6" Type="http://schemas.openxmlformats.org/officeDocument/2006/relationships/image" Target="../media/image4.png"/><Relationship Id="rId5" Type="http://schemas.openxmlformats.org/officeDocument/2006/relationships/hyperlink" Target="http://www.neurcl.cn/" TargetMode="Externa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microsoft.com/office/2007/relationships/hdphoto" Target="../media/image3.wdp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webp"/><Relationship Id="rId7" Type="http://schemas.openxmlformats.org/officeDocument/2006/relationships/image" Target="../media/image4.png"/><Relationship Id="rId6" Type="http://schemas.openxmlformats.org/officeDocument/2006/relationships/hyperlink" Target="http://www.neurcl.cn/" TargetMode="Externa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4.png"/><Relationship Id="rId5" Type="http://schemas.openxmlformats.org/officeDocument/2006/relationships/hyperlink" Target="http://www.neurcl.cn/" TargetMode="Externa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microsoft.com/office/2007/relationships/hdphoto" Target="../media/image3.wdp"/><Relationship Id="rId16" Type="http://schemas.openxmlformats.org/officeDocument/2006/relationships/notesSlide" Target="../notesSlides/notesSlide5.x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20.png"/><Relationship Id="rId13" Type="http://schemas.openxmlformats.org/officeDocument/2006/relationships/image" Target="../media/image19.png"/><Relationship Id="rId12" Type="http://schemas.openxmlformats.org/officeDocument/2006/relationships/image" Target="../media/image18.png"/><Relationship Id="rId11" Type="http://schemas.openxmlformats.org/officeDocument/2006/relationships/tags" Target="../tags/tag71.xml"/><Relationship Id="rId10" Type="http://schemas.openxmlformats.org/officeDocument/2006/relationships/image" Target="../media/image17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hyperlink" Target="http://www.neurcl.cn/" TargetMode="Externa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image" Target="../media/image22.png"/><Relationship Id="rId7" Type="http://schemas.openxmlformats.org/officeDocument/2006/relationships/image" Target="../media/image4.png"/><Relationship Id="rId6" Type="http://schemas.openxmlformats.org/officeDocument/2006/relationships/hyperlink" Target="http://www.neurcl.cn/" TargetMode="External"/><Relationship Id="rId5" Type="http://schemas.openxmlformats.org/officeDocument/2006/relationships/tags" Target="../tags/tag75.xml"/><Relationship Id="rId41" Type="http://schemas.openxmlformats.org/officeDocument/2006/relationships/notesSlide" Target="../notesSlides/notesSlide7.xml"/><Relationship Id="rId40" Type="http://schemas.openxmlformats.org/officeDocument/2006/relationships/slideLayout" Target="../slideLayouts/slideLayout7.xml"/><Relationship Id="rId4" Type="http://schemas.openxmlformats.org/officeDocument/2006/relationships/tags" Target="../tags/tag74.xml"/><Relationship Id="rId39" Type="http://schemas.openxmlformats.org/officeDocument/2006/relationships/image" Target="../media/image43.png"/><Relationship Id="rId38" Type="http://schemas.openxmlformats.org/officeDocument/2006/relationships/image" Target="../media/image42.svg"/><Relationship Id="rId37" Type="http://schemas.openxmlformats.org/officeDocument/2006/relationships/image" Target="../media/image41.png"/><Relationship Id="rId36" Type="http://schemas.openxmlformats.org/officeDocument/2006/relationships/image" Target="../media/image40.png"/><Relationship Id="rId35" Type="http://schemas.openxmlformats.org/officeDocument/2006/relationships/image" Target="../media/image39.png"/><Relationship Id="rId34" Type="http://schemas.microsoft.com/office/2007/relationships/diagramDrawing" Target="../diagrams/drawing2.xml"/><Relationship Id="rId33" Type="http://schemas.openxmlformats.org/officeDocument/2006/relationships/diagramColors" Target="../diagrams/colors2.xml"/><Relationship Id="rId32" Type="http://schemas.openxmlformats.org/officeDocument/2006/relationships/diagramQuickStyle" Target="../diagrams/quickStyle2.xml"/><Relationship Id="rId31" Type="http://schemas.openxmlformats.org/officeDocument/2006/relationships/diagramLayout" Target="../diagrams/layout2.xml"/><Relationship Id="rId30" Type="http://schemas.openxmlformats.org/officeDocument/2006/relationships/diagramData" Target="../diagrams/data2.xml"/><Relationship Id="rId3" Type="http://schemas.microsoft.com/office/2007/relationships/hdphoto" Target="../media/image3.wdp"/><Relationship Id="rId29" Type="http://schemas.microsoft.com/office/2007/relationships/diagramDrawing" Target="../diagrams/drawing1.xml"/><Relationship Id="rId28" Type="http://schemas.openxmlformats.org/officeDocument/2006/relationships/diagramColors" Target="../diagrams/colors1.xml"/><Relationship Id="rId27" Type="http://schemas.openxmlformats.org/officeDocument/2006/relationships/diagramQuickStyle" Target="../diagrams/quickStyle1.xml"/><Relationship Id="rId26" Type="http://schemas.openxmlformats.org/officeDocument/2006/relationships/diagramLayout" Target="../diagrams/layout1.xml"/><Relationship Id="rId25" Type="http://schemas.openxmlformats.org/officeDocument/2006/relationships/diagramData" Target="../diagrams/data1.xml"/><Relationship Id="rId24" Type="http://schemas.openxmlformats.org/officeDocument/2006/relationships/image" Target="../media/image38.png"/><Relationship Id="rId23" Type="http://schemas.openxmlformats.org/officeDocument/2006/relationships/image" Target="../media/image37.png"/><Relationship Id="rId22" Type="http://schemas.openxmlformats.org/officeDocument/2006/relationships/image" Target="../media/image36.png"/><Relationship Id="rId21" Type="http://schemas.openxmlformats.org/officeDocument/2006/relationships/image" Target="../media/image35.png"/><Relationship Id="rId20" Type="http://schemas.openxmlformats.org/officeDocument/2006/relationships/image" Target="../media/image34.png"/><Relationship Id="rId2" Type="http://schemas.openxmlformats.org/officeDocument/2006/relationships/image" Target="../media/image2.png"/><Relationship Id="rId19" Type="http://schemas.openxmlformats.org/officeDocument/2006/relationships/image" Target="../media/image33.png"/><Relationship Id="rId18" Type="http://schemas.openxmlformats.org/officeDocument/2006/relationships/image" Target="../media/image32.png"/><Relationship Id="rId17" Type="http://schemas.openxmlformats.org/officeDocument/2006/relationships/image" Target="../media/image31.png"/><Relationship Id="rId16" Type="http://schemas.openxmlformats.org/officeDocument/2006/relationships/image" Target="../media/image30.png"/><Relationship Id="rId15" Type="http://schemas.openxmlformats.org/officeDocument/2006/relationships/image" Target="../media/image29.png"/><Relationship Id="rId14" Type="http://schemas.openxmlformats.org/officeDocument/2006/relationships/image" Target="../media/image28.png"/><Relationship Id="rId13" Type="http://schemas.openxmlformats.org/officeDocument/2006/relationships/image" Target="../media/image27.png"/><Relationship Id="rId12" Type="http://schemas.openxmlformats.org/officeDocument/2006/relationships/image" Target="../media/image26.png"/><Relationship Id="rId11" Type="http://schemas.openxmlformats.org/officeDocument/2006/relationships/image" Target="../media/image25.png"/><Relationship Id="rId10" Type="http://schemas.openxmlformats.org/officeDocument/2006/relationships/image" Target="../media/image24.svg"/><Relationship Id="rId1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6.svg"/><Relationship Id="rId8" Type="http://schemas.openxmlformats.org/officeDocument/2006/relationships/image" Target="../media/image45.png"/><Relationship Id="rId7" Type="http://schemas.openxmlformats.org/officeDocument/2006/relationships/image" Target="../media/image44.png"/><Relationship Id="rId6" Type="http://schemas.openxmlformats.org/officeDocument/2006/relationships/image" Target="../media/image4.png"/><Relationship Id="rId5" Type="http://schemas.openxmlformats.org/officeDocument/2006/relationships/hyperlink" Target="http://www.neurcl.cn/" TargetMode="External"/><Relationship Id="rId4" Type="http://schemas.openxmlformats.org/officeDocument/2006/relationships/tags" Target="../tags/tag77.xml"/><Relationship Id="rId36" Type="http://schemas.openxmlformats.org/officeDocument/2006/relationships/notesSlide" Target="../notesSlides/notesSlide8.xml"/><Relationship Id="rId35" Type="http://schemas.openxmlformats.org/officeDocument/2006/relationships/slideLayout" Target="../slideLayouts/slideLayout7.xml"/><Relationship Id="rId34" Type="http://schemas.openxmlformats.org/officeDocument/2006/relationships/image" Target="../media/image66.svg"/><Relationship Id="rId33" Type="http://schemas.openxmlformats.org/officeDocument/2006/relationships/image" Target="../media/image65.png"/><Relationship Id="rId32" Type="http://schemas.openxmlformats.org/officeDocument/2006/relationships/image" Target="../media/image64.svg"/><Relationship Id="rId31" Type="http://schemas.openxmlformats.org/officeDocument/2006/relationships/tags" Target="../tags/tag79.xml"/><Relationship Id="rId30" Type="http://schemas.openxmlformats.org/officeDocument/2006/relationships/tags" Target="../tags/tag78.xml"/><Relationship Id="rId3" Type="http://schemas.openxmlformats.org/officeDocument/2006/relationships/tags" Target="../tags/tag76.xml"/><Relationship Id="rId29" Type="http://schemas.openxmlformats.org/officeDocument/2006/relationships/image" Target="../media/image63.png"/><Relationship Id="rId28" Type="http://schemas.openxmlformats.org/officeDocument/2006/relationships/image" Target="../media/image62.svg"/><Relationship Id="rId27" Type="http://schemas.openxmlformats.org/officeDocument/2006/relationships/image" Target="../media/image61.png"/><Relationship Id="rId26" Type="http://schemas.openxmlformats.org/officeDocument/2006/relationships/image" Target="../media/image60.svg"/><Relationship Id="rId25" Type="http://schemas.openxmlformats.org/officeDocument/2006/relationships/image" Target="../media/image59.png"/><Relationship Id="rId24" Type="http://schemas.openxmlformats.org/officeDocument/2006/relationships/image" Target="../media/image58.png"/><Relationship Id="rId23" Type="http://schemas.openxmlformats.org/officeDocument/2006/relationships/image" Target="../media/image57.png"/><Relationship Id="rId22" Type="http://schemas.openxmlformats.org/officeDocument/2006/relationships/image" Target="../media/image20.png"/><Relationship Id="rId21" Type="http://schemas.openxmlformats.org/officeDocument/2006/relationships/image" Target="../media/image56.png"/><Relationship Id="rId20" Type="http://schemas.openxmlformats.org/officeDocument/2006/relationships/image" Target="../media/image55.svg"/><Relationship Id="rId2" Type="http://schemas.microsoft.com/office/2007/relationships/hdphoto" Target="../media/image3.wdp"/><Relationship Id="rId19" Type="http://schemas.openxmlformats.org/officeDocument/2006/relationships/image" Target="../media/image54.png"/><Relationship Id="rId18" Type="http://schemas.openxmlformats.org/officeDocument/2006/relationships/image" Target="../media/image53.svg"/><Relationship Id="rId17" Type="http://schemas.openxmlformats.org/officeDocument/2006/relationships/image" Target="../media/image52.png"/><Relationship Id="rId16" Type="http://schemas.openxmlformats.org/officeDocument/2006/relationships/image" Target="../media/image51.svg"/><Relationship Id="rId15" Type="http://schemas.openxmlformats.org/officeDocument/2006/relationships/image" Target="../media/image50.png"/><Relationship Id="rId14" Type="http://schemas.openxmlformats.org/officeDocument/2006/relationships/image" Target="../media/image49.svg"/><Relationship Id="rId13" Type="http://schemas.openxmlformats.org/officeDocument/2006/relationships/image" Target="../media/image48.png"/><Relationship Id="rId12" Type="http://schemas.openxmlformats.org/officeDocument/2006/relationships/image" Target="../media/image18.png"/><Relationship Id="rId11" Type="http://schemas.openxmlformats.org/officeDocument/2006/relationships/image" Target="../media/image47.svg"/><Relationship Id="rId10" Type="http://schemas.openxmlformats.org/officeDocument/2006/relationships/image" Target="../media/image4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84.xml"/><Relationship Id="rId8" Type="http://schemas.openxmlformats.org/officeDocument/2006/relationships/tags" Target="../tags/tag83.xml"/><Relationship Id="rId7" Type="http://schemas.openxmlformats.org/officeDocument/2006/relationships/tags" Target="../tags/tag82.xml"/><Relationship Id="rId6" Type="http://schemas.openxmlformats.org/officeDocument/2006/relationships/image" Target="../media/image4.png"/><Relationship Id="rId5" Type="http://schemas.openxmlformats.org/officeDocument/2006/relationships/hyperlink" Target="http://www.neurcl.cn/" TargetMode="Externa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2" Type="http://schemas.openxmlformats.org/officeDocument/2006/relationships/notesSlide" Target="../notesSlides/notesSlide9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95.xml"/><Relationship Id="rId2" Type="http://schemas.microsoft.com/office/2007/relationships/hdphoto" Target="../media/image3.wdp"/><Relationship Id="rId19" Type="http://schemas.openxmlformats.org/officeDocument/2006/relationships/tags" Target="../tags/tag94.xml"/><Relationship Id="rId18" Type="http://schemas.openxmlformats.org/officeDocument/2006/relationships/tags" Target="../tags/tag93.xml"/><Relationship Id="rId17" Type="http://schemas.openxmlformats.org/officeDocument/2006/relationships/tags" Target="../tags/tag92.xml"/><Relationship Id="rId16" Type="http://schemas.openxmlformats.org/officeDocument/2006/relationships/tags" Target="../tags/tag91.xml"/><Relationship Id="rId15" Type="http://schemas.openxmlformats.org/officeDocument/2006/relationships/tags" Target="../tags/tag90.xml"/><Relationship Id="rId14" Type="http://schemas.openxmlformats.org/officeDocument/2006/relationships/tags" Target="../tags/tag89.xml"/><Relationship Id="rId13" Type="http://schemas.openxmlformats.org/officeDocument/2006/relationships/tags" Target="../tags/tag88.xml"/><Relationship Id="rId12" Type="http://schemas.openxmlformats.org/officeDocument/2006/relationships/tags" Target="../tags/tag87.xml"/><Relationship Id="rId11" Type="http://schemas.openxmlformats.org/officeDocument/2006/relationships/tags" Target="../tags/tag86.xml"/><Relationship Id="rId10" Type="http://schemas.openxmlformats.org/officeDocument/2006/relationships/tags" Target="../tags/tag85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69.png"/><Relationship Id="rId8" Type="http://schemas.openxmlformats.org/officeDocument/2006/relationships/image" Target="../media/image68.png"/><Relationship Id="rId7" Type="http://schemas.openxmlformats.org/officeDocument/2006/relationships/image" Target="../media/image67.png"/><Relationship Id="rId6" Type="http://schemas.openxmlformats.org/officeDocument/2006/relationships/image" Target="../media/image4.png"/><Relationship Id="rId5" Type="http://schemas.openxmlformats.org/officeDocument/2006/relationships/hyperlink" Target="http://www.neurcl.cn/" TargetMode="Externa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microsoft.com/office/2007/relationships/hdphoto" Target="../media/image3.wdp"/><Relationship Id="rId16" Type="http://schemas.openxmlformats.org/officeDocument/2006/relationships/notesSlide" Target="../notesSlides/notesSlide10.x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74.png"/><Relationship Id="rId13" Type="http://schemas.openxmlformats.org/officeDocument/2006/relationships/image" Target="../media/image73.png"/><Relationship Id="rId12" Type="http://schemas.openxmlformats.org/officeDocument/2006/relationships/image" Target="../media/image72.png"/><Relationship Id="rId11" Type="http://schemas.openxmlformats.org/officeDocument/2006/relationships/image" Target="../media/image71.png"/><Relationship Id="rId10" Type="http://schemas.openxmlformats.org/officeDocument/2006/relationships/image" Target="../media/image70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00.xml"/><Relationship Id="rId8" Type="http://schemas.microsoft.com/office/2007/relationships/media" Target="../media/media1.mp4"/><Relationship Id="rId7" Type="http://schemas.openxmlformats.org/officeDocument/2006/relationships/video" Target="../media/media1.mp4"/><Relationship Id="rId6" Type="http://schemas.openxmlformats.org/officeDocument/2006/relationships/image" Target="../media/image4.png"/><Relationship Id="rId5" Type="http://schemas.openxmlformats.org/officeDocument/2006/relationships/hyperlink" Target="http://www.neurcl.cn/" TargetMode="External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0" Type="http://schemas.openxmlformats.org/officeDocument/2006/relationships/notesSlide" Target="../notesSlides/notesSlide11.xml"/><Relationship Id="rId2" Type="http://schemas.microsoft.com/office/2007/relationships/hdphoto" Target="../media/image3.wdp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77.png"/><Relationship Id="rId17" Type="http://schemas.openxmlformats.org/officeDocument/2006/relationships/tags" Target="../tags/tag102.xml"/><Relationship Id="rId16" Type="http://schemas.microsoft.com/office/2007/relationships/media" Target="../media/media3.mp4"/><Relationship Id="rId15" Type="http://schemas.openxmlformats.org/officeDocument/2006/relationships/video" Target="../media/media3.mp4"/><Relationship Id="rId14" Type="http://schemas.openxmlformats.org/officeDocument/2006/relationships/image" Target="../media/image76.png"/><Relationship Id="rId13" Type="http://schemas.openxmlformats.org/officeDocument/2006/relationships/tags" Target="../tags/tag101.xml"/><Relationship Id="rId12" Type="http://schemas.microsoft.com/office/2007/relationships/media" Target="../media/media2.mp4"/><Relationship Id="rId11" Type="http://schemas.openxmlformats.org/officeDocument/2006/relationships/video" Target="../media/media2.mp4"/><Relationship Id="rId10" Type="http://schemas.openxmlformats.org/officeDocument/2006/relationships/image" Target="../media/image75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hyperlink" Target="http://www.neurcl.cn/" TargetMode="External"/><Relationship Id="rId4" Type="http://schemas.openxmlformats.org/officeDocument/2006/relationships/tags" Target="../tags/tag104.xml"/><Relationship Id="rId3" Type="http://schemas.openxmlformats.org/officeDocument/2006/relationships/tags" Target="../tags/tag103.xml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108.xml"/><Relationship Id="rId7" Type="http://schemas.openxmlformats.org/officeDocument/2006/relationships/tags" Target="../tags/tag107.xml"/><Relationship Id="rId6" Type="http://schemas.openxmlformats.org/officeDocument/2006/relationships/image" Target="../media/image4.png"/><Relationship Id="rId5" Type="http://schemas.openxmlformats.org/officeDocument/2006/relationships/hyperlink" Target="http://www.neurcl.cn/" TargetMode="Externa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microsoft.com/office/2007/relationships/hdphoto" Target="../media/image3.wdp"/><Relationship Id="rId10" Type="http://schemas.openxmlformats.org/officeDocument/2006/relationships/notesSlide" Target="../notesSlides/notesSlide13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0.png"/><Relationship Id="rId3" Type="http://schemas.openxmlformats.org/officeDocument/2006/relationships/tags" Target="../tags/tag109.xml"/><Relationship Id="rId2" Type="http://schemas.openxmlformats.org/officeDocument/2006/relationships/image" Target="../media/image79.png"/><Relationship Id="rId1" Type="http://schemas.openxmlformats.org/officeDocument/2006/relationships/image" Target="../media/image7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24000" y="1785226"/>
            <a:ext cx="9144000" cy="230695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面向长序列任务的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智能体控制策略研究</a:t>
            </a:r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Research on Agent Control Strategies for Long Sequence Tasks</a:t>
            </a:r>
            <a:endParaRPr lang="en-US" altLang="zh-CN" sz="32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077" name="文本框 4"/>
          <p:cNvSpPr txBox="1">
            <a:spLocks noChangeArrowheads="1"/>
          </p:cNvSpPr>
          <p:nvPr/>
        </p:nvSpPr>
        <p:spPr bwMode="auto">
          <a:xfrm>
            <a:off x="1396141" y="4909389"/>
            <a:ext cx="9144000" cy="2306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答辩人：张晓鹏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学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号：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2402166</a:t>
            </a:r>
            <a:endParaRPr lang="en-US" altLang="zh-CN" sz="24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导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 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师：贾子熙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US" altLang="zh-CN" sz="24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3078" name="Picture 1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36" y="0"/>
            <a:ext cx="25781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直接连接符 8"/>
          <p:cNvCxnSpPr/>
          <p:nvPr/>
        </p:nvCxnSpPr>
        <p:spPr bwMode="auto">
          <a:xfrm>
            <a:off x="119336" y="4509120"/>
            <a:ext cx="11953328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403860" y="219710"/>
            <a:ext cx="11668760" cy="788670"/>
            <a:chOff x="420" y="-48"/>
            <a:chExt cx="18376" cy="1242"/>
          </a:xfrm>
        </p:grpSpPr>
        <p:grpSp>
          <p:nvGrpSpPr>
            <p:cNvPr id="29" name="组合 28"/>
            <p:cNvGrpSpPr/>
            <p:nvPr/>
          </p:nvGrpSpPr>
          <p:grpSpPr>
            <a:xfrm>
              <a:off x="13519" y="-48"/>
              <a:ext cx="5277" cy="895"/>
              <a:chOff x="8607830" y="-93113"/>
              <a:chExt cx="3350688" cy="570305"/>
            </a:xfrm>
          </p:grpSpPr>
          <p:sp>
            <p:nvSpPr>
              <p:cNvPr id="5" name="文本框 4"/>
              <p:cNvSpPr txBox="1"/>
              <p:nvPr/>
            </p:nvSpPr>
            <p:spPr>
              <a:xfrm>
                <a:off x="9158872" y="-92807"/>
                <a:ext cx="2799646" cy="569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 algn="ctr"/>
                <a:r>
                  <a:rPr lang="zh-CN" altLang="en-US" sz="2000" b="1" dirty="0">
                    <a:solidFill>
                      <a:srgbClr val="183884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机器人科学与工程学院</a:t>
                </a:r>
                <a:endParaRPr lang="en-US" altLang="zh-CN" sz="2000" b="1" dirty="0">
                  <a:solidFill>
                    <a:srgbClr val="183884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1100" b="1" i="1" u="sng" dirty="0">
                    <a:solidFill>
                      <a:srgbClr val="183884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Faculty of Robot Science and Engineering</a:t>
                </a:r>
                <a:endParaRPr lang="zh-CN" altLang="zh-CN" sz="1100" b="1" i="1" u="sng" dirty="0">
                  <a:solidFill>
                    <a:srgbClr val="183884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aintBrush brushSize="10"/>
                        </a14:imgEffect>
                        <a14:imgEffect>
                          <a14:sharpenSoften amount="44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607830" y="-93113"/>
                <a:ext cx="551050" cy="546198"/>
              </a:xfrm>
              <a:prstGeom prst="rect">
                <a:avLst/>
              </a:prstGeom>
            </p:spPr>
          </p:pic>
        </p:grpSp>
        <p:cxnSp>
          <p:nvCxnSpPr>
            <p:cNvPr id="7" name="直接连接符 9"/>
            <p:cNvCxnSpPr/>
            <p:nvPr/>
          </p:nvCxnSpPr>
          <p:spPr>
            <a:xfrm>
              <a:off x="420" y="1194"/>
              <a:ext cx="18376" cy="0"/>
            </a:xfrm>
            <a:prstGeom prst="line">
              <a:avLst/>
            </a:prstGeom>
            <a:ln w="38100" cap="flat" cmpd="sng" algn="ctr">
              <a:solidFill>
                <a:schemeClr val="accent5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266700" y="137160"/>
            <a:ext cx="11668760" cy="621030"/>
            <a:chOff x="420" y="216"/>
            <a:chExt cx="18376" cy="978"/>
          </a:xfrm>
        </p:grpSpPr>
        <p:grpSp>
          <p:nvGrpSpPr>
            <p:cNvPr id="29" name="组合 28"/>
            <p:cNvGrpSpPr/>
            <p:nvPr/>
          </p:nvGrpSpPr>
          <p:grpSpPr>
            <a:xfrm>
              <a:off x="13717" y="216"/>
              <a:ext cx="5079" cy="895"/>
              <a:chOff x="8733552" y="75111"/>
              <a:chExt cx="3224966" cy="570305"/>
            </a:xfrm>
          </p:grpSpPr>
          <p:sp>
            <p:nvSpPr>
              <p:cNvPr id="5" name="文本框 4"/>
              <p:cNvSpPr txBox="1"/>
              <p:nvPr/>
            </p:nvSpPr>
            <p:spPr>
              <a:xfrm>
                <a:off x="9158872" y="75417"/>
                <a:ext cx="2799646" cy="569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000" b="1" dirty="0">
                    <a:solidFill>
                      <a:srgbClr val="183884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机器人科学与工程学院</a:t>
                </a:r>
                <a:endParaRPr lang="en-US" altLang="zh-CN" sz="2000" b="1" dirty="0">
                  <a:solidFill>
                    <a:srgbClr val="183884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1100" b="1" i="1" u="sng" dirty="0">
                    <a:solidFill>
                      <a:srgbClr val="183884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Faculty of Robot Science and Engineering</a:t>
                </a:r>
                <a:endParaRPr lang="en-US" altLang="zh-CN" sz="1100" b="1" i="1" u="sng" dirty="0">
                  <a:solidFill>
                    <a:srgbClr val="183884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1">
                <a:extLst>
                  <a:ext uri="{BEBA8EAE-BF5A-486C-A8C5-ECC9F3942E4B}">
                    <a14:imgProps xmlns:a14="http://schemas.microsoft.com/office/drawing/2010/main">
                      <a14:imgLayer r:embed="rId2">
                        <a14:imgEffect>
                          <a14:artisticPaintBrush brushSize="10"/>
                        </a14:imgEffect>
                        <a14:imgEffect>
                          <a14:sharpenSoften amount="44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33552" y="75111"/>
                <a:ext cx="551050" cy="546198"/>
              </a:xfrm>
              <a:prstGeom prst="rect">
                <a:avLst/>
              </a:prstGeom>
            </p:spPr>
          </p:pic>
        </p:grpSp>
        <p:sp>
          <p:nvSpPr>
            <p:cNvPr id="2" name="文本框 1">
              <a:hlinkClick r:id="rId3"/>
            </p:cNvPr>
            <p:cNvSpPr txBox="1"/>
            <p:nvPr/>
          </p:nvSpPr>
          <p:spPr>
            <a:xfrm>
              <a:off x="420" y="216"/>
              <a:ext cx="3706" cy="4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lang="en-US" altLang="zh-CN" sz="1400" b="1" i="1" u="sng" dirty="0">
                <a:solidFill>
                  <a:srgbClr val="183884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endParaRPr>
            </a:p>
          </p:txBody>
        </p:sp>
        <p:cxnSp>
          <p:nvCxnSpPr>
            <p:cNvPr id="7" name="直接连接符 9"/>
            <p:cNvCxnSpPr/>
            <p:nvPr/>
          </p:nvCxnSpPr>
          <p:spPr>
            <a:xfrm>
              <a:off x="420" y="1194"/>
              <a:ext cx="18376" cy="0"/>
            </a:xfrm>
            <a:prstGeom prst="line">
              <a:avLst/>
            </a:prstGeom>
            <a:ln w="38100" cap="flat" cmpd="sng" algn="ctr">
              <a:solidFill>
                <a:schemeClr val="accent5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cxnSp>
        <p:nvCxnSpPr>
          <p:cNvPr id="12" name="直接连接符 9"/>
          <p:cNvCxnSpPr/>
          <p:nvPr>
            <p:custDataLst>
              <p:tags r:id="rId4"/>
            </p:custDataLst>
          </p:nvPr>
        </p:nvCxnSpPr>
        <p:spPr>
          <a:xfrm>
            <a:off x="266700" y="6263439"/>
            <a:ext cx="11668626" cy="0"/>
          </a:xfrm>
          <a:prstGeom prst="line">
            <a:avLst/>
          </a:prstGeom>
          <a:ln w="3810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1" name="文本框 120"/>
          <p:cNvSpPr txBox="1"/>
          <p:nvPr/>
        </p:nvSpPr>
        <p:spPr>
          <a:xfrm>
            <a:off x="4860925" y="245110"/>
            <a:ext cx="2033905" cy="460375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spAutoFit/>
          </a:bodyPr>
          <a:p>
            <a:pPr algn="l" fontAlgn="base">
              <a:buClrTx/>
              <a:buSzTx/>
              <a:buFontTx/>
            </a:pP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内容大纲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7166610" y="880745"/>
            <a:ext cx="3811270" cy="4876165"/>
          </a:xfrm>
          <a:prstGeom prst="rect">
            <a:avLst/>
          </a:prstGeom>
          <a:noFill/>
        </p:spPr>
        <p:txBody>
          <a:bodyPr numCol="1" anchor="ctr"/>
          <a:lstStyle>
            <a:lvl1pPr marL="239395" marR="0" indent="-239395" algn="l" defTabSz="1218565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71B2FF"/>
              </a:buClr>
              <a:buChar char="•"/>
              <a:defRPr kumimoji="0" lang="zh-CN" altLang="en-US" sz="2135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476250" marR="0" indent="-236855" algn="l" defTabSz="1218565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71B2FF"/>
              </a:buClr>
              <a:buFont typeface="Arial" panose="020B0604020202020204" pitchFamily="34" charset="0"/>
              <a:buChar char="◦"/>
              <a:defRPr kumimoji="0" lang="zh-CN" altLang="en-US" sz="2135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833755" marR="0" indent="-236855" algn="l" defTabSz="1218565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71B2FF"/>
              </a:buClr>
              <a:buFontTx/>
              <a:buChar char="-"/>
              <a:defRPr kumimoji="0" lang="zh-CN" altLang="en-US" sz="2135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59893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4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13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~"/>
              <a:defRPr sz="154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269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~"/>
              <a:defRPr sz="154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926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~"/>
              <a:defRPr sz="154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646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~"/>
              <a:defRPr sz="154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302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~"/>
              <a:defRPr sz="154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90000"/>
              </a:lnSpc>
              <a:spcAft>
                <a:spcPts val="0"/>
              </a:spcAft>
              <a:buSzTx/>
              <a:buFont typeface="+mj-lt"/>
              <a:buNone/>
            </a:pPr>
            <a:r>
              <a:rPr lang="en-US" altLang="zh-CN" sz="3600" b="1" dirty="0">
                <a:solidFill>
                  <a:schemeClr val="accent1">
                    <a:lumMod val="75000"/>
                  </a:schemeClr>
                </a:solidFill>
              </a:rPr>
              <a:t>1.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</a:rPr>
              <a:t>研究背景及意义</a:t>
            </a:r>
            <a:endParaRPr lang="zh-CN" altLang="en-US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 algn="l">
              <a:lnSpc>
                <a:spcPct val="190000"/>
              </a:lnSpc>
              <a:spcAft>
                <a:spcPts val="0"/>
              </a:spcAft>
              <a:buSzTx/>
              <a:buFont typeface="+mj-lt"/>
              <a:buNone/>
            </a:pPr>
            <a:r>
              <a:rPr lang="en-US" altLang="zh-CN" sz="3600" b="1" dirty="0">
                <a:solidFill>
                  <a:schemeClr val="accent1">
                    <a:lumMod val="75000"/>
                  </a:schemeClr>
                </a:solidFill>
              </a:rPr>
              <a:t>2.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</a:rPr>
              <a:t>研究综述</a:t>
            </a:r>
            <a:endParaRPr lang="zh-CN" alt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 algn="l">
              <a:lnSpc>
                <a:spcPct val="190000"/>
              </a:lnSpc>
              <a:spcAft>
                <a:spcPts val="0"/>
              </a:spcAft>
              <a:buSzTx/>
              <a:buFont typeface="+mj-lt"/>
              <a:buNone/>
            </a:pPr>
            <a:r>
              <a:rPr lang="en-US" altLang="zh-CN" sz="3600" b="1" dirty="0">
                <a:solidFill>
                  <a:schemeClr val="accent1">
                    <a:lumMod val="75000"/>
                  </a:schemeClr>
                </a:solidFill>
              </a:rPr>
              <a:t>3.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</a:rPr>
              <a:t>研究内容</a:t>
            </a:r>
            <a:endParaRPr lang="zh-CN" alt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 algn="l">
              <a:lnSpc>
                <a:spcPct val="190000"/>
              </a:lnSpc>
              <a:spcAft>
                <a:spcPts val="0"/>
              </a:spcAft>
              <a:buSzTx/>
              <a:buFont typeface="+mj-lt"/>
              <a:buNone/>
            </a:pPr>
            <a:r>
              <a:rPr lang="en-US" altLang="zh-CN" sz="3600" b="1" dirty="0">
                <a:solidFill>
                  <a:schemeClr val="accent1">
                    <a:lumMod val="75000"/>
                  </a:schemeClr>
                </a:solidFill>
              </a:rPr>
              <a:t>4.</a:t>
            </a:r>
            <a:r>
              <a:rPr sz="3600" b="1" dirty="0">
                <a:solidFill>
                  <a:schemeClr val="accent1">
                    <a:lumMod val="75000"/>
                  </a:schemeClr>
                </a:solidFill>
              </a:rPr>
              <a:t>前期工作</a:t>
            </a:r>
            <a:endParaRPr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 algn="l">
              <a:lnSpc>
                <a:spcPct val="190000"/>
              </a:lnSpc>
              <a:spcAft>
                <a:spcPts val="0"/>
              </a:spcAft>
              <a:buSzTx/>
              <a:buFont typeface="+mj-lt"/>
              <a:buNone/>
            </a:pPr>
            <a:r>
              <a:rPr lang="en-US" altLang="zh-CN" sz="3600" b="1" dirty="0">
                <a:solidFill>
                  <a:schemeClr val="accent1">
                    <a:lumMod val="75000"/>
                  </a:schemeClr>
                </a:solidFill>
              </a:rPr>
              <a:t>5.</a:t>
            </a:r>
            <a:r>
              <a:rPr sz="3600" b="1" dirty="0">
                <a:solidFill>
                  <a:schemeClr val="accent1">
                    <a:lumMod val="75000"/>
                  </a:schemeClr>
                </a:solidFill>
              </a:rPr>
              <a:t>研究计划</a:t>
            </a:r>
            <a:endParaRPr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文本框 9">
            <a:hlinkClick r:id="rId3"/>
          </p:cNvPr>
          <p:cNvSpPr txBox="1"/>
          <p:nvPr/>
        </p:nvSpPr>
        <p:spPr>
          <a:xfrm>
            <a:off x="509270" y="236855"/>
            <a:ext cx="1868170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altLang="zh-CN" sz="2000" b="1" i="1" u="sng" dirty="0">
                <a:solidFill>
                  <a:srgbClr val="183884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Content outline</a:t>
            </a:r>
            <a:endParaRPr lang="en-US" altLang="zh-CN" sz="2000" b="1" i="1" u="sng" dirty="0">
              <a:solidFill>
                <a:srgbClr val="183884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60655" y="6381115"/>
            <a:ext cx="669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➢</a:t>
            </a:r>
            <a:r>
              <a:rPr lang="en-US" altLang="zh-CN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endParaRPr lang="en-US" altLang="zh-CN" b="1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270" y="6306185"/>
            <a:ext cx="433705" cy="43942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490080" y="2405855"/>
            <a:ext cx="3748308" cy="173418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algn="dist" eaLnBrk="1" fontAlgn="auto" hangingPunct="1">
              <a:spcBef>
                <a:spcPts val="0"/>
              </a:spcBef>
              <a:buClrTx/>
              <a:buSzTx/>
              <a:buFontTx/>
            </a:pPr>
            <a:r>
              <a:rPr lang="zh-CN" altLang="en-US" sz="5335" b="1">
                <a:solidFill>
                  <a:schemeClr val="accent1">
                    <a:lumMod val="75000"/>
                  </a:schemeClr>
                </a:solidFill>
                <a:latin typeface="字魂35号-经典雅黑" panose="02000000000000000000" charset="-122"/>
                <a:ea typeface="字魂35号-经典雅黑" panose="02000000000000000000" charset="-122"/>
              </a:rPr>
              <a:t>目 录</a:t>
            </a:r>
            <a:endParaRPr lang="zh-CN" altLang="en-US" sz="5335" b="1">
              <a:solidFill>
                <a:schemeClr val="accent1">
                  <a:lumMod val="75000"/>
                </a:schemeClr>
              </a:solidFill>
              <a:latin typeface="字魂35号-经典雅黑" panose="02000000000000000000" charset="-122"/>
              <a:ea typeface="字魂35号-经典雅黑" panose="02000000000000000000" charset="-122"/>
            </a:endParaRPr>
          </a:p>
          <a:p>
            <a:pPr algn="dist" eaLnBrk="1" fontAlgn="auto" hangingPunct="1">
              <a:spcBef>
                <a:spcPts val="0"/>
              </a:spcBef>
              <a:buClrTx/>
              <a:buSzTx/>
              <a:buFontTx/>
            </a:pPr>
            <a:r>
              <a:rPr lang="zh-CN" altLang="en-US" sz="5335" b="1">
                <a:solidFill>
                  <a:schemeClr val="accent1">
                    <a:lumMod val="75000"/>
                  </a:schemeClr>
                </a:solidFill>
                <a:latin typeface="字魂35号-经典雅黑" panose="02000000000000000000" charset="-122"/>
                <a:ea typeface="字魂35号-经典雅黑" panose="02000000000000000000" charset="-122"/>
              </a:rPr>
              <a:t>CONTENTS</a:t>
            </a:r>
            <a:endParaRPr lang="zh-CN" altLang="en-US" sz="5335" b="1">
              <a:solidFill>
                <a:schemeClr val="accent1">
                  <a:lumMod val="75000"/>
                </a:schemeClr>
              </a:solidFill>
              <a:latin typeface="字魂35号-经典雅黑" panose="02000000000000000000" charset="-122"/>
              <a:ea typeface="字魂35号-经典雅黑" panose="02000000000000000000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256030" y="6358890"/>
            <a:ext cx="1933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研究背景及意义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304415" y="6355317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研究综述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705194" y="6355317"/>
            <a:ext cx="163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研究内容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572029" y="6344512"/>
            <a:ext cx="163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前期工作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438865" y="6366845"/>
            <a:ext cx="163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研究计划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121" grpId="0" animBg="1"/>
      <p:bldP spid="121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522605" y="350520"/>
            <a:ext cx="11668760" cy="621030"/>
            <a:chOff x="420" y="216"/>
            <a:chExt cx="18376" cy="978"/>
          </a:xfrm>
        </p:grpSpPr>
        <p:grpSp>
          <p:nvGrpSpPr>
            <p:cNvPr id="29" name="组合 28"/>
            <p:cNvGrpSpPr/>
            <p:nvPr/>
          </p:nvGrpSpPr>
          <p:grpSpPr>
            <a:xfrm>
              <a:off x="13717" y="216"/>
              <a:ext cx="5079" cy="895"/>
              <a:chOff x="8733552" y="75111"/>
              <a:chExt cx="3224966" cy="570305"/>
            </a:xfrm>
          </p:grpSpPr>
          <p:sp>
            <p:nvSpPr>
              <p:cNvPr id="5" name="文本框 4"/>
              <p:cNvSpPr txBox="1"/>
              <p:nvPr/>
            </p:nvSpPr>
            <p:spPr>
              <a:xfrm>
                <a:off x="9158872" y="75417"/>
                <a:ext cx="2799646" cy="569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000" b="1" dirty="0">
                    <a:solidFill>
                      <a:srgbClr val="183884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机器人科学与工程学院</a:t>
                </a:r>
                <a:endParaRPr lang="en-US" altLang="zh-CN" sz="2000" b="1" dirty="0">
                  <a:solidFill>
                    <a:srgbClr val="183884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1100" b="1" i="1" u="sng" dirty="0">
                    <a:solidFill>
                      <a:srgbClr val="183884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Faculty of Robot Science and Engineering</a:t>
                </a:r>
                <a:endParaRPr lang="zh-CN" altLang="zh-CN" sz="1100" b="1" i="1" u="sng" dirty="0">
                  <a:solidFill>
                    <a:srgbClr val="183884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1">
                <a:extLst>
                  <a:ext uri="{BEBA8EAE-BF5A-486C-A8C5-ECC9F3942E4B}">
                    <a14:imgProps xmlns:a14="http://schemas.microsoft.com/office/drawing/2010/main">
                      <a14:imgLayer r:embed="rId2">
                        <a14:imgEffect>
                          <a14:artisticPaintBrush brushSize="10"/>
                        </a14:imgEffect>
                        <a14:imgEffect>
                          <a14:sharpenSoften amount="44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33552" y="75111"/>
                <a:ext cx="551050" cy="546198"/>
              </a:xfrm>
              <a:prstGeom prst="rect">
                <a:avLst/>
              </a:prstGeom>
            </p:spPr>
          </p:pic>
        </p:grpSp>
        <p:cxnSp>
          <p:nvCxnSpPr>
            <p:cNvPr id="7" name="直接连接符 9"/>
            <p:cNvCxnSpPr/>
            <p:nvPr/>
          </p:nvCxnSpPr>
          <p:spPr>
            <a:xfrm>
              <a:off x="420" y="1194"/>
              <a:ext cx="18376" cy="0"/>
            </a:xfrm>
            <a:prstGeom prst="line">
              <a:avLst/>
            </a:prstGeom>
            <a:ln w="38100" cap="flat" cmpd="sng" algn="ctr">
              <a:solidFill>
                <a:schemeClr val="accent5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cxnSp>
        <p:nvCxnSpPr>
          <p:cNvPr id="12" name="直接连接符 9"/>
          <p:cNvCxnSpPr/>
          <p:nvPr>
            <p:custDataLst>
              <p:tags r:id="rId3"/>
            </p:custDataLst>
          </p:nvPr>
        </p:nvCxnSpPr>
        <p:spPr>
          <a:xfrm>
            <a:off x="266700" y="6333924"/>
            <a:ext cx="11668626" cy="0"/>
          </a:xfrm>
          <a:prstGeom prst="line">
            <a:avLst/>
          </a:prstGeom>
          <a:ln w="3810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1" name="文本框 120"/>
          <p:cNvSpPr txBox="1"/>
          <p:nvPr/>
        </p:nvSpPr>
        <p:spPr>
          <a:xfrm>
            <a:off x="5368290" y="412750"/>
            <a:ext cx="2580005" cy="530225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noAutofit/>
          </a:bodyPr>
          <a:p>
            <a:pPr algn="l" fontAlgn="base">
              <a:buClrTx/>
              <a:buSzTx/>
              <a:buFontTx/>
            </a:pP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研究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背景及意义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pPr algn="ctr"/>
            <a:endParaRPr lang="zh-CN" altLang="en-US" sz="2400" i="1" dirty="0" err="1">
              <a:ln>
                <a:solidFill>
                  <a:schemeClr val="tx1"/>
                </a:solidFill>
              </a:ln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174625" y="6406515"/>
            <a:ext cx="441325" cy="332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➢</a:t>
            </a:r>
            <a:r>
              <a:rPr lang="en-US" altLang="zh-CN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endParaRPr lang="zh-CN" altLang="en-US" b="1" i="1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34" name="文本框 33">
            <a:hlinkClick r:id="rId5"/>
          </p:cNvPr>
          <p:cNvSpPr txBox="1"/>
          <p:nvPr/>
        </p:nvSpPr>
        <p:spPr>
          <a:xfrm>
            <a:off x="451485" y="372745"/>
            <a:ext cx="1868170" cy="5219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altLang="zh-CN" sz="1400" b="1" i="1" u="sng" dirty="0">
                <a:solidFill>
                  <a:srgbClr val="183884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Research Background and Significance</a:t>
            </a:r>
            <a:endParaRPr lang="en-US" altLang="zh-CN" sz="1400" b="1" i="1" u="sng" dirty="0">
              <a:solidFill>
                <a:srgbClr val="183884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605" y="6352540"/>
            <a:ext cx="499110" cy="50546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505012" y="6425565"/>
            <a:ext cx="1758507" cy="40850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D9D8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417320" y="6464300"/>
            <a:ext cx="1933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研究背景及意义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438400" y="6446757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研究综述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839179" y="6446757"/>
            <a:ext cx="163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研究内容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706014" y="6435952"/>
            <a:ext cx="163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前期工作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572850" y="6458285"/>
            <a:ext cx="163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研究计划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1465286" y="6352823"/>
            <a:ext cx="469673" cy="29189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2605" y="1024255"/>
            <a:ext cx="5480050" cy="376237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4285" y="1099820"/>
            <a:ext cx="3047365" cy="171450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93990" y="1925320"/>
            <a:ext cx="3048000" cy="208788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83015" y="2826385"/>
            <a:ext cx="3247390" cy="1826895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522605" y="5114290"/>
            <a:ext cx="11296650" cy="10960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noAutofit/>
          </a:bodyPr>
          <a:p>
            <a:pPr marL="285750" lvl="1" indent="-285750" algn="just" fontAlgn="auto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1600" b="1" kern="1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在</a:t>
            </a:r>
            <a:r>
              <a:rPr lang="zh-CN" altLang="en-US" b="1" kern="1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材料研发领域</a:t>
            </a:r>
            <a:r>
              <a:rPr lang="zh-CN" altLang="en-US" sz="1600" b="1" kern="1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，科研人员常面临</a:t>
            </a:r>
            <a:r>
              <a:rPr lang="zh-CN" altLang="en-US" b="1" kern="1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重复性高</a:t>
            </a:r>
            <a:r>
              <a:rPr lang="zh-CN" altLang="en-US" sz="1600" b="1" kern="1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zh-CN" altLang="en-US" b="1" kern="1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流程长</a:t>
            </a:r>
            <a:r>
              <a:rPr lang="zh-CN" altLang="en-US" sz="1600" b="1" kern="1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且</a:t>
            </a:r>
            <a:r>
              <a:rPr lang="zh-CN" altLang="en-US" sz="1800" b="1" kern="1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具潜在危险性</a:t>
            </a:r>
            <a:r>
              <a:rPr lang="zh-CN" altLang="en-US" sz="1600" b="1" kern="1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的实验任务。我们以与</a:t>
            </a:r>
            <a:r>
              <a:rPr lang="zh-CN" altLang="en-US" sz="1800" b="1" kern="1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辽宁材料实验室</a:t>
            </a:r>
            <a:r>
              <a:rPr lang="zh-CN" altLang="en-US" sz="1600" b="1" kern="1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的合作项目为切入点，依靠其实验团队提供</a:t>
            </a:r>
            <a:r>
              <a:rPr lang="zh-CN" altLang="en-US" sz="1800" b="1" kern="1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任务背景与任务需求</a:t>
            </a:r>
            <a:r>
              <a:rPr lang="zh-CN" altLang="en-US" sz="1600" b="1" kern="1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，在相关实验场景中开展</a:t>
            </a:r>
            <a:r>
              <a:rPr lang="zh-CN" altLang="en-US" sz="1800" b="1" kern="1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长序列任务智能体控制策略</a:t>
            </a:r>
            <a:r>
              <a:rPr lang="zh-CN" altLang="en-US" sz="1600" b="1" kern="1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的研究，以实现</a:t>
            </a:r>
            <a:r>
              <a:rPr lang="zh-CN" altLang="en-US" sz="1800" b="1" kern="1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智能化</a:t>
            </a:r>
            <a:r>
              <a:rPr lang="zh-CN" altLang="en-US" sz="1600" b="1" kern="1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zh-CN" altLang="en-US" sz="1800" b="1" kern="1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无人化</a:t>
            </a:r>
            <a:r>
              <a:rPr lang="zh-CN" altLang="en-US" sz="1600" b="1" kern="1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的实验</a:t>
            </a:r>
            <a:r>
              <a:rPr lang="zh-CN" altLang="en-US" sz="1600" b="1" kern="1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操作。</a:t>
            </a:r>
            <a:endParaRPr lang="zh-CN" altLang="en-US" sz="1600" b="1" kern="1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121" grpId="0" animBg="1"/>
      <p:bldP spid="121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/>
          <p:nvPr/>
        </p:nvPicPr>
        <p:blipFill>
          <a:blip r:embed="rId1"/>
          <a:stretch>
            <a:fillRect/>
          </a:stretch>
        </p:blipFill>
        <p:spPr>
          <a:xfrm>
            <a:off x="6291580" y="3774440"/>
            <a:ext cx="3441065" cy="1533525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grpSp>
        <p:nvGrpSpPr>
          <p:cNvPr id="3" name="组合 2"/>
          <p:cNvGrpSpPr/>
          <p:nvPr/>
        </p:nvGrpSpPr>
        <p:grpSpPr>
          <a:xfrm>
            <a:off x="522605" y="350520"/>
            <a:ext cx="11668760" cy="621030"/>
            <a:chOff x="420" y="216"/>
            <a:chExt cx="18376" cy="978"/>
          </a:xfrm>
        </p:grpSpPr>
        <p:grpSp>
          <p:nvGrpSpPr>
            <p:cNvPr id="29" name="组合 28"/>
            <p:cNvGrpSpPr/>
            <p:nvPr/>
          </p:nvGrpSpPr>
          <p:grpSpPr>
            <a:xfrm>
              <a:off x="13717" y="216"/>
              <a:ext cx="5079" cy="895"/>
              <a:chOff x="8733552" y="75111"/>
              <a:chExt cx="3224966" cy="570305"/>
            </a:xfrm>
          </p:grpSpPr>
          <p:sp>
            <p:nvSpPr>
              <p:cNvPr id="5" name="文本框 4"/>
              <p:cNvSpPr txBox="1"/>
              <p:nvPr/>
            </p:nvSpPr>
            <p:spPr>
              <a:xfrm>
                <a:off x="9158872" y="75417"/>
                <a:ext cx="2799646" cy="569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000" b="1" dirty="0">
                    <a:solidFill>
                      <a:srgbClr val="183884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机器人科学与工程学院</a:t>
                </a:r>
                <a:endParaRPr lang="en-US" altLang="zh-CN" sz="2000" b="1" dirty="0">
                  <a:solidFill>
                    <a:srgbClr val="183884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1100" b="1" i="1" u="sng" dirty="0">
                    <a:solidFill>
                      <a:srgbClr val="183884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Faculty of Robot Science and Engineering</a:t>
                </a:r>
                <a:endParaRPr lang="zh-CN" altLang="zh-CN" sz="1100" b="1" i="1" u="sng" dirty="0">
                  <a:solidFill>
                    <a:srgbClr val="183884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aintBrush brushSize="10"/>
                        </a14:imgEffect>
                        <a14:imgEffect>
                          <a14:sharpenSoften amount="44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33552" y="75111"/>
                <a:ext cx="551050" cy="546198"/>
              </a:xfrm>
              <a:prstGeom prst="rect">
                <a:avLst/>
              </a:prstGeom>
            </p:spPr>
          </p:pic>
        </p:grpSp>
        <p:cxnSp>
          <p:nvCxnSpPr>
            <p:cNvPr id="7" name="直接连接符 9"/>
            <p:cNvCxnSpPr/>
            <p:nvPr/>
          </p:nvCxnSpPr>
          <p:spPr>
            <a:xfrm>
              <a:off x="420" y="1194"/>
              <a:ext cx="18376" cy="0"/>
            </a:xfrm>
            <a:prstGeom prst="line">
              <a:avLst/>
            </a:prstGeom>
            <a:ln w="38100" cap="flat" cmpd="sng" algn="ctr">
              <a:solidFill>
                <a:schemeClr val="accent5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cxnSp>
        <p:nvCxnSpPr>
          <p:cNvPr id="12" name="直接连接符 9"/>
          <p:cNvCxnSpPr/>
          <p:nvPr>
            <p:custDataLst>
              <p:tags r:id="rId4"/>
            </p:custDataLst>
          </p:nvPr>
        </p:nvCxnSpPr>
        <p:spPr>
          <a:xfrm>
            <a:off x="266700" y="6333924"/>
            <a:ext cx="11668626" cy="0"/>
          </a:xfrm>
          <a:prstGeom prst="line">
            <a:avLst/>
          </a:prstGeom>
          <a:ln w="3810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1" name="文本框 120"/>
          <p:cNvSpPr txBox="1"/>
          <p:nvPr/>
        </p:nvSpPr>
        <p:spPr>
          <a:xfrm>
            <a:off x="5415280" y="372110"/>
            <a:ext cx="1431290" cy="530225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noAutofit/>
          </a:bodyPr>
          <a:p>
            <a:pPr algn="l" fontAlgn="base">
              <a:buClrTx/>
              <a:buSzTx/>
              <a:buFontTx/>
            </a:pP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研究现状</a:t>
            </a:r>
            <a:endParaRPr lang="zh-CN" altLang="en-US" sz="2400" i="1" dirty="0" err="1">
              <a:ln>
                <a:solidFill>
                  <a:schemeClr val="tx1"/>
                </a:solidFill>
              </a:ln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174625" y="6406515"/>
            <a:ext cx="441325" cy="332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➢</a:t>
            </a:r>
            <a:r>
              <a:rPr lang="en-US" altLang="zh-CN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endParaRPr lang="zh-CN" altLang="en-US" b="1" i="1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34" name="文本框 33">
            <a:hlinkClick r:id="rId6"/>
          </p:cNvPr>
          <p:cNvSpPr txBox="1"/>
          <p:nvPr/>
        </p:nvSpPr>
        <p:spPr>
          <a:xfrm>
            <a:off x="451485" y="372745"/>
            <a:ext cx="1868170" cy="5219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altLang="zh-CN" sz="1400" b="1" i="1" u="sng" dirty="0">
                <a:solidFill>
                  <a:srgbClr val="183884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Research Background and Significance</a:t>
            </a:r>
            <a:endParaRPr lang="en-US" altLang="zh-CN" sz="1400" b="1" i="1" u="sng" dirty="0">
              <a:solidFill>
                <a:srgbClr val="183884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2605" y="6352540"/>
            <a:ext cx="499110" cy="50546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746562" y="6406515"/>
            <a:ext cx="1758507" cy="40850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D9D8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308735" y="6406515"/>
            <a:ext cx="1933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研究背景及意义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438400" y="6446757"/>
            <a:ext cx="228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研究综述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839179" y="6446757"/>
            <a:ext cx="163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研究内容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706014" y="6435952"/>
            <a:ext cx="163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前期工作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572850" y="6458285"/>
            <a:ext cx="163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研究计划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1465286" y="6352823"/>
            <a:ext cx="469673" cy="29189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/>
          <p:nvPr/>
        </p:nvPicPr>
        <p:blipFill>
          <a:blip r:embed="rId8"/>
          <a:stretch>
            <a:fillRect/>
          </a:stretch>
        </p:blipFill>
        <p:spPr>
          <a:xfrm>
            <a:off x="174625" y="1061720"/>
            <a:ext cx="3263265" cy="189928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55600" y="2947670"/>
            <a:ext cx="30829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图</a:t>
            </a:r>
            <a:r>
              <a:rPr lang="en-US" altLang="zh-CN" sz="1200"/>
              <a:t>1</a:t>
            </a:r>
            <a:r>
              <a:rPr lang="zh-CN" altLang="en-US" sz="1200"/>
              <a:t>：视觉</a:t>
            </a:r>
            <a:r>
              <a:rPr lang="en-US" altLang="zh-CN" sz="1200"/>
              <a:t>-</a:t>
            </a:r>
            <a:r>
              <a:rPr lang="zh-CN" altLang="en-US" sz="1200"/>
              <a:t>语言</a:t>
            </a:r>
            <a:r>
              <a:rPr lang="en-US" altLang="zh-CN" sz="1200"/>
              <a:t>-</a:t>
            </a:r>
            <a:r>
              <a:rPr lang="zh-CN" altLang="en-US" sz="1200"/>
              <a:t>动作</a:t>
            </a:r>
            <a:r>
              <a:rPr lang="en-US" altLang="zh-CN" sz="1200"/>
              <a:t>(VLA)</a:t>
            </a:r>
            <a:r>
              <a:rPr lang="zh-CN" altLang="en-US" sz="1200"/>
              <a:t>模型架构示意图</a:t>
            </a:r>
            <a:endParaRPr lang="zh-CN" altLang="en-US" sz="1200"/>
          </a:p>
        </p:txBody>
      </p:sp>
      <p:sp>
        <p:nvSpPr>
          <p:cNvPr id="19" name="Shape 3"/>
          <p:cNvSpPr/>
          <p:nvPr/>
        </p:nvSpPr>
        <p:spPr>
          <a:xfrm>
            <a:off x="449898" y="3339941"/>
            <a:ext cx="35719" cy="268738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</p:sp>
      <p:sp>
        <p:nvSpPr>
          <p:cNvPr id="20" name="Shape 4"/>
          <p:cNvSpPr/>
          <p:nvPr/>
        </p:nvSpPr>
        <p:spPr>
          <a:xfrm>
            <a:off x="628491" y="3518535"/>
            <a:ext cx="285750" cy="28575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21" name="Text 5"/>
          <p:cNvSpPr/>
          <p:nvPr/>
        </p:nvSpPr>
        <p:spPr>
          <a:xfrm>
            <a:off x="628491" y="3518535"/>
            <a:ext cx="285750" cy="2857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lIns="0" tIns="0" rIns="0" bIns="0" rtlCol="0" anchor="ctr">
            <a:spAutoFit/>
          </a:bodyPr>
          <a:p>
            <a:pPr marL="0" indent="0" algn="ctr">
              <a:buNone/>
            </a:pPr>
            <a:r>
              <a:rPr lang="en-US" sz="1045" b="1" dirty="0">
                <a:solidFill>
                  <a:srgbClr val="FFFFFF"/>
                </a:solidFill>
                <a:latin typeface="AR Fruda Sans Flat" panose="020B0600000000000000" charset="0"/>
                <a:ea typeface="AR Fruda Sans Flat" panose="020B0600000000000000" charset="0"/>
                <a:cs typeface="AR Fruda Sans Flat" panose="020B0600000000000000" charset="0"/>
                <a:sym typeface="AR Fruda Sans Flat" panose="020B0600000000000000" charset="0"/>
              </a:rPr>
              <a:t>1</a:t>
            </a:r>
            <a:endParaRPr lang="en-US" sz="1045" dirty="0"/>
          </a:p>
        </p:txBody>
      </p:sp>
      <p:sp>
        <p:nvSpPr>
          <p:cNvPr id="22" name="Text 6"/>
          <p:cNvSpPr/>
          <p:nvPr/>
        </p:nvSpPr>
        <p:spPr>
          <a:xfrm>
            <a:off x="1021398" y="3548698"/>
            <a:ext cx="1605280" cy="22542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p>
            <a:pPr marL="0" indent="0">
              <a:buNone/>
            </a:pPr>
            <a:r>
              <a:rPr lang="en-US" sz="1465" b="1" dirty="0">
                <a:solidFill>
                  <a:srgbClr val="E5E5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6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面临的问题与挑战</a:t>
            </a:r>
            <a:r>
              <a:rPr lang="en-US" sz="146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sz="146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 7"/>
          <p:cNvSpPr/>
          <p:nvPr/>
        </p:nvSpPr>
        <p:spPr>
          <a:xfrm>
            <a:off x="785495" y="4044315"/>
            <a:ext cx="5742305" cy="563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p>
            <a:pPr indent="0" algn="l" fontAlgn="auto">
              <a:lnSpc>
                <a:spcPts val="2080"/>
              </a:lnSpc>
              <a:buClrTx/>
              <a:buSzTx/>
              <a:buFontTx/>
              <a:buNone/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数据需求巨大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：需要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数十万到百万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条高质量机器人演示数据，在化学实验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ts val="2080"/>
              </a:lnSpc>
              <a:buClrTx/>
              <a:buSzTx/>
              <a:buFontTx/>
              <a:buNone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特定领域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难以规模化采集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buClrTx/>
              <a:buSzTx/>
              <a:buFontTx/>
              <a:buNone/>
            </a:pPr>
            <a:r>
              <a:rPr 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endParaRPr lang="en-US" sz="1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673735" y="4637405"/>
            <a:ext cx="6096000" cy="624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ts val="208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灾难性遗忘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：基于梯度优化，学习新技能时会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覆盖旧技能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的知识，导致旧任务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性能大幅下降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654050" y="5428615"/>
            <a:ext cx="5953760" cy="7010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l" fontAlgn="auto">
              <a:lnSpc>
                <a:spcPts val="2080"/>
              </a:lnSpc>
              <a:buClrTx/>
              <a:buSzTx/>
              <a:buFontTx/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长序列处理不足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：有效上下文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长度有限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难以处理长序列操作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的实验流程，长流程关键约束与依赖易漂移；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ts val="2080"/>
              </a:lnSpc>
              <a:buClrTx/>
              <a:buSzTx/>
              <a:buFontTx/>
            </a:pP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6" name="Image 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5990" y="1118870"/>
            <a:ext cx="3370580" cy="1758315"/>
          </a:xfrm>
          <a:prstGeom prst="rect">
            <a:avLst/>
          </a:prstGeom>
        </p:spPr>
      </p:pic>
      <p:sp>
        <p:nvSpPr>
          <p:cNvPr id="47" name="文本框 46"/>
          <p:cNvSpPr txBox="1"/>
          <p:nvPr/>
        </p:nvSpPr>
        <p:spPr>
          <a:xfrm>
            <a:off x="3573780" y="2961005"/>
            <a:ext cx="2781935" cy="275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>
                <a:solidFill>
                  <a:schemeClr val="tx1"/>
                </a:solidFill>
                <a:sym typeface="+mn-ea"/>
              </a:rPr>
              <a:t>图</a:t>
            </a:r>
            <a:r>
              <a:rPr lang="en-US" altLang="zh-CN" sz="1200">
                <a:solidFill>
                  <a:schemeClr val="tx1"/>
                </a:solidFill>
                <a:sym typeface="+mn-ea"/>
              </a:rPr>
              <a:t>2</a:t>
            </a:r>
            <a:r>
              <a:rPr lang="zh-CN" altLang="en-US" sz="1200">
                <a:solidFill>
                  <a:schemeClr val="tx1"/>
                </a:solidFill>
                <a:sym typeface="+mn-ea"/>
              </a:rPr>
              <a:t>：RT-2 (Robotic Transformer 2)</a:t>
            </a:r>
            <a:endParaRPr lang="zh-CN" altLang="en-US" sz="1200">
              <a:solidFill>
                <a:schemeClr val="tx1"/>
              </a:solidFill>
            </a:endParaRPr>
          </a:p>
          <a:p>
            <a:endParaRPr lang="en-US" altLang="en-US" dirty="0">
              <a:solidFill>
                <a:schemeClr val="tx1"/>
              </a:solidFill>
            </a:endParaRPr>
          </a:p>
        </p:txBody>
      </p:sp>
      <p:pic>
        <p:nvPicPr>
          <p:cNvPr id="48" name="图片 47"/>
          <p:cNvPicPr/>
          <p:nvPr/>
        </p:nvPicPr>
        <p:blipFill>
          <a:blip r:embed="rId10"/>
          <a:stretch>
            <a:fillRect/>
          </a:stretch>
        </p:blipFill>
        <p:spPr>
          <a:xfrm>
            <a:off x="6704965" y="1118870"/>
            <a:ext cx="2867660" cy="1757680"/>
          </a:xfrm>
          <a:prstGeom prst="rect">
            <a:avLst/>
          </a:prstGeom>
        </p:spPr>
      </p:pic>
      <p:sp>
        <p:nvSpPr>
          <p:cNvPr id="49" name="文本框 48"/>
          <p:cNvSpPr txBox="1"/>
          <p:nvPr/>
        </p:nvSpPr>
        <p:spPr>
          <a:xfrm>
            <a:off x="6704965" y="2947670"/>
            <a:ext cx="3027680" cy="275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>
                <a:solidFill>
                  <a:schemeClr val="tx1"/>
                </a:solidFill>
                <a:sym typeface="+mn-ea"/>
              </a:rPr>
              <a:t>图</a:t>
            </a:r>
            <a:r>
              <a:rPr lang="en-US" altLang="zh-CN" sz="1200">
                <a:solidFill>
                  <a:schemeClr val="tx1"/>
                </a:solidFill>
                <a:sym typeface="+mn-ea"/>
              </a:rPr>
              <a:t>3</a:t>
            </a:r>
            <a:r>
              <a:rPr lang="zh-CN" altLang="en-US" sz="1200">
                <a:solidFill>
                  <a:schemeClr val="tx1"/>
                </a:solidFill>
                <a:sym typeface="+mn-ea"/>
              </a:rPr>
              <a:t>：</a:t>
            </a:r>
            <a:r>
              <a:rPr lang="en-US" altLang="zh-CN" sz="1200">
                <a:solidFill>
                  <a:schemeClr val="tx1"/>
                </a:solidFill>
                <a:sym typeface="+mn-ea"/>
              </a:rPr>
              <a:t>π0</a:t>
            </a:r>
            <a:r>
              <a:rPr lang="zh-CN" altLang="en-US" sz="1200">
                <a:solidFill>
                  <a:schemeClr val="tx1"/>
                </a:solidFill>
                <a:sym typeface="+mn-ea"/>
              </a:rPr>
              <a:t> (</a:t>
            </a:r>
            <a:r>
              <a:rPr lang="en-US" altLang="zh-CN" sz="1200">
                <a:solidFill>
                  <a:schemeClr val="tx1"/>
                </a:solidFill>
                <a:sym typeface="+mn-ea"/>
              </a:rPr>
              <a:t>Stream Matching VLA Model</a:t>
            </a:r>
            <a:r>
              <a:rPr lang="zh-CN" altLang="en-US" sz="1200">
                <a:solidFill>
                  <a:schemeClr val="tx1"/>
                </a:solidFill>
                <a:sym typeface="+mn-ea"/>
              </a:rPr>
              <a:t>)</a:t>
            </a:r>
            <a:endParaRPr lang="zh-CN" altLang="en-US" sz="1200">
              <a:solidFill>
                <a:schemeClr val="tx1"/>
              </a:solidFill>
            </a:endParaRPr>
          </a:p>
          <a:p>
            <a:endParaRPr lang="en-US" altLang="en-US" dirty="0">
              <a:solidFill>
                <a:schemeClr val="tx1"/>
              </a:solidFill>
            </a:endParaRP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47555" y="1137285"/>
            <a:ext cx="2413635" cy="1732915"/>
          </a:xfrm>
          <a:prstGeom prst="rect">
            <a:avLst/>
          </a:prstGeom>
        </p:spPr>
      </p:pic>
      <p:sp>
        <p:nvSpPr>
          <p:cNvPr id="52" name="文本框 51"/>
          <p:cNvSpPr txBox="1"/>
          <p:nvPr/>
        </p:nvSpPr>
        <p:spPr>
          <a:xfrm>
            <a:off x="9872345" y="2961005"/>
            <a:ext cx="2249805" cy="275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>
                <a:solidFill>
                  <a:schemeClr val="tx1"/>
                </a:solidFill>
                <a:sym typeface="+mn-ea"/>
              </a:rPr>
              <a:t>图</a:t>
            </a:r>
            <a:r>
              <a:rPr lang="en-US" altLang="zh-CN" sz="1200">
                <a:solidFill>
                  <a:schemeClr val="tx1"/>
                </a:solidFill>
                <a:sym typeface="+mn-ea"/>
              </a:rPr>
              <a:t>4</a:t>
            </a:r>
            <a:r>
              <a:rPr lang="zh-CN" altLang="en-US" sz="1200">
                <a:solidFill>
                  <a:schemeClr val="tx1"/>
                </a:solidFill>
                <a:sym typeface="+mn-ea"/>
              </a:rPr>
              <a:t>：</a:t>
            </a:r>
            <a:r>
              <a:rPr lang="en-US" altLang="zh-CN" sz="1200">
                <a:solidFill>
                  <a:schemeClr val="tx1"/>
                </a:solidFill>
                <a:sym typeface="+mn-ea"/>
              </a:rPr>
              <a:t>SmolVLA</a:t>
            </a:r>
            <a:r>
              <a:rPr lang="zh-CN" altLang="en-US" sz="1200">
                <a:solidFill>
                  <a:schemeClr val="tx1"/>
                </a:solidFill>
                <a:sym typeface="+mn-ea"/>
              </a:rPr>
              <a:t> (消费级</a:t>
            </a:r>
            <a:r>
              <a:rPr lang="en-US" altLang="zh-CN" sz="1200">
                <a:solidFill>
                  <a:schemeClr val="tx1"/>
                </a:solidFill>
                <a:sym typeface="+mn-ea"/>
              </a:rPr>
              <a:t> GPU </a:t>
            </a:r>
            <a:r>
              <a:rPr lang="zh-CN" altLang="en-US" sz="1200">
                <a:solidFill>
                  <a:schemeClr val="tx1"/>
                </a:solidFill>
                <a:sym typeface="+mn-ea"/>
              </a:rPr>
              <a:t>)</a:t>
            </a:r>
            <a:endParaRPr lang="zh-CN" altLang="en-US" sz="1200">
              <a:solidFill>
                <a:schemeClr val="tx1"/>
              </a:solidFill>
            </a:endParaRPr>
          </a:p>
          <a:p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7040245" y="5594350"/>
            <a:ext cx="174688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>
                <a:sym typeface="+mn-ea"/>
              </a:rPr>
              <a:t>图</a:t>
            </a:r>
            <a:r>
              <a:rPr lang="en-US" altLang="zh-CN" sz="1200">
                <a:sym typeface="+mn-ea"/>
              </a:rPr>
              <a:t>4</a:t>
            </a:r>
            <a:r>
              <a:rPr lang="zh-CN" altLang="en-US" sz="1200">
                <a:sym typeface="+mn-ea"/>
              </a:rPr>
              <a:t>：</a:t>
            </a:r>
            <a:r>
              <a:rPr lang="en-US" altLang="zh-CN" sz="1200">
                <a:sym typeface="+mn-ea"/>
              </a:rPr>
              <a:t>ACT</a:t>
            </a:r>
            <a:r>
              <a:rPr lang="zh-CN" altLang="en-US" sz="1200">
                <a:sym typeface="+mn-ea"/>
              </a:rPr>
              <a:t> (模仿学习</a:t>
            </a:r>
            <a:r>
              <a:rPr lang="en-US" altLang="zh-CN" sz="1200">
                <a:sym typeface="+mn-ea"/>
              </a:rPr>
              <a:t> </a:t>
            </a:r>
            <a:r>
              <a:rPr lang="zh-CN" altLang="en-US" sz="1200">
                <a:sym typeface="+mn-ea"/>
              </a:rPr>
              <a:t>)</a:t>
            </a:r>
            <a:endParaRPr lang="zh-CN" altLang="en-US" sz="1200">
              <a:sym typeface="+mn-ea"/>
            </a:endParaRPr>
          </a:p>
        </p:txBody>
      </p:sp>
      <p:pic>
        <p:nvPicPr>
          <p:cNvPr id="55" name="图片 5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65210" y="3788410"/>
            <a:ext cx="3894455" cy="1217295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sp>
        <p:nvSpPr>
          <p:cNvPr id="56" name="文本框 55"/>
          <p:cNvSpPr txBox="1"/>
          <p:nvPr/>
        </p:nvSpPr>
        <p:spPr>
          <a:xfrm>
            <a:off x="9829165" y="5651500"/>
            <a:ext cx="174688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>
                <a:sym typeface="+mn-ea"/>
              </a:rPr>
              <a:t>图</a:t>
            </a:r>
            <a:r>
              <a:rPr lang="en-US" altLang="zh-CN" sz="1200">
                <a:sym typeface="+mn-ea"/>
              </a:rPr>
              <a:t>5</a:t>
            </a:r>
            <a:r>
              <a:rPr lang="zh-CN" altLang="en-US" sz="1200">
                <a:sym typeface="+mn-ea"/>
              </a:rPr>
              <a:t>：</a:t>
            </a:r>
            <a:r>
              <a:rPr lang="en-US" altLang="zh-CN" sz="1200">
                <a:sym typeface="+mn-ea"/>
              </a:rPr>
              <a:t>Diffusion policy</a:t>
            </a:r>
            <a:endParaRPr lang="en-US" altLang="zh-CN" sz="120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121" grpId="0" animBg="1"/>
      <p:bldP spid="121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圆角矩形 44"/>
          <p:cNvSpPr/>
          <p:nvPr/>
        </p:nvSpPr>
        <p:spPr>
          <a:xfrm>
            <a:off x="8098790" y="3652520"/>
            <a:ext cx="3787775" cy="2078990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309245" y="312420"/>
            <a:ext cx="11668760" cy="621030"/>
            <a:chOff x="420" y="216"/>
            <a:chExt cx="18376" cy="978"/>
          </a:xfrm>
        </p:grpSpPr>
        <p:grpSp>
          <p:nvGrpSpPr>
            <p:cNvPr id="29" name="组合 28"/>
            <p:cNvGrpSpPr/>
            <p:nvPr/>
          </p:nvGrpSpPr>
          <p:grpSpPr>
            <a:xfrm>
              <a:off x="13717" y="216"/>
              <a:ext cx="5079" cy="895"/>
              <a:chOff x="8733552" y="75111"/>
              <a:chExt cx="3224966" cy="570305"/>
            </a:xfrm>
          </p:grpSpPr>
          <p:sp>
            <p:nvSpPr>
              <p:cNvPr id="5" name="文本框 4"/>
              <p:cNvSpPr txBox="1"/>
              <p:nvPr/>
            </p:nvSpPr>
            <p:spPr>
              <a:xfrm>
                <a:off x="9158872" y="75417"/>
                <a:ext cx="2799646" cy="569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000" b="1" dirty="0">
                    <a:solidFill>
                      <a:srgbClr val="183884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机器人科学与工程学院</a:t>
                </a:r>
                <a:endParaRPr lang="en-US" altLang="zh-CN" sz="2000" b="1" dirty="0">
                  <a:solidFill>
                    <a:srgbClr val="183884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1100" b="1" i="1" u="sng" dirty="0">
                    <a:solidFill>
                      <a:srgbClr val="183884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Faculty of Robot Science and Engineering</a:t>
                </a:r>
                <a:endParaRPr lang="zh-CN" altLang="zh-CN" sz="1100" b="1" i="1" u="sng" dirty="0">
                  <a:solidFill>
                    <a:srgbClr val="183884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1">
                <a:extLst>
                  <a:ext uri="{BEBA8EAE-BF5A-486C-A8C5-ECC9F3942E4B}">
                    <a14:imgProps xmlns:a14="http://schemas.microsoft.com/office/drawing/2010/main">
                      <a14:imgLayer r:embed="rId2">
                        <a14:imgEffect>
                          <a14:artisticPaintBrush brushSize="10"/>
                        </a14:imgEffect>
                        <a14:imgEffect>
                          <a14:sharpenSoften amount="44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33552" y="75111"/>
                <a:ext cx="551050" cy="546198"/>
              </a:xfrm>
              <a:prstGeom prst="rect">
                <a:avLst/>
              </a:prstGeom>
            </p:spPr>
          </p:pic>
        </p:grpSp>
        <p:cxnSp>
          <p:nvCxnSpPr>
            <p:cNvPr id="7" name="直接连接符 9"/>
            <p:cNvCxnSpPr/>
            <p:nvPr/>
          </p:nvCxnSpPr>
          <p:spPr>
            <a:xfrm>
              <a:off x="420" y="1194"/>
              <a:ext cx="18376" cy="0"/>
            </a:xfrm>
            <a:prstGeom prst="line">
              <a:avLst/>
            </a:prstGeom>
            <a:ln w="38100" cap="flat" cmpd="sng" algn="ctr">
              <a:solidFill>
                <a:schemeClr val="accent5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cxnSp>
        <p:nvCxnSpPr>
          <p:cNvPr id="12" name="直接连接符 9"/>
          <p:cNvCxnSpPr/>
          <p:nvPr>
            <p:custDataLst>
              <p:tags r:id="rId3"/>
            </p:custDataLst>
          </p:nvPr>
        </p:nvCxnSpPr>
        <p:spPr>
          <a:xfrm>
            <a:off x="266700" y="6333924"/>
            <a:ext cx="11668626" cy="0"/>
          </a:xfrm>
          <a:prstGeom prst="line">
            <a:avLst/>
          </a:prstGeom>
          <a:ln w="3810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1" name="文本框 120"/>
          <p:cNvSpPr txBox="1"/>
          <p:nvPr/>
        </p:nvSpPr>
        <p:spPr>
          <a:xfrm>
            <a:off x="5403850" y="350520"/>
            <a:ext cx="1553210" cy="530225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noAutofit/>
          </a:bodyPr>
          <a:p>
            <a:pPr algn="l" fontAlgn="base">
              <a:buClrTx/>
              <a:buSzTx/>
              <a:buFontTx/>
            </a:pP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研究思路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pPr algn="ctr"/>
            <a:endParaRPr lang="zh-CN" altLang="en-US" sz="2400" i="1" dirty="0" err="1">
              <a:ln>
                <a:solidFill>
                  <a:schemeClr val="tx1"/>
                </a:solidFill>
              </a:ln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174625" y="6406515"/>
            <a:ext cx="441325" cy="332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➢</a:t>
            </a:r>
            <a:r>
              <a:rPr lang="en-US" altLang="zh-CN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endParaRPr lang="zh-CN" altLang="en-US" b="1" i="1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34" name="文本框 33">
            <a:hlinkClick r:id="rId5"/>
          </p:cNvPr>
          <p:cNvSpPr txBox="1"/>
          <p:nvPr/>
        </p:nvSpPr>
        <p:spPr>
          <a:xfrm>
            <a:off x="451485" y="372745"/>
            <a:ext cx="1868170" cy="5219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altLang="zh-CN" sz="1400" b="1" i="1" u="sng" dirty="0">
                <a:solidFill>
                  <a:srgbClr val="183884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Research Background and Significance</a:t>
            </a:r>
            <a:endParaRPr lang="en-US" altLang="zh-CN" sz="1400" b="1" i="1" u="sng" dirty="0">
              <a:solidFill>
                <a:srgbClr val="183884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605" y="6352540"/>
            <a:ext cx="499110" cy="50546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746562" y="6406515"/>
            <a:ext cx="1758507" cy="40850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D9D8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308735" y="6406515"/>
            <a:ext cx="1933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研究背景及意义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438400" y="6446757"/>
            <a:ext cx="228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研究综述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839179" y="6446757"/>
            <a:ext cx="163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研究内容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706014" y="6435952"/>
            <a:ext cx="163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前期工作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572850" y="6458285"/>
            <a:ext cx="163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研究计划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1465286" y="6352823"/>
            <a:ext cx="469673" cy="29189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55600" y="2904490"/>
            <a:ext cx="3082925" cy="316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/>
              <a:t>            </a:t>
            </a:r>
            <a:r>
              <a:rPr lang="zh-CN" altLang="en-US" sz="1200"/>
              <a:t>图</a:t>
            </a:r>
            <a:r>
              <a:rPr lang="en-US" altLang="zh-CN" sz="1200"/>
              <a:t>1</a:t>
            </a:r>
            <a:r>
              <a:rPr lang="zh-CN" altLang="en-US" sz="1200">
                <a:sym typeface="+mn-ea"/>
              </a:rPr>
              <a:t>：</a:t>
            </a:r>
            <a:r>
              <a:rPr lang="en-US" altLang="zh-CN" sz="1200"/>
              <a:t>Code as Policies</a:t>
            </a:r>
            <a:endParaRPr lang="en-US" altLang="zh-CN" sz="1200"/>
          </a:p>
          <a:p>
            <a:endParaRPr lang="zh-CN" altLang="en-US" sz="1200"/>
          </a:p>
        </p:txBody>
      </p:sp>
      <p:sp>
        <p:nvSpPr>
          <p:cNvPr id="19" name="Shape 3"/>
          <p:cNvSpPr/>
          <p:nvPr/>
        </p:nvSpPr>
        <p:spPr>
          <a:xfrm>
            <a:off x="612458" y="3236436"/>
            <a:ext cx="35719" cy="268738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</p:sp>
      <p:sp>
        <p:nvSpPr>
          <p:cNvPr id="47" name="文本框 46"/>
          <p:cNvSpPr txBox="1"/>
          <p:nvPr/>
        </p:nvSpPr>
        <p:spPr>
          <a:xfrm>
            <a:off x="3242310" y="2904490"/>
            <a:ext cx="2781935" cy="275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>
                <a:solidFill>
                  <a:schemeClr val="tx1"/>
                </a:solidFill>
                <a:sym typeface="+mn-ea"/>
              </a:rPr>
              <a:t>图</a:t>
            </a:r>
            <a:r>
              <a:rPr lang="en-US" altLang="zh-CN" sz="1200">
                <a:solidFill>
                  <a:schemeClr val="tx1"/>
                </a:solidFill>
                <a:sym typeface="+mn-ea"/>
              </a:rPr>
              <a:t>2</a:t>
            </a:r>
            <a:r>
              <a:rPr lang="zh-CN" altLang="en-US" sz="1200">
                <a:solidFill>
                  <a:schemeClr val="tx1"/>
                </a:solidFill>
                <a:sym typeface="+mn-ea"/>
              </a:rPr>
              <a:t>：</a:t>
            </a:r>
            <a:r>
              <a:rPr lang="en-US" altLang="zh-CN" sz="1200">
                <a:solidFill>
                  <a:schemeClr val="tx1"/>
                </a:solidFill>
              </a:rPr>
              <a:t>ChatGPT for Robotics</a:t>
            </a:r>
            <a:endParaRPr lang="en-US" altLang="zh-CN" sz="1200">
              <a:solidFill>
                <a:schemeClr val="tx1"/>
              </a:solidFill>
            </a:endParaRPr>
          </a:p>
          <a:p>
            <a:endParaRPr lang="en-US" altLang="zh-CN" sz="1200">
              <a:solidFill>
                <a:schemeClr val="tx1"/>
              </a:solidFill>
            </a:endParaRPr>
          </a:p>
          <a:p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6626860" y="2904490"/>
            <a:ext cx="2339340" cy="275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>
                <a:solidFill>
                  <a:schemeClr val="tx1"/>
                </a:solidFill>
                <a:sym typeface="+mn-ea"/>
              </a:rPr>
              <a:t>图</a:t>
            </a:r>
            <a:r>
              <a:rPr lang="en-US" altLang="zh-CN" sz="1200">
                <a:solidFill>
                  <a:schemeClr val="tx1"/>
                </a:solidFill>
                <a:sym typeface="+mn-ea"/>
              </a:rPr>
              <a:t>3</a:t>
            </a:r>
            <a:r>
              <a:rPr lang="zh-CN" altLang="en-US" sz="1200">
                <a:solidFill>
                  <a:schemeClr val="tx1"/>
                </a:solidFill>
                <a:sym typeface="+mn-ea"/>
              </a:rPr>
              <a:t>：</a:t>
            </a:r>
            <a:r>
              <a:rPr lang="en-US" altLang="zh-CN" sz="1200">
                <a:solidFill>
                  <a:schemeClr val="tx1"/>
                </a:solidFill>
              </a:rPr>
              <a:t>Inner Monologue</a:t>
            </a:r>
            <a:endParaRPr lang="en-US" altLang="zh-CN" sz="1200">
              <a:solidFill>
                <a:schemeClr val="tx1"/>
              </a:solidFill>
            </a:endParaRPr>
          </a:p>
          <a:p>
            <a:endParaRPr lang="en-US" altLang="zh-CN" sz="1200">
              <a:solidFill>
                <a:schemeClr val="tx1"/>
              </a:solidFill>
            </a:endParaRPr>
          </a:p>
          <a:p>
            <a:endParaRPr lang="en-US" altLang="en-US" dirty="0">
              <a:solidFill>
                <a:schemeClr val="tx1"/>
              </a:solidFill>
            </a:endParaRPr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7"/>
          <a:srcRect l="26686" r="26035"/>
          <a:stretch>
            <a:fillRect/>
          </a:stretch>
        </p:blipFill>
        <p:spPr>
          <a:xfrm>
            <a:off x="266700" y="1122045"/>
            <a:ext cx="2684145" cy="1766570"/>
          </a:xfrm>
          <a:prstGeom prst="rect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10230" y="1122045"/>
            <a:ext cx="2980690" cy="1766570"/>
          </a:xfrm>
          <a:prstGeom prst="rect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</p:pic>
      <p:pic>
        <p:nvPicPr>
          <p:cNvPr id="15" name="图片 14"/>
          <p:cNvPicPr/>
          <p:nvPr/>
        </p:nvPicPr>
        <p:blipFill>
          <a:blip r:embed="rId9"/>
          <a:stretch>
            <a:fillRect/>
          </a:stretch>
        </p:blipFill>
        <p:spPr>
          <a:xfrm>
            <a:off x="6250305" y="1139825"/>
            <a:ext cx="2914650" cy="1749425"/>
          </a:xfrm>
          <a:prstGeom prst="rect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44025" y="1139825"/>
            <a:ext cx="2780030" cy="1757045"/>
          </a:xfrm>
          <a:prstGeom prst="rect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</p:pic>
      <p:sp>
        <p:nvSpPr>
          <p:cNvPr id="25" name="文本框 24"/>
          <p:cNvSpPr txBox="1"/>
          <p:nvPr/>
        </p:nvSpPr>
        <p:spPr>
          <a:xfrm>
            <a:off x="9891395" y="2945130"/>
            <a:ext cx="1486535" cy="275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>
                <a:solidFill>
                  <a:schemeClr val="tx1"/>
                </a:solidFill>
                <a:sym typeface="+mn-ea"/>
              </a:rPr>
              <a:t>图</a:t>
            </a:r>
            <a:r>
              <a:rPr lang="en-US" altLang="zh-CN" sz="1200">
                <a:solidFill>
                  <a:schemeClr val="tx1"/>
                </a:solidFill>
                <a:sym typeface="+mn-ea"/>
              </a:rPr>
              <a:t>4</a:t>
            </a:r>
            <a:r>
              <a:rPr lang="zh-CN" altLang="en-US" sz="1200">
                <a:solidFill>
                  <a:schemeClr val="tx1"/>
                </a:solidFill>
                <a:sym typeface="+mn-ea"/>
              </a:rPr>
              <a:t>：</a:t>
            </a:r>
            <a:r>
              <a:rPr lang="en-US" altLang="zh-CN" sz="1200">
                <a:solidFill>
                  <a:schemeClr val="tx1"/>
                </a:solidFill>
                <a:sym typeface="+mn-ea"/>
              </a:rPr>
              <a:t>Triple-S</a:t>
            </a:r>
            <a:endParaRPr lang="en-US" altLang="zh-CN" sz="1200">
              <a:solidFill>
                <a:schemeClr val="tx1"/>
              </a:solidFill>
            </a:endParaRPr>
          </a:p>
          <a:p>
            <a:endParaRPr lang="en-US" altLang="zh-CN" sz="1200">
              <a:solidFill>
                <a:schemeClr val="tx1"/>
              </a:solidFill>
            </a:endParaRPr>
          </a:p>
          <a:p>
            <a:endParaRPr lang="en-US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26" name="表格 25"/>
          <p:cNvGraphicFramePr/>
          <p:nvPr>
            <p:custDataLst>
              <p:tags r:id="rId11"/>
            </p:custDataLst>
          </p:nvPr>
        </p:nvGraphicFramePr>
        <p:xfrm>
          <a:off x="748030" y="3220085"/>
          <a:ext cx="6995160" cy="2139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2670"/>
                <a:gridCol w="4682490"/>
              </a:tblGrid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针对</a:t>
                      </a:r>
                      <a:r>
                        <a:rPr lang="zh-CN" altLang="en-US" sz="1400"/>
                        <a:t>问题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解决</a:t>
                      </a:r>
                      <a:r>
                        <a:rPr lang="zh-CN" altLang="en-US" sz="1400"/>
                        <a:t>思路</a:t>
                      </a:r>
                      <a:endParaRPr lang="zh-CN" altLang="en-US" sz="1400"/>
                    </a:p>
                  </a:txBody>
                  <a:tcPr/>
                </a:tc>
              </a:tr>
              <a:tr h="3937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/>
                        <a:t>数据需求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利用预训练知识，仅需少量示例或</a:t>
                      </a:r>
                      <a:r>
                        <a:rPr lang="en-US" altLang="zh-CN" sz="1600"/>
                        <a:t>0</a:t>
                      </a:r>
                      <a:r>
                        <a:rPr lang="zh-CN" altLang="en-US" sz="1600"/>
                        <a:t>示例</a:t>
                      </a:r>
                      <a:endParaRPr lang="zh-CN" altLang="en-US" sz="1600"/>
                    </a:p>
                  </a:txBody>
                  <a:tcPr/>
                </a:tc>
              </a:tr>
              <a:tr h="5334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把</a:t>
                      </a:r>
                      <a:r>
                        <a:rPr lang="en-US" altLang="zh-CN" sz="1600"/>
                        <a:t>“</a:t>
                      </a:r>
                      <a:r>
                        <a:rPr lang="zh-CN" altLang="en-US" sz="1600"/>
                        <a:t>技能</a:t>
                      </a:r>
                      <a:r>
                        <a:rPr lang="en-US" altLang="zh-CN" sz="1600"/>
                        <a:t>”</a:t>
                      </a:r>
                      <a:r>
                        <a:rPr lang="zh-CN" altLang="en-US" sz="1600"/>
                        <a:t>外化为</a:t>
                      </a:r>
                      <a:r>
                        <a:rPr lang="en-US" altLang="zh-CN" sz="1600"/>
                        <a:t>API/</a:t>
                      </a:r>
                      <a:r>
                        <a:rPr lang="zh-CN" altLang="en-US" sz="1600"/>
                        <a:t>库函数，新任务通过</a:t>
                      </a:r>
                      <a:r>
                        <a:rPr lang="en-US" altLang="zh-CN" sz="1600"/>
                        <a:t>few-shot</a:t>
                      </a:r>
                      <a:r>
                        <a:rPr lang="zh-CN" altLang="en-US" sz="1600"/>
                        <a:t>重组调用完成</a:t>
                      </a:r>
                      <a:endParaRPr lang="zh-CN" altLang="en-US" sz="1600"/>
                    </a:p>
                  </a:txBody>
                  <a:tcPr/>
                </a:tc>
              </a:tr>
              <a:tr h="3854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/>
                        <a:t>长序列任务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任务分解为可执行步骤</a:t>
                      </a:r>
                      <a:r>
                        <a:rPr lang="en-US" altLang="zh-CN" sz="1600"/>
                        <a:t>/</a:t>
                      </a:r>
                      <a:r>
                        <a:rPr lang="zh-CN" altLang="en-US" sz="1600"/>
                        <a:t>函数并迭代选择技能</a:t>
                      </a:r>
                      <a:endParaRPr lang="zh-CN" altLang="en-US" sz="1600"/>
                    </a:p>
                  </a:txBody>
                  <a:tcPr/>
                </a:tc>
              </a:tr>
              <a:tr h="3854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/>
                        <a:t>任务</a:t>
                      </a:r>
                      <a:r>
                        <a:rPr lang="zh-CN" altLang="en-US" sz="1800"/>
                        <a:t>灵活性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双臂分工</a:t>
                      </a:r>
                      <a:r>
                        <a:rPr lang="zh-CN" altLang="en-US" sz="1600"/>
                        <a:t>串并行稳持与协同操作。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5" name="矩形 34"/>
          <p:cNvSpPr/>
          <p:nvPr/>
        </p:nvSpPr>
        <p:spPr>
          <a:xfrm>
            <a:off x="748030" y="5469890"/>
            <a:ext cx="7056755" cy="8413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noAutofit/>
          </a:bodyPr>
          <a:p>
            <a:pPr marL="0" lvl="1" indent="0" algn="just" fontAlgn="auto">
              <a:lnSpc>
                <a:spcPts val="214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400" b="1" kern="100" dirty="0">
                <a:latin typeface="+mn-ea"/>
                <a:cs typeface="+mn-ea"/>
                <a:sym typeface="+mn-ea"/>
              </a:rPr>
              <a:t>结论：</a:t>
            </a:r>
            <a:r>
              <a:rPr lang="zh-CN" altLang="en-US" sz="1300" kern="100" dirty="0">
                <a:latin typeface="+mn-ea"/>
                <a:cs typeface="+mn-ea"/>
                <a:sym typeface="+mn-ea"/>
              </a:rPr>
              <a:t>对于</a:t>
            </a:r>
            <a:r>
              <a:rPr lang="zh-CN" altLang="en-US" sz="1400" b="1" kern="100" dirty="0">
                <a:solidFill>
                  <a:srgbClr val="C00000"/>
                </a:solidFill>
                <a:latin typeface="+mn-ea"/>
                <a:cs typeface="+mn-ea"/>
                <a:sym typeface="+mn-ea"/>
              </a:rPr>
              <a:t>化学材料实验</a:t>
            </a:r>
            <a:r>
              <a:rPr lang="zh-CN" altLang="en-US" sz="1300" kern="100" dirty="0">
                <a:latin typeface="+mn-ea"/>
                <a:cs typeface="+mn-ea"/>
                <a:sym typeface="+mn-ea"/>
              </a:rPr>
              <a:t>这类</a:t>
            </a:r>
            <a:r>
              <a:rPr lang="zh-CN" altLang="en-US" sz="1400" b="1" kern="100" dirty="0">
                <a:solidFill>
                  <a:srgbClr val="C00000"/>
                </a:solidFill>
                <a:latin typeface="+mn-ea"/>
                <a:cs typeface="+mn-ea"/>
                <a:sym typeface="+mn-ea"/>
              </a:rPr>
              <a:t>长序列</a:t>
            </a:r>
            <a:r>
              <a:rPr lang="zh-CN" altLang="en-US" sz="1300" kern="100" dirty="0">
                <a:latin typeface="+mn-ea"/>
                <a:cs typeface="+mn-ea"/>
                <a:sym typeface="+mn-ea"/>
              </a:rPr>
              <a:t>、</a:t>
            </a:r>
            <a:r>
              <a:rPr lang="zh-CN" altLang="en-US" sz="1400" b="1" kern="100" dirty="0">
                <a:solidFill>
                  <a:srgbClr val="C00000"/>
                </a:solidFill>
                <a:latin typeface="+mn-ea"/>
                <a:cs typeface="+mn-ea"/>
                <a:sym typeface="+mn-ea"/>
              </a:rPr>
              <a:t>高安全性</a:t>
            </a:r>
            <a:r>
              <a:rPr lang="zh-CN" altLang="en-US" sz="1300" kern="100" dirty="0">
                <a:latin typeface="+mn-ea"/>
                <a:cs typeface="+mn-ea"/>
                <a:sym typeface="+mn-ea"/>
              </a:rPr>
              <a:t>要求、需要</a:t>
            </a:r>
            <a:r>
              <a:rPr lang="zh-CN" altLang="en-US" sz="1400" b="1" kern="100" dirty="0">
                <a:solidFill>
                  <a:srgbClr val="C00000"/>
                </a:solidFill>
                <a:latin typeface="+mn-ea"/>
                <a:cs typeface="+mn-ea"/>
                <a:sym typeface="+mn-ea"/>
              </a:rPr>
              <a:t>持续学习新技能</a:t>
            </a:r>
            <a:r>
              <a:rPr lang="zh-CN" altLang="en-US" sz="1300" kern="100" dirty="0">
                <a:latin typeface="+mn-ea"/>
                <a:cs typeface="+mn-ea"/>
                <a:sym typeface="+mn-ea"/>
              </a:rPr>
              <a:t>的场景，</a:t>
            </a:r>
            <a:r>
              <a:rPr lang="zh-CN" altLang="en-US" sz="1400" b="1" kern="100" dirty="0">
                <a:solidFill>
                  <a:srgbClr val="C00000"/>
                </a:solidFill>
                <a:latin typeface="+mn-ea"/>
                <a:cs typeface="+mn-ea"/>
                <a:sym typeface="+mn-ea"/>
              </a:rPr>
              <a:t>LLMs</a:t>
            </a:r>
            <a:r>
              <a:rPr lang="zh-CN" altLang="en-US" sz="1400" b="1" kern="100" dirty="0">
                <a:solidFill>
                  <a:srgbClr val="C00000"/>
                </a:solidFill>
                <a:latin typeface="+mn-ea"/>
                <a:cs typeface="+mn-ea"/>
                <a:sym typeface="+mn-ea"/>
              </a:rPr>
              <a:t>策略代码驱动</a:t>
            </a:r>
            <a:r>
              <a:rPr lang="zh-CN" altLang="en-US" sz="1300" kern="100" dirty="0">
                <a:latin typeface="+mn-ea"/>
                <a:cs typeface="+mn-ea"/>
                <a:sym typeface="+mn-ea"/>
              </a:rPr>
              <a:t>方法在</a:t>
            </a:r>
            <a:r>
              <a:rPr lang="zh-CN" altLang="en-US" sz="1400" b="1" kern="100" dirty="0">
                <a:solidFill>
                  <a:srgbClr val="C00000"/>
                </a:solidFill>
                <a:latin typeface="+mn-ea"/>
                <a:cs typeface="+mn-ea"/>
                <a:sym typeface="+mn-ea"/>
              </a:rPr>
              <a:t>可解释性</a:t>
            </a:r>
            <a:r>
              <a:rPr lang="zh-CN" altLang="en-US" sz="1300" kern="100" dirty="0">
                <a:latin typeface="+mn-ea"/>
                <a:cs typeface="+mn-ea"/>
                <a:sym typeface="+mn-ea"/>
              </a:rPr>
              <a:t>、</a:t>
            </a:r>
            <a:r>
              <a:rPr lang="zh-CN" altLang="en-US" sz="1400" b="1" kern="100" dirty="0">
                <a:solidFill>
                  <a:srgbClr val="C00000"/>
                </a:solidFill>
                <a:latin typeface="+mn-ea"/>
                <a:cs typeface="+mn-ea"/>
                <a:sym typeface="+mn-ea"/>
              </a:rPr>
              <a:t>灵活性</a:t>
            </a:r>
            <a:r>
              <a:rPr lang="zh-CN" altLang="en-US" sz="1300" kern="100" dirty="0">
                <a:latin typeface="+mn-ea"/>
                <a:cs typeface="+mn-ea"/>
                <a:sym typeface="+mn-ea"/>
              </a:rPr>
              <a:t>、</a:t>
            </a:r>
            <a:r>
              <a:rPr lang="zh-CN" altLang="en-US" sz="1400" b="1" kern="100" dirty="0">
                <a:solidFill>
                  <a:srgbClr val="C00000"/>
                </a:solidFill>
                <a:latin typeface="+mn-ea"/>
                <a:cs typeface="+mn-ea"/>
                <a:sym typeface="+mn-ea"/>
              </a:rPr>
              <a:t>持续学习能力</a:t>
            </a:r>
            <a:r>
              <a:rPr lang="zh-CN" altLang="en-US" sz="1300" kern="100" dirty="0">
                <a:latin typeface="+mn-ea"/>
                <a:cs typeface="+mn-ea"/>
                <a:sym typeface="+mn-ea"/>
              </a:rPr>
              <a:t>等方面具有显著优势，是本课题的技术路线选择。</a:t>
            </a:r>
            <a:endParaRPr lang="zh-CN" altLang="en-US" sz="1300" kern="100" dirty="0">
              <a:latin typeface="+mn-ea"/>
              <a:cs typeface="+mn-ea"/>
              <a:sym typeface="+mn-ea"/>
            </a:endParaRPr>
          </a:p>
        </p:txBody>
      </p:sp>
      <p:grpSp>
        <p:nvGrpSpPr>
          <p:cNvPr id="68608" name="组合 68607"/>
          <p:cNvGrpSpPr/>
          <p:nvPr/>
        </p:nvGrpSpPr>
        <p:grpSpPr>
          <a:xfrm flipH="1">
            <a:off x="8357870" y="3806825"/>
            <a:ext cx="297180" cy="266700"/>
            <a:chOff x="312523" y="2914278"/>
            <a:chExt cx="685897" cy="689609"/>
          </a:xfrm>
        </p:grpSpPr>
        <p:sp>
          <p:nvSpPr>
            <p:cNvPr id="21" name="任意多边形: 形状 20"/>
            <p:cNvSpPr/>
            <p:nvPr/>
          </p:nvSpPr>
          <p:spPr>
            <a:xfrm>
              <a:off x="541220" y="2914278"/>
              <a:ext cx="304800" cy="304800"/>
            </a:xfrm>
            <a:custGeom>
              <a:avLst/>
              <a:gdLst>
                <a:gd name="connsiteX0" fmla="*/ 304800 w 304800"/>
                <a:gd name="connsiteY0" fmla="*/ 152400 h 304800"/>
                <a:gd name="connsiteX1" fmla="*/ 152400 w 304800"/>
                <a:gd name="connsiteY1" fmla="*/ 304800 h 304800"/>
                <a:gd name="connsiteX2" fmla="*/ 0 w 304800"/>
                <a:gd name="connsiteY2" fmla="*/ 152400 h 304800"/>
                <a:gd name="connsiteX3" fmla="*/ 152400 w 304800"/>
                <a:gd name="connsiteY3" fmla="*/ 0 h 304800"/>
                <a:gd name="connsiteX4" fmla="*/ 304800 w 304800"/>
                <a:gd name="connsiteY4" fmla="*/ 152400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0" h="304800">
                  <a:moveTo>
                    <a:pt x="304800" y="152400"/>
                  </a:moveTo>
                  <a:cubicBezTo>
                    <a:pt x="304800" y="236568"/>
                    <a:pt x="236568" y="304800"/>
                    <a:pt x="152400" y="304800"/>
                  </a:cubicBezTo>
                  <a:cubicBezTo>
                    <a:pt x="68232" y="304800"/>
                    <a:pt x="0" y="236568"/>
                    <a:pt x="0" y="152400"/>
                  </a:cubicBezTo>
                  <a:cubicBezTo>
                    <a:pt x="0" y="68232"/>
                    <a:pt x="68232" y="0"/>
                    <a:pt x="152400" y="0"/>
                  </a:cubicBezTo>
                  <a:cubicBezTo>
                    <a:pt x="236568" y="0"/>
                    <a:pt x="304800" y="68232"/>
                    <a:pt x="304800" y="1524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/>
            </a:p>
          </p:txBody>
        </p:sp>
        <p:sp>
          <p:nvSpPr>
            <p:cNvPr id="22" name="任意多边形: 形状 21"/>
            <p:cNvSpPr/>
            <p:nvPr/>
          </p:nvSpPr>
          <p:spPr>
            <a:xfrm>
              <a:off x="312523" y="3271280"/>
              <a:ext cx="218218" cy="332607"/>
            </a:xfrm>
            <a:custGeom>
              <a:avLst/>
              <a:gdLst>
                <a:gd name="connsiteX0" fmla="*/ 215361 w 218218"/>
                <a:gd name="connsiteY0" fmla="*/ 286887 h 332607"/>
                <a:gd name="connsiteX1" fmla="*/ 152496 w 218218"/>
                <a:gd name="connsiteY1" fmla="*/ 144965 h 332607"/>
                <a:gd name="connsiteX2" fmla="*/ 152496 w 218218"/>
                <a:gd name="connsiteY2" fmla="*/ 48762 h 332607"/>
                <a:gd name="connsiteX3" fmla="*/ 168689 w 218218"/>
                <a:gd name="connsiteY3" fmla="*/ 20187 h 332607"/>
                <a:gd name="connsiteX4" fmla="*/ 173451 w 218218"/>
                <a:gd name="connsiteY4" fmla="*/ 5900 h 332607"/>
                <a:gd name="connsiteX5" fmla="*/ 162974 w 218218"/>
                <a:gd name="connsiteY5" fmla="*/ 185 h 332607"/>
                <a:gd name="connsiteX6" fmla="*/ 54389 w 218218"/>
                <a:gd name="connsiteY6" fmla="*/ 185 h 332607"/>
                <a:gd name="connsiteX7" fmla="*/ 42959 w 218218"/>
                <a:gd name="connsiteY7" fmla="*/ 10662 h 332607"/>
                <a:gd name="connsiteX8" fmla="*/ 48674 w 218218"/>
                <a:gd name="connsiteY8" fmla="*/ 21140 h 332607"/>
                <a:gd name="connsiteX9" fmla="*/ 64866 w 218218"/>
                <a:gd name="connsiteY9" fmla="*/ 49715 h 332607"/>
                <a:gd name="connsiteX10" fmla="*/ 64866 w 218218"/>
                <a:gd name="connsiteY10" fmla="*/ 145917 h 332607"/>
                <a:gd name="connsiteX11" fmla="*/ 2954 w 218218"/>
                <a:gd name="connsiteY11" fmla="*/ 286887 h 332607"/>
                <a:gd name="connsiteX12" fmla="*/ 20099 w 218218"/>
                <a:gd name="connsiteY12" fmla="*/ 329750 h 332607"/>
                <a:gd name="connsiteX13" fmla="*/ 33434 w 218218"/>
                <a:gd name="connsiteY13" fmla="*/ 332607 h 332607"/>
                <a:gd name="connsiteX14" fmla="*/ 185834 w 218218"/>
                <a:gd name="connsiteY14" fmla="*/ 332607 h 332607"/>
                <a:gd name="connsiteX15" fmla="*/ 218219 w 218218"/>
                <a:gd name="connsiteY15" fmla="*/ 300222 h 332607"/>
                <a:gd name="connsiteX16" fmla="*/ 215361 w 218218"/>
                <a:gd name="connsiteY16" fmla="*/ 286887 h 332607"/>
                <a:gd name="connsiteX17" fmla="*/ 215361 w 218218"/>
                <a:gd name="connsiteY17" fmla="*/ 286887 h 332607"/>
                <a:gd name="connsiteX18" fmla="*/ 87726 w 218218"/>
                <a:gd name="connsiteY18" fmla="*/ 70670 h 332607"/>
                <a:gd name="connsiteX19" fmla="*/ 87726 w 218218"/>
                <a:gd name="connsiteY19" fmla="*/ 48762 h 332607"/>
                <a:gd name="connsiteX20" fmla="*/ 80106 w 218218"/>
                <a:gd name="connsiteY20" fmla="*/ 21140 h 332607"/>
                <a:gd name="connsiteX21" fmla="*/ 138209 w 218218"/>
                <a:gd name="connsiteY21" fmla="*/ 21140 h 332607"/>
                <a:gd name="connsiteX22" fmla="*/ 130589 w 218218"/>
                <a:gd name="connsiteY22" fmla="*/ 48762 h 332607"/>
                <a:gd name="connsiteX23" fmla="*/ 130589 w 218218"/>
                <a:gd name="connsiteY23" fmla="*/ 70670 h 332607"/>
                <a:gd name="connsiteX24" fmla="*/ 87726 w 218218"/>
                <a:gd name="connsiteY24" fmla="*/ 70670 h 332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18218" h="332607">
                  <a:moveTo>
                    <a:pt x="215361" y="286887"/>
                  </a:moveTo>
                  <a:lnTo>
                    <a:pt x="152496" y="144965"/>
                  </a:lnTo>
                  <a:lnTo>
                    <a:pt x="152496" y="48762"/>
                  </a:lnTo>
                  <a:cubicBezTo>
                    <a:pt x="152496" y="37332"/>
                    <a:pt x="159164" y="25902"/>
                    <a:pt x="168689" y="20187"/>
                  </a:cubicBezTo>
                  <a:cubicBezTo>
                    <a:pt x="174404" y="17330"/>
                    <a:pt x="176309" y="10662"/>
                    <a:pt x="173451" y="5900"/>
                  </a:cubicBezTo>
                  <a:cubicBezTo>
                    <a:pt x="171546" y="2090"/>
                    <a:pt x="167736" y="-768"/>
                    <a:pt x="162974" y="185"/>
                  </a:cubicBezTo>
                  <a:lnTo>
                    <a:pt x="54389" y="185"/>
                  </a:lnTo>
                  <a:cubicBezTo>
                    <a:pt x="48674" y="185"/>
                    <a:pt x="42959" y="3995"/>
                    <a:pt x="42959" y="10662"/>
                  </a:cubicBezTo>
                  <a:cubicBezTo>
                    <a:pt x="42959" y="15425"/>
                    <a:pt x="44864" y="19235"/>
                    <a:pt x="48674" y="21140"/>
                  </a:cubicBezTo>
                  <a:cubicBezTo>
                    <a:pt x="59151" y="26855"/>
                    <a:pt x="64866" y="38285"/>
                    <a:pt x="64866" y="49715"/>
                  </a:cubicBezTo>
                  <a:lnTo>
                    <a:pt x="64866" y="145917"/>
                  </a:lnTo>
                  <a:lnTo>
                    <a:pt x="2954" y="286887"/>
                  </a:lnTo>
                  <a:cubicBezTo>
                    <a:pt x="-4666" y="303080"/>
                    <a:pt x="2954" y="323082"/>
                    <a:pt x="20099" y="329750"/>
                  </a:cubicBezTo>
                  <a:cubicBezTo>
                    <a:pt x="23909" y="331655"/>
                    <a:pt x="28671" y="332607"/>
                    <a:pt x="33434" y="332607"/>
                  </a:cubicBezTo>
                  <a:lnTo>
                    <a:pt x="185834" y="332607"/>
                  </a:lnTo>
                  <a:cubicBezTo>
                    <a:pt x="203931" y="332607"/>
                    <a:pt x="218219" y="318320"/>
                    <a:pt x="218219" y="300222"/>
                  </a:cubicBezTo>
                  <a:cubicBezTo>
                    <a:pt x="218219" y="295460"/>
                    <a:pt x="217266" y="290697"/>
                    <a:pt x="215361" y="286887"/>
                  </a:cubicBezTo>
                  <a:lnTo>
                    <a:pt x="215361" y="286887"/>
                  </a:lnTo>
                  <a:close/>
                  <a:moveTo>
                    <a:pt x="87726" y="70670"/>
                  </a:moveTo>
                  <a:lnTo>
                    <a:pt x="87726" y="48762"/>
                  </a:lnTo>
                  <a:cubicBezTo>
                    <a:pt x="87726" y="39237"/>
                    <a:pt x="85821" y="29712"/>
                    <a:pt x="80106" y="21140"/>
                  </a:cubicBezTo>
                  <a:lnTo>
                    <a:pt x="138209" y="21140"/>
                  </a:lnTo>
                  <a:cubicBezTo>
                    <a:pt x="133446" y="29712"/>
                    <a:pt x="130589" y="39237"/>
                    <a:pt x="130589" y="48762"/>
                  </a:cubicBezTo>
                  <a:lnTo>
                    <a:pt x="130589" y="70670"/>
                  </a:lnTo>
                  <a:lnTo>
                    <a:pt x="87726" y="7067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/>
            </a:p>
          </p:txBody>
        </p:sp>
        <p:sp>
          <p:nvSpPr>
            <p:cNvPr id="23" name="任意多边形: 形状 22"/>
            <p:cNvSpPr/>
            <p:nvPr/>
          </p:nvSpPr>
          <p:spPr>
            <a:xfrm>
              <a:off x="416442" y="3123828"/>
              <a:ext cx="32384" cy="32385"/>
            </a:xfrm>
            <a:custGeom>
              <a:avLst/>
              <a:gdLst>
                <a:gd name="connsiteX0" fmla="*/ 32385 w 32384"/>
                <a:gd name="connsiteY0" fmla="*/ 16193 h 32385"/>
                <a:gd name="connsiteX1" fmla="*/ 16192 w 32384"/>
                <a:gd name="connsiteY1" fmla="*/ 32385 h 32385"/>
                <a:gd name="connsiteX2" fmla="*/ 0 w 32384"/>
                <a:gd name="connsiteY2" fmla="*/ 16193 h 32385"/>
                <a:gd name="connsiteX3" fmla="*/ 16192 w 32384"/>
                <a:gd name="connsiteY3" fmla="*/ 0 h 32385"/>
                <a:gd name="connsiteX4" fmla="*/ 32385 w 32384"/>
                <a:gd name="connsiteY4" fmla="*/ 16193 h 32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84" h="32385">
                  <a:moveTo>
                    <a:pt x="32385" y="16193"/>
                  </a:moveTo>
                  <a:cubicBezTo>
                    <a:pt x="32385" y="25135"/>
                    <a:pt x="25135" y="32385"/>
                    <a:pt x="16192" y="32385"/>
                  </a:cubicBezTo>
                  <a:cubicBezTo>
                    <a:pt x="7250" y="32385"/>
                    <a:pt x="0" y="25135"/>
                    <a:pt x="0" y="16193"/>
                  </a:cubicBezTo>
                  <a:cubicBezTo>
                    <a:pt x="0" y="7250"/>
                    <a:pt x="7250" y="0"/>
                    <a:pt x="16192" y="0"/>
                  </a:cubicBezTo>
                  <a:cubicBezTo>
                    <a:pt x="25135" y="0"/>
                    <a:pt x="32385" y="7250"/>
                    <a:pt x="32385" y="16193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/>
            </a:p>
          </p:txBody>
        </p:sp>
        <p:sp>
          <p:nvSpPr>
            <p:cNvPr id="27" name="任意多边形: 形状 23"/>
            <p:cNvSpPr/>
            <p:nvPr/>
          </p:nvSpPr>
          <p:spPr>
            <a:xfrm>
              <a:off x="444065" y="3173358"/>
              <a:ext cx="32384" cy="32385"/>
            </a:xfrm>
            <a:custGeom>
              <a:avLst/>
              <a:gdLst>
                <a:gd name="connsiteX0" fmla="*/ 32385 w 32384"/>
                <a:gd name="connsiteY0" fmla="*/ 16193 h 32385"/>
                <a:gd name="connsiteX1" fmla="*/ 16193 w 32384"/>
                <a:gd name="connsiteY1" fmla="*/ 32385 h 32385"/>
                <a:gd name="connsiteX2" fmla="*/ 0 w 32384"/>
                <a:gd name="connsiteY2" fmla="*/ 16193 h 32385"/>
                <a:gd name="connsiteX3" fmla="*/ 16193 w 32384"/>
                <a:gd name="connsiteY3" fmla="*/ 0 h 32385"/>
                <a:gd name="connsiteX4" fmla="*/ 32385 w 32384"/>
                <a:gd name="connsiteY4" fmla="*/ 16193 h 32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84" h="32385">
                  <a:moveTo>
                    <a:pt x="32385" y="16193"/>
                  </a:moveTo>
                  <a:cubicBezTo>
                    <a:pt x="32385" y="25135"/>
                    <a:pt x="25135" y="32385"/>
                    <a:pt x="16193" y="32385"/>
                  </a:cubicBezTo>
                  <a:cubicBezTo>
                    <a:pt x="7250" y="32385"/>
                    <a:pt x="0" y="25135"/>
                    <a:pt x="0" y="16193"/>
                  </a:cubicBezTo>
                  <a:cubicBezTo>
                    <a:pt x="0" y="7250"/>
                    <a:pt x="7250" y="0"/>
                    <a:pt x="16193" y="0"/>
                  </a:cubicBezTo>
                  <a:cubicBezTo>
                    <a:pt x="25135" y="0"/>
                    <a:pt x="32385" y="7250"/>
                    <a:pt x="32385" y="16193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/>
            </a:p>
          </p:txBody>
        </p:sp>
        <p:sp>
          <p:nvSpPr>
            <p:cNvPr id="30" name="任意多边形: 形状 24"/>
            <p:cNvSpPr/>
            <p:nvPr/>
          </p:nvSpPr>
          <p:spPr>
            <a:xfrm>
              <a:off x="384057" y="3161928"/>
              <a:ext cx="32384" cy="32385"/>
            </a:xfrm>
            <a:custGeom>
              <a:avLst/>
              <a:gdLst>
                <a:gd name="connsiteX0" fmla="*/ 32385 w 32384"/>
                <a:gd name="connsiteY0" fmla="*/ 16193 h 32385"/>
                <a:gd name="connsiteX1" fmla="*/ 16192 w 32384"/>
                <a:gd name="connsiteY1" fmla="*/ 32385 h 32385"/>
                <a:gd name="connsiteX2" fmla="*/ 0 w 32384"/>
                <a:gd name="connsiteY2" fmla="*/ 16193 h 32385"/>
                <a:gd name="connsiteX3" fmla="*/ 16192 w 32384"/>
                <a:gd name="connsiteY3" fmla="*/ 0 h 32385"/>
                <a:gd name="connsiteX4" fmla="*/ 32385 w 32384"/>
                <a:gd name="connsiteY4" fmla="*/ 16193 h 32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84" h="32385">
                  <a:moveTo>
                    <a:pt x="32385" y="16193"/>
                  </a:moveTo>
                  <a:cubicBezTo>
                    <a:pt x="32385" y="25135"/>
                    <a:pt x="25135" y="32385"/>
                    <a:pt x="16192" y="32385"/>
                  </a:cubicBezTo>
                  <a:cubicBezTo>
                    <a:pt x="7250" y="32385"/>
                    <a:pt x="0" y="25135"/>
                    <a:pt x="0" y="16193"/>
                  </a:cubicBezTo>
                  <a:cubicBezTo>
                    <a:pt x="0" y="7250"/>
                    <a:pt x="7250" y="0"/>
                    <a:pt x="16192" y="0"/>
                  </a:cubicBezTo>
                  <a:cubicBezTo>
                    <a:pt x="25135" y="0"/>
                    <a:pt x="32385" y="7250"/>
                    <a:pt x="32385" y="16193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/>
            </a:p>
          </p:txBody>
        </p:sp>
        <p:sp>
          <p:nvSpPr>
            <p:cNvPr id="31" name="任意多边形: 形状 25"/>
            <p:cNvSpPr/>
            <p:nvPr/>
          </p:nvSpPr>
          <p:spPr>
            <a:xfrm>
              <a:off x="388820" y="3216220"/>
              <a:ext cx="43815" cy="43814"/>
            </a:xfrm>
            <a:custGeom>
              <a:avLst/>
              <a:gdLst>
                <a:gd name="connsiteX0" fmla="*/ 43815 w 43815"/>
                <a:gd name="connsiteY0" fmla="*/ 21908 h 43814"/>
                <a:gd name="connsiteX1" fmla="*/ 21908 w 43815"/>
                <a:gd name="connsiteY1" fmla="*/ 43815 h 43814"/>
                <a:gd name="connsiteX2" fmla="*/ 0 w 43815"/>
                <a:gd name="connsiteY2" fmla="*/ 21908 h 43814"/>
                <a:gd name="connsiteX3" fmla="*/ 21908 w 43815"/>
                <a:gd name="connsiteY3" fmla="*/ 0 h 43814"/>
                <a:gd name="connsiteX4" fmla="*/ 43815 w 43815"/>
                <a:gd name="connsiteY4" fmla="*/ 21908 h 43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15" h="43814">
                  <a:moveTo>
                    <a:pt x="43815" y="21908"/>
                  </a:moveTo>
                  <a:cubicBezTo>
                    <a:pt x="43815" y="34007"/>
                    <a:pt x="34007" y="43815"/>
                    <a:pt x="21908" y="43815"/>
                  </a:cubicBezTo>
                  <a:cubicBezTo>
                    <a:pt x="9808" y="43815"/>
                    <a:pt x="0" y="34007"/>
                    <a:pt x="0" y="21908"/>
                  </a:cubicBezTo>
                  <a:cubicBezTo>
                    <a:pt x="0" y="9808"/>
                    <a:pt x="9808" y="0"/>
                    <a:pt x="21908" y="0"/>
                  </a:cubicBezTo>
                  <a:cubicBezTo>
                    <a:pt x="34007" y="0"/>
                    <a:pt x="43815" y="9808"/>
                    <a:pt x="43815" y="21908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/>
            </a:p>
          </p:txBody>
        </p:sp>
        <p:sp>
          <p:nvSpPr>
            <p:cNvPr id="32" name="任意多边形: 形状 26"/>
            <p:cNvSpPr/>
            <p:nvPr/>
          </p:nvSpPr>
          <p:spPr>
            <a:xfrm>
              <a:off x="484070" y="3279085"/>
              <a:ext cx="161925" cy="282892"/>
            </a:xfrm>
            <a:custGeom>
              <a:avLst/>
              <a:gdLst>
                <a:gd name="connsiteX0" fmla="*/ 161925 w 161925"/>
                <a:gd name="connsiteY0" fmla="*/ 196215 h 282892"/>
                <a:gd name="connsiteX1" fmla="*/ 93345 w 161925"/>
                <a:gd name="connsiteY1" fmla="*/ 123825 h 282892"/>
                <a:gd name="connsiteX2" fmla="*/ 131445 w 161925"/>
                <a:gd name="connsiteY2" fmla="*/ 76200 h 282892"/>
                <a:gd name="connsiteX3" fmla="*/ 131445 w 161925"/>
                <a:gd name="connsiteY3" fmla="*/ 75248 h 282892"/>
                <a:gd name="connsiteX4" fmla="*/ 73343 w 161925"/>
                <a:gd name="connsiteY4" fmla="*/ 80963 h 282892"/>
                <a:gd name="connsiteX5" fmla="*/ 75248 w 161925"/>
                <a:gd name="connsiteY5" fmla="*/ 0 h 282892"/>
                <a:gd name="connsiteX6" fmla="*/ 7620 w 161925"/>
                <a:gd name="connsiteY6" fmla="*/ 26670 h 282892"/>
                <a:gd name="connsiteX7" fmla="*/ 0 w 161925"/>
                <a:gd name="connsiteY7" fmla="*/ 41910 h 282892"/>
                <a:gd name="connsiteX8" fmla="*/ 0 w 161925"/>
                <a:gd name="connsiteY8" fmla="*/ 133350 h 282892"/>
                <a:gd name="connsiteX9" fmla="*/ 60960 w 161925"/>
                <a:gd name="connsiteY9" fmla="*/ 271463 h 282892"/>
                <a:gd name="connsiteX10" fmla="*/ 64770 w 161925"/>
                <a:gd name="connsiteY10" fmla="*/ 282893 h 282892"/>
                <a:gd name="connsiteX11" fmla="*/ 161925 w 161925"/>
                <a:gd name="connsiteY11" fmla="*/ 282893 h 282892"/>
                <a:gd name="connsiteX12" fmla="*/ 161925 w 161925"/>
                <a:gd name="connsiteY12" fmla="*/ 196215 h 282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282892">
                  <a:moveTo>
                    <a:pt x="161925" y="196215"/>
                  </a:moveTo>
                  <a:lnTo>
                    <a:pt x="93345" y="123825"/>
                  </a:lnTo>
                  <a:lnTo>
                    <a:pt x="131445" y="76200"/>
                  </a:lnTo>
                  <a:lnTo>
                    <a:pt x="131445" y="75248"/>
                  </a:lnTo>
                  <a:lnTo>
                    <a:pt x="73343" y="80963"/>
                  </a:lnTo>
                  <a:lnTo>
                    <a:pt x="75248" y="0"/>
                  </a:lnTo>
                  <a:cubicBezTo>
                    <a:pt x="52388" y="7620"/>
                    <a:pt x="29528" y="16193"/>
                    <a:pt x="7620" y="26670"/>
                  </a:cubicBezTo>
                  <a:cubicBezTo>
                    <a:pt x="3810" y="30480"/>
                    <a:pt x="953" y="36195"/>
                    <a:pt x="0" y="41910"/>
                  </a:cubicBezTo>
                  <a:lnTo>
                    <a:pt x="0" y="133350"/>
                  </a:lnTo>
                  <a:lnTo>
                    <a:pt x="60960" y="271463"/>
                  </a:lnTo>
                  <a:cubicBezTo>
                    <a:pt x="62865" y="275272"/>
                    <a:pt x="63818" y="279083"/>
                    <a:pt x="64770" y="282893"/>
                  </a:cubicBezTo>
                  <a:lnTo>
                    <a:pt x="161925" y="282893"/>
                  </a:lnTo>
                  <a:lnTo>
                    <a:pt x="161925" y="19621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/>
            </a:p>
          </p:txBody>
        </p:sp>
        <p:sp>
          <p:nvSpPr>
            <p:cNvPr id="33" name="任意多边形: 形状 27"/>
            <p:cNvSpPr/>
            <p:nvPr/>
          </p:nvSpPr>
          <p:spPr>
            <a:xfrm>
              <a:off x="597417" y="3257178"/>
              <a:ext cx="193357" cy="304800"/>
            </a:xfrm>
            <a:custGeom>
              <a:avLst/>
              <a:gdLst>
                <a:gd name="connsiteX0" fmla="*/ 67627 w 193357"/>
                <a:gd name="connsiteY0" fmla="*/ 209550 h 304800"/>
                <a:gd name="connsiteX1" fmla="*/ 67627 w 193357"/>
                <a:gd name="connsiteY1" fmla="*/ 304800 h 304800"/>
                <a:gd name="connsiteX2" fmla="*/ 124777 w 193357"/>
                <a:gd name="connsiteY2" fmla="*/ 304800 h 304800"/>
                <a:gd name="connsiteX3" fmla="*/ 124777 w 193357"/>
                <a:gd name="connsiteY3" fmla="*/ 209550 h 304800"/>
                <a:gd name="connsiteX4" fmla="*/ 193358 w 193357"/>
                <a:gd name="connsiteY4" fmla="*/ 11430 h 304800"/>
                <a:gd name="connsiteX5" fmla="*/ 96202 w 193357"/>
                <a:gd name="connsiteY5" fmla="*/ 0 h 304800"/>
                <a:gd name="connsiteX6" fmla="*/ 0 w 193357"/>
                <a:gd name="connsiteY6" fmla="*/ 11430 h 304800"/>
                <a:gd name="connsiteX7" fmla="*/ 67627 w 193357"/>
                <a:gd name="connsiteY7" fmla="*/ 209550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3357" h="304800">
                  <a:moveTo>
                    <a:pt x="67627" y="209550"/>
                  </a:moveTo>
                  <a:lnTo>
                    <a:pt x="67627" y="304800"/>
                  </a:lnTo>
                  <a:lnTo>
                    <a:pt x="124777" y="304800"/>
                  </a:lnTo>
                  <a:lnTo>
                    <a:pt x="124777" y="209550"/>
                  </a:lnTo>
                  <a:lnTo>
                    <a:pt x="193358" y="11430"/>
                  </a:lnTo>
                  <a:cubicBezTo>
                    <a:pt x="160972" y="3810"/>
                    <a:pt x="128588" y="0"/>
                    <a:pt x="96202" y="0"/>
                  </a:cubicBezTo>
                  <a:cubicBezTo>
                    <a:pt x="63817" y="0"/>
                    <a:pt x="31432" y="3810"/>
                    <a:pt x="0" y="11430"/>
                  </a:cubicBezTo>
                  <a:lnTo>
                    <a:pt x="67627" y="20955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/>
            </a:p>
          </p:txBody>
        </p:sp>
        <p:sp>
          <p:nvSpPr>
            <p:cNvPr id="37" name="任意多边形: 形状 28"/>
            <p:cNvSpPr/>
            <p:nvPr/>
          </p:nvSpPr>
          <p:spPr>
            <a:xfrm>
              <a:off x="741245" y="3279085"/>
              <a:ext cx="257175" cy="282892"/>
            </a:xfrm>
            <a:custGeom>
              <a:avLst/>
              <a:gdLst>
                <a:gd name="connsiteX0" fmla="*/ 226695 w 257175"/>
                <a:gd name="connsiteY0" fmla="*/ 69532 h 282892"/>
                <a:gd name="connsiteX1" fmla="*/ 86677 w 257175"/>
                <a:gd name="connsiteY1" fmla="*/ 0 h 282892"/>
                <a:gd name="connsiteX2" fmla="*/ 88582 w 257175"/>
                <a:gd name="connsiteY2" fmla="*/ 80963 h 282892"/>
                <a:gd name="connsiteX3" fmla="*/ 30480 w 257175"/>
                <a:gd name="connsiteY3" fmla="*/ 75248 h 282892"/>
                <a:gd name="connsiteX4" fmla="*/ 30480 w 257175"/>
                <a:gd name="connsiteY4" fmla="*/ 76200 h 282892"/>
                <a:gd name="connsiteX5" fmla="*/ 68580 w 257175"/>
                <a:gd name="connsiteY5" fmla="*/ 123825 h 282892"/>
                <a:gd name="connsiteX6" fmla="*/ 0 w 257175"/>
                <a:gd name="connsiteY6" fmla="*/ 196215 h 282892"/>
                <a:gd name="connsiteX7" fmla="*/ 0 w 257175"/>
                <a:gd name="connsiteY7" fmla="*/ 282893 h 282892"/>
                <a:gd name="connsiteX8" fmla="*/ 257175 w 257175"/>
                <a:gd name="connsiteY8" fmla="*/ 282893 h 282892"/>
                <a:gd name="connsiteX9" fmla="*/ 257175 w 257175"/>
                <a:gd name="connsiteY9" fmla="*/ 130493 h 282892"/>
                <a:gd name="connsiteX10" fmla="*/ 226695 w 257175"/>
                <a:gd name="connsiteY10" fmla="*/ 69532 h 282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7175" h="282892">
                  <a:moveTo>
                    <a:pt x="226695" y="69532"/>
                  </a:moveTo>
                  <a:cubicBezTo>
                    <a:pt x="184785" y="37148"/>
                    <a:pt x="137160" y="14288"/>
                    <a:pt x="86677" y="0"/>
                  </a:cubicBezTo>
                  <a:lnTo>
                    <a:pt x="88582" y="80963"/>
                  </a:lnTo>
                  <a:lnTo>
                    <a:pt x="30480" y="75248"/>
                  </a:lnTo>
                  <a:lnTo>
                    <a:pt x="30480" y="76200"/>
                  </a:lnTo>
                  <a:lnTo>
                    <a:pt x="68580" y="123825"/>
                  </a:lnTo>
                  <a:lnTo>
                    <a:pt x="0" y="196215"/>
                  </a:lnTo>
                  <a:lnTo>
                    <a:pt x="0" y="282893"/>
                  </a:lnTo>
                  <a:lnTo>
                    <a:pt x="257175" y="282893"/>
                  </a:lnTo>
                  <a:lnTo>
                    <a:pt x="257175" y="130493"/>
                  </a:lnTo>
                  <a:cubicBezTo>
                    <a:pt x="256223" y="106680"/>
                    <a:pt x="245745" y="83820"/>
                    <a:pt x="226695" y="69532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/>
            </a:p>
          </p:txBody>
        </p:sp>
      </p:grpSp>
      <p:sp>
        <p:nvSpPr>
          <p:cNvPr id="38" name="文本框 37"/>
          <p:cNvSpPr txBox="1"/>
          <p:nvPr/>
        </p:nvSpPr>
        <p:spPr>
          <a:xfrm>
            <a:off x="7858125" y="4102735"/>
            <a:ext cx="156019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用户指令 </a:t>
            </a:r>
            <a:r>
              <a:rPr lang="en-US" altLang="zh-CN" sz="1600" b="1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+ </a:t>
            </a:r>
            <a:endParaRPr lang="en-US" altLang="zh-CN" sz="1600" b="1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环境观测</a:t>
            </a:r>
            <a:endParaRPr lang="zh-CN" altLang="en-US" sz="1600" b="1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pic>
        <p:nvPicPr>
          <p:cNvPr id="179" name="图片 178" descr="QWe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04375" y="3783330"/>
            <a:ext cx="431165" cy="429260"/>
          </a:xfrm>
          <a:prstGeom prst="rect">
            <a:avLst/>
          </a:prstGeom>
        </p:spPr>
      </p:pic>
      <p:cxnSp>
        <p:nvCxnSpPr>
          <p:cNvPr id="222" name="Google Shape;329;p32"/>
          <p:cNvCxnSpPr/>
          <p:nvPr/>
        </p:nvCxnSpPr>
        <p:spPr>
          <a:xfrm flipH="1" flipV="1">
            <a:off x="8759650" y="3946425"/>
            <a:ext cx="553720" cy="317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stealth" w="med" len="med"/>
            <a:tailEnd type="none" w="med" len="med"/>
          </a:ln>
        </p:spPr>
      </p:cxnSp>
      <p:sp>
        <p:nvSpPr>
          <p:cNvPr id="39" name="文本框 38"/>
          <p:cNvSpPr txBox="1"/>
          <p:nvPr/>
        </p:nvSpPr>
        <p:spPr>
          <a:xfrm>
            <a:off x="9313545" y="4274185"/>
            <a:ext cx="16300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大模型决策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0" name="Google Shape;329;p32"/>
          <p:cNvCxnSpPr/>
          <p:nvPr/>
        </p:nvCxnSpPr>
        <p:spPr>
          <a:xfrm flipH="1" flipV="1">
            <a:off x="10389695" y="3949600"/>
            <a:ext cx="553720" cy="317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stealth" w="med" len="med"/>
            <a:tailEnd type="none" w="med" len="med"/>
          </a:ln>
        </p:spPr>
      </p:cxnSp>
      <p:pic>
        <p:nvPicPr>
          <p:cNvPr id="65" name="图片 6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13135" y="3769995"/>
            <a:ext cx="470535" cy="442595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10740390" y="4274185"/>
            <a:ext cx="11944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代码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生成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9242425" y="5363210"/>
            <a:ext cx="11480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1600" b="1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部署执行</a:t>
            </a:r>
            <a:endParaRPr lang="zh-CN" altLang="en-US" sz="1600" b="1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76" name="图片 17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62110" y="4686300"/>
            <a:ext cx="1127760" cy="640080"/>
          </a:xfrm>
          <a:prstGeom prst="rect">
            <a:avLst/>
          </a:prstGeom>
        </p:spPr>
      </p:pic>
      <p:cxnSp>
        <p:nvCxnSpPr>
          <p:cNvPr id="44" name="肘形连接符 43"/>
          <p:cNvCxnSpPr/>
          <p:nvPr/>
        </p:nvCxnSpPr>
        <p:spPr>
          <a:xfrm rot="10800000" flipV="1">
            <a:off x="10599420" y="4630420"/>
            <a:ext cx="798830" cy="651510"/>
          </a:xfrm>
          <a:prstGeom prst="bentConnector3">
            <a:avLst>
              <a:gd name="adj1" fmla="val 874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8808720" y="5833110"/>
            <a:ext cx="23406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spc="251">
                <a:ln w="3175">
                  <a:noFill/>
                  <a:prstDash val="dash"/>
                </a:ln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策略代码驱动流程</a:t>
            </a:r>
            <a:endParaRPr lang="zh-CN" altLang="en-US" b="1" spc="251">
              <a:ln w="3175">
                <a:noFill/>
                <a:prstDash val="dash"/>
              </a:ln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55395" y="4132580"/>
            <a:ext cx="1388745" cy="378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ym typeface="+mn-ea"/>
              </a:rPr>
              <a:t>灾难性遗忘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121" grpId="0" animBg="1"/>
      <p:bldP spid="121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/>
          <p:cNvSpPr/>
          <p:nvPr/>
        </p:nvSpPr>
        <p:spPr>
          <a:xfrm>
            <a:off x="8322945" y="3862705"/>
            <a:ext cx="3488055" cy="23469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4552950" y="3942080"/>
            <a:ext cx="3488055" cy="23469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圆角矩形 1"/>
          <p:cNvSpPr/>
          <p:nvPr/>
        </p:nvSpPr>
        <p:spPr>
          <a:xfrm>
            <a:off x="655955" y="3870960"/>
            <a:ext cx="3488055" cy="23469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1" name="文本框 110"/>
          <p:cNvSpPr txBox="1"/>
          <p:nvPr/>
        </p:nvSpPr>
        <p:spPr>
          <a:xfrm>
            <a:off x="8323580" y="3153410"/>
            <a:ext cx="3445510" cy="31076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200000"/>
              </a:lnSpc>
            </a:pPr>
            <a:endParaRPr lang="en-US" altLang="zh-CN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基于影响分析的自适应恢复机制</a:t>
            </a:r>
            <a:endParaRPr lang="en-US" altLang="zh-CN" b="1" dirty="0">
              <a:latin typeface="Times New Roman" panose="02020603050405020304" pitchFamily="18" charset="0"/>
              <a:ea typeface="微软雅黑" panose="020B0503020204020204" charset="-122"/>
            </a:endParaRPr>
          </a:p>
          <a:p>
            <a:pPr marL="285750" indent="-285750" fontAlgn="auto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endParaRPr lang="zh-CN" altLang="en-US" sz="1600" dirty="0">
              <a:latin typeface="Times New Roman" panose="02020603050405020304" pitchFamily="18" charset="0"/>
              <a:ea typeface="微软雅黑" panose="020B0503020204020204" charset="-122"/>
            </a:endParaRPr>
          </a:p>
          <a:p>
            <a:pPr marL="285750" indent="-285750" fontAlgn="auto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</a:rPr>
              <a:t>建立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charset="-122"/>
              </a:rPr>
              <a:t>"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</a:rPr>
              <a:t>影响分析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charset="-122"/>
              </a:rPr>
              <a:t>-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</a:rPr>
              <a:t>原因诊断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charset="-122"/>
              </a:rPr>
              <a:t>-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</a:rPr>
              <a:t>策略修正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charset="-122"/>
              </a:rPr>
              <a:t>"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</a:rPr>
              <a:t>框架，使智能体能够</a:t>
            </a:r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从失败中学习并自主恢复</a:t>
            </a:r>
            <a:endParaRPr lang="zh-CN" altLang="en-US" sz="16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zh-CN" altLang="en-US" sz="16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782587" y="3147511"/>
            <a:ext cx="3361633" cy="3030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200000"/>
              </a:lnSpc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研究内容一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yanjineiod</a:t>
            </a:r>
            <a:endParaRPr lang="en-US" altLang="zh-CN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charset="-122"/>
              </a:rPr>
              <a:t>基于大小脑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charset="-122"/>
              </a:rPr>
              <a:t>机制的双臂协同执行系统</a:t>
            </a:r>
            <a:endParaRPr lang="zh-CN" altLang="en-US" b="1" dirty="0">
              <a:latin typeface="Times New Roman" panose="02020603050405020304" pitchFamily="18" charset="0"/>
              <a:ea typeface="微软雅黑" panose="020B0503020204020204" charset="-122"/>
            </a:endParaRPr>
          </a:p>
          <a:p>
            <a:pPr marL="285750" indent="-285750" fontAlgn="auto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</a:rPr>
              <a:t>借鉴人脑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charset="-122"/>
              </a:rPr>
              <a:t> </a:t>
            </a:r>
            <a:r>
              <a: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大脑</a:t>
            </a:r>
            <a:r>
              <a:rPr lang="en-US" altLang="zh-CN" sz="16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-</a:t>
            </a:r>
            <a:r>
              <a: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小脑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</a:rPr>
              <a:t>分工机制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charset="-122"/>
              </a:rPr>
              <a:t>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</a:rPr>
              <a:t>，大脑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charset="-122"/>
              </a:rPr>
              <a:t>LLM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</a:rPr>
              <a:t>负责全局任务规划和双臂协调，小脑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charset="-122"/>
              </a:rPr>
              <a:t>LLMs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</a:rPr>
              <a:t>负责单臂的精细动作控制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4679315" y="3183890"/>
            <a:ext cx="3361690" cy="31191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200000"/>
              </a:lnSpc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研究内容二</a:t>
            </a:r>
            <a:endParaRPr lang="en-US" altLang="zh-CN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zh-CN" altLang="en-US" sz="1800" b="1" dirty="0">
                <a:latin typeface="Times New Roman" panose="02020603050405020304" pitchFamily="18" charset="0"/>
                <a:ea typeface="微软雅黑" panose="020B0503020204020204" charset="-122"/>
              </a:rPr>
              <a:t>基于结构化记忆的上下文检索框架</a:t>
            </a:r>
            <a:endParaRPr lang="zh-CN" altLang="en-US" sz="1800" b="1" dirty="0">
              <a:latin typeface="Times New Roman" panose="02020603050405020304" pitchFamily="18" charset="0"/>
              <a:ea typeface="微软雅黑" panose="020B0503020204020204" charset="-122"/>
            </a:endParaRPr>
          </a:p>
          <a:p>
            <a:pPr marL="285750" indent="-285750" fontAlgn="auto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</a:rPr>
              <a:t>构建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 </a:t>
            </a:r>
            <a:r>
              <a: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三层记忆架构 (工作记忆、短期记忆、长期记忆)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</a:rPr>
              <a:t>，通过结构化存储和语义检索突破上下文限制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zh-CN" altLang="en-US" sz="1600" dirty="0"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5295327" y="3322955"/>
            <a:ext cx="1758507" cy="40850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D9D8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</a:rPr>
              <a:t>研究内容二</a:t>
            </a:r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22605" y="350520"/>
            <a:ext cx="11668760" cy="621030"/>
            <a:chOff x="420" y="216"/>
            <a:chExt cx="18376" cy="978"/>
          </a:xfrm>
        </p:grpSpPr>
        <p:grpSp>
          <p:nvGrpSpPr>
            <p:cNvPr id="29" name="组合 28"/>
            <p:cNvGrpSpPr/>
            <p:nvPr/>
          </p:nvGrpSpPr>
          <p:grpSpPr>
            <a:xfrm>
              <a:off x="13717" y="216"/>
              <a:ext cx="5079" cy="895"/>
              <a:chOff x="8733552" y="75111"/>
              <a:chExt cx="3224966" cy="570305"/>
            </a:xfrm>
          </p:grpSpPr>
          <p:sp>
            <p:nvSpPr>
              <p:cNvPr id="5" name="文本框 4"/>
              <p:cNvSpPr txBox="1"/>
              <p:nvPr/>
            </p:nvSpPr>
            <p:spPr>
              <a:xfrm>
                <a:off x="9158872" y="75417"/>
                <a:ext cx="2799646" cy="569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000" b="1" dirty="0">
                    <a:solidFill>
                      <a:srgbClr val="183884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机器人科学与工程学院</a:t>
                </a:r>
                <a:endParaRPr lang="en-US" altLang="zh-CN" sz="2000" b="1" dirty="0">
                  <a:solidFill>
                    <a:srgbClr val="183884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1100" b="1" i="1" u="sng" dirty="0">
                    <a:solidFill>
                      <a:srgbClr val="183884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Faculty of Robot Science and Engineering</a:t>
                </a:r>
                <a:endParaRPr lang="zh-CN" altLang="zh-CN" sz="1100" b="1" i="1" u="sng" dirty="0">
                  <a:solidFill>
                    <a:srgbClr val="183884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1">
                <a:extLst>
                  <a:ext uri="{BEBA8EAE-BF5A-486C-A8C5-ECC9F3942E4B}">
                    <a14:imgProps xmlns:a14="http://schemas.microsoft.com/office/drawing/2010/main">
                      <a14:imgLayer r:embed="rId2">
                        <a14:imgEffect>
                          <a14:artisticPaintBrush brushSize="10"/>
                        </a14:imgEffect>
                        <a14:imgEffect>
                          <a14:sharpenSoften amount="44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33552" y="75111"/>
                <a:ext cx="551050" cy="546198"/>
              </a:xfrm>
              <a:prstGeom prst="rect">
                <a:avLst/>
              </a:prstGeom>
            </p:spPr>
          </p:pic>
        </p:grpSp>
        <p:cxnSp>
          <p:nvCxnSpPr>
            <p:cNvPr id="7" name="直接连接符 9"/>
            <p:cNvCxnSpPr/>
            <p:nvPr/>
          </p:nvCxnSpPr>
          <p:spPr>
            <a:xfrm>
              <a:off x="420" y="1194"/>
              <a:ext cx="18376" cy="0"/>
            </a:xfrm>
            <a:prstGeom prst="line">
              <a:avLst/>
            </a:prstGeom>
            <a:ln w="38100" cap="flat" cmpd="sng" algn="ctr">
              <a:solidFill>
                <a:schemeClr val="accent5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cxnSp>
        <p:nvCxnSpPr>
          <p:cNvPr id="12" name="直接连接符 9"/>
          <p:cNvCxnSpPr/>
          <p:nvPr>
            <p:custDataLst>
              <p:tags r:id="rId3"/>
            </p:custDataLst>
          </p:nvPr>
        </p:nvCxnSpPr>
        <p:spPr>
          <a:xfrm>
            <a:off x="266700" y="6333924"/>
            <a:ext cx="11668626" cy="0"/>
          </a:xfrm>
          <a:prstGeom prst="line">
            <a:avLst/>
          </a:prstGeom>
          <a:ln w="3810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1" name="文本框 120"/>
          <p:cNvSpPr txBox="1"/>
          <p:nvPr/>
        </p:nvSpPr>
        <p:spPr>
          <a:xfrm>
            <a:off x="5425440" y="379095"/>
            <a:ext cx="1446530" cy="530225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noAutofit/>
          </a:bodyPr>
          <a:p>
            <a:pPr algn="l" fontAlgn="base">
              <a:buClrTx/>
              <a:buSzTx/>
              <a:buFontTx/>
            </a:pP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研究方法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pPr algn="ctr"/>
            <a:endParaRPr lang="zh-CN" altLang="en-US" sz="2400" i="1" dirty="0" err="1">
              <a:ln>
                <a:solidFill>
                  <a:schemeClr val="tx1"/>
                </a:solidFill>
              </a:ln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174625" y="6406515"/>
            <a:ext cx="441325" cy="332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➢</a:t>
            </a:r>
            <a:r>
              <a:rPr lang="en-US" altLang="zh-CN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endParaRPr lang="zh-CN" altLang="en-US" b="1" i="1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34" name="文本框 33">
            <a:hlinkClick r:id="rId5"/>
          </p:cNvPr>
          <p:cNvSpPr txBox="1"/>
          <p:nvPr/>
        </p:nvSpPr>
        <p:spPr>
          <a:xfrm>
            <a:off x="451485" y="372745"/>
            <a:ext cx="1868170" cy="5219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altLang="zh-CN" sz="1400" b="1" i="1" u="sng" dirty="0">
                <a:solidFill>
                  <a:srgbClr val="183884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Research Background and Significance</a:t>
            </a:r>
            <a:endParaRPr lang="en-US" altLang="zh-CN" sz="1400" b="1" i="1" u="sng" dirty="0">
              <a:solidFill>
                <a:srgbClr val="183884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605" y="6352540"/>
            <a:ext cx="499110" cy="50546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769037" y="6406515"/>
            <a:ext cx="1758507" cy="40850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D9D8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308735" y="6406515"/>
            <a:ext cx="1933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研究背景及意义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265045" y="6406752"/>
            <a:ext cx="228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研究综述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839179" y="6446757"/>
            <a:ext cx="163830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研究内容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706014" y="6435952"/>
            <a:ext cx="163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前期工作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572850" y="6458285"/>
            <a:ext cx="163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研究计划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1465286" y="6352823"/>
            <a:ext cx="469673" cy="29189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箭头: V 形 22"/>
          <p:cNvSpPr/>
          <p:nvPr/>
        </p:nvSpPr>
        <p:spPr>
          <a:xfrm>
            <a:off x="495580" y="1404173"/>
            <a:ext cx="4183748" cy="1359473"/>
          </a:xfrm>
          <a:prstGeom prst="chevron">
            <a:avLst/>
          </a:prstGeom>
          <a:solidFill>
            <a:srgbClr val="D9D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2" name="箭头: V 形 25"/>
          <p:cNvSpPr/>
          <p:nvPr/>
        </p:nvSpPr>
        <p:spPr>
          <a:xfrm>
            <a:off x="4144213" y="1404173"/>
            <a:ext cx="4183747" cy="1354844"/>
          </a:xfrm>
          <a:prstGeom prst="chevron">
            <a:avLst/>
          </a:prstGeom>
          <a:solidFill>
            <a:srgbClr val="D9D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4679150" y="1478153"/>
            <a:ext cx="3411683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长序列任务中，LLM的上下文窗口有限，关键信息被"遗忘"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提示性遗忘）</a:t>
            </a:r>
            <a:endParaRPr lang="zh-CN" altLang="en-US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1021715" y="1584325"/>
            <a:ext cx="3205480" cy="10528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单一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LLM+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单臂无法并行稳持与操作长序列实验任务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，效率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较低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endParaRPr lang="zh-CN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211236" y="1044478"/>
            <a:ext cx="160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关键问题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211236" y="2786700"/>
            <a:ext cx="160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解决方案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箭头: V 形 26"/>
          <p:cNvSpPr/>
          <p:nvPr/>
        </p:nvSpPr>
        <p:spPr>
          <a:xfrm>
            <a:off x="7784265" y="1397823"/>
            <a:ext cx="4183748" cy="1354844"/>
          </a:xfrm>
          <a:prstGeom prst="chevron">
            <a:avLst/>
          </a:prstGeom>
          <a:solidFill>
            <a:srgbClr val="D9D8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algn="ctr">
              <a:lnSpc>
                <a:spcPct val="150000"/>
              </a:lnSpc>
              <a:buClrTx/>
              <a:buSzTx/>
              <a:buNone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长序列缺乏系统的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失败处理和错误恢复能力</a:t>
            </a:r>
            <a:endParaRPr lang="zh-CN" altLang="en-US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1506917" y="3327400"/>
            <a:ext cx="1758507" cy="40850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D9D8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研究内容一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8973247" y="3327400"/>
            <a:ext cx="1758507" cy="40850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D9D8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</a:rPr>
              <a:t>研究内容三</a:t>
            </a: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121" grpId="0" animBg="1"/>
      <p:bldP spid="121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805" y="899160"/>
            <a:ext cx="913130" cy="102870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429260" y="112395"/>
            <a:ext cx="11668760" cy="754380"/>
            <a:chOff x="420" y="6"/>
            <a:chExt cx="18376" cy="1188"/>
          </a:xfrm>
        </p:grpSpPr>
        <p:grpSp>
          <p:nvGrpSpPr>
            <p:cNvPr id="29" name="组合 28"/>
            <p:cNvGrpSpPr/>
            <p:nvPr/>
          </p:nvGrpSpPr>
          <p:grpSpPr>
            <a:xfrm>
              <a:off x="13607" y="6"/>
              <a:ext cx="5189" cy="930"/>
              <a:chOff x="8663706" y="-58704"/>
              <a:chExt cx="3294812" cy="592608"/>
            </a:xfrm>
          </p:grpSpPr>
          <p:sp>
            <p:nvSpPr>
              <p:cNvPr id="5" name="文本框 4"/>
              <p:cNvSpPr txBox="1"/>
              <p:nvPr/>
            </p:nvSpPr>
            <p:spPr>
              <a:xfrm>
                <a:off x="9158872" y="-36095"/>
                <a:ext cx="2799646" cy="569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000" b="1" dirty="0">
                    <a:solidFill>
                      <a:srgbClr val="183884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机器人科学与工程学院</a:t>
                </a:r>
                <a:endParaRPr lang="en-US" altLang="zh-CN" sz="2000" b="1" dirty="0">
                  <a:solidFill>
                    <a:srgbClr val="183884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1100" b="1" i="1" u="sng" dirty="0">
                    <a:solidFill>
                      <a:srgbClr val="183884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Faculty of Robot Science and Engineering</a:t>
                </a:r>
                <a:endParaRPr lang="zh-CN" altLang="zh-CN" sz="1100" b="1" i="1" u="sng" dirty="0">
                  <a:solidFill>
                    <a:srgbClr val="183884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aintBrush brushSize="10"/>
                        </a14:imgEffect>
                        <a14:imgEffect>
                          <a14:sharpenSoften amount="44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663706" y="-58704"/>
                <a:ext cx="551050" cy="546198"/>
              </a:xfrm>
              <a:prstGeom prst="rect">
                <a:avLst/>
              </a:prstGeom>
            </p:spPr>
          </p:pic>
        </p:grpSp>
        <p:cxnSp>
          <p:nvCxnSpPr>
            <p:cNvPr id="7" name="直接连接符 9"/>
            <p:cNvCxnSpPr/>
            <p:nvPr/>
          </p:nvCxnSpPr>
          <p:spPr>
            <a:xfrm>
              <a:off x="420" y="1194"/>
              <a:ext cx="18376" cy="0"/>
            </a:xfrm>
            <a:prstGeom prst="line">
              <a:avLst/>
            </a:prstGeom>
            <a:ln w="38100" cap="flat" cmpd="sng" algn="ctr">
              <a:solidFill>
                <a:schemeClr val="accent5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cxnSp>
        <p:nvCxnSpPr>
          <p:cNvPr id="12" name="直接连接符 9"/>
          <p:cNvCxnSpPr/>
          <p:nvPr>
            <p:custDataLst>
              <p:tags r:id="rId4"/>
            </p:custDataLst>
          </p:nvPr>
        </p:nvCxnSpPr>
        <p:spPr>
          <a:xfrm>
            <a:off x="266700" y="6333924"/>
            <a:ext cx="11668626" cy="0"/>
          </a:xfrm>
          <a:prstGeom prst="line">
            <a:avLst/>
          </a:prstGeom>
          <a:ln w="3810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1" name="文本框 120"/>
          <p:cNvSpPr txBox="1"/>
          <p:nvPr/>
        </p:nvSpPr>
        <p:spPr>
          <a:xfrm>
            <a:off x="4368800" y="239395"/>
            <a:ext cx="3841750" cy="530225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noAutofit/>
          </a:bodyPr>
          <a:p>
            <a:pPr algn="l" fontAlgn="base">
              <a:buClrTx/>
              <a:buSzTx/>
              <a:buFontTx/>
            </a:pP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             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研究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内容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pPr algn="ctr"/>
            <a:endParaRPr lang="zh-CN" altLang="en-US" sz="2400" i="1" dirty="0" err="1">
              <a:ln>
                <a:solidFill>
                  <a:schemeClr val="tx1"/>
                </a:solidFill>
              </a:ln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174625" y="6406515"/>
            <a:ext cx="441325" cy="332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➢</a:t>
            </a:r>
            <a:r>
              <a:rPr lang="en-US" altLang="zh-CN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endParaRPr lang="zh-CN" altLang="en-US" b="1" i="1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34" name="文本框 33">
            <a:hlinkClick r:id="rId6"/>
          </p:cNvPr>
          <p:cNvSpPr txBox="1"/>
          <p:nvPr/>
        </p:nvSpPr>
        <p:spPr>
          <a:xfrm>
            <a:off x="454660" y="239395"/>
            <a:ext cx="1868170" cy="5219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altLang="zh-CN" sz="1400" b="1" i="1" u="sng" dirty="0">
                <a:solidFill>
                  <a:srgbClr val="183884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Research Background and Significance</a:t>
            </a:r>
            <a:endParaRPr lang="en-US" altLang="zh-CN" sz="1400" b="1" i="1" u="sng" dirty="0">
              <a:solidFill>
                <a:srgbClr val="183884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2605" y="6352540"/>
            <a:ext cx="499110" cy="50546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769037" y="6406515"/>
            <a:ext cx="1758507" cy="40850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D9D8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308735" y="6406515"/>
            <a:ext cx="1933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研究背景及意义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265045" y="6406752"/>
            <a:ext cx="228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研究综述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839179" y="6446757"/>
            <a:ext cx="163830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研究内容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706014" y="6435952"/>
            <a:ext cx="163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前期工作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572850" y="6458285"/>
            <a:ext cx="163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研究计划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1465286" y="6352823"/>
            <a:ext cx="469673" cy="29189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4352925" y="951865"/>
            <a:ext cx="3387725" cy="5273040"/>
          </a:xfrm>
          <a:prstGeom prst="rect">
            <a:avLst/>
          </a:prstGeom>
          <a:noFill/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553085" y="951865"/>
            <a:ext cx="3174365" cy="5272405"/>
          </a:xfrm>
          <a:prstGeom prst="rect">
            <a:avLst/>
          </a:prstGeom>
          <a:noFill/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8271510" y="963930"/>
            <a:ext cx="3826510" cy="5260975"/>
          </a:xfrm>
          <a:prstGeom prst="rect">
            <a:avLst/>
          </a:prstGeom>
          <a:noFill/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5" name="文本框 394"/>
          <p:cNvSpPr txBox="1"/>
          <p:nvPr/>
        </p:nvSpPr>
        <p:spPr>
          <a:xfrm>
            <a:off x="1612422" y="952162"/>
            <a:ext cx="1055182" cy="30777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研究内容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515132" y="972482"/>
            <a:ext cx="1055182" cy="30670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rtlCol="0">
            <a:spAutoFit/>
          </a:bodyPr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研究内容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845197" y="994707"/>
            <a:ext cx="1055182" cy="30670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rtlCol="0">
            <a:spAutoFit/>
          </a:bodyPr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研究内容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8608" name="组合 68607"/>
          <p:cNvGrpSpPr/>
          <p:nvPr/>
        </p:nvGrpSpPr>
        <p:grpSpPr>
          <a:xfrm flipH="1">
            <a:off x="550545" y="1831340"/>
            <a:ext cx="297180" cy="266700"/>
            <a:chOff x="312523" y="2914278"/>
            <a:chExt cx="685897" cy="689609"/>
          </a:xfrm>
        </p:grpSpPr>
        <p:sp>
          <p:nvSpPr>
            <p:cNvPr id="21" name="任意多边形: 形状 20"/>
            <p:cNvSpPr/>
            <p:nvPr/>
          </p:nvSpPr>
          <p:spPr>
            <a:xfrm>
              <a:off x="541220" y="2914278"/>
              <a:ext cx="304800" cy="304800"/>
            </a:xfrm>
            <a:custGeom>
              <a:avLst/>
              <a:gdLst>
                <a:gd name="connsiteX0" fmla="*/ 304800 w 304800"/>
                <a:gd name="connsiteY0" fmla="*/ 152400 h 304800"/>
                <a:gd name="connsiteX1" fmla="*/ 152400 w 304800"/>
                <a:gd name="connsiteY1" fmla="*/ 304800 h 304800"/>
                <a:gd name="connsiteX2" fmla="*/ 0 w 304800"/>
                <a:gd name="connsiteY2" fmla="*/ 152400 h 304800"/>
                <a:gd name="connsiteX3" fmla="*/ 152400 w 304800"/>
                <a:gd name="connsiteY3" fmla="*/ 0 h 304800"/>
                <a:gd name="connsiteX4" fmla="*/ 304800 w 304800"/>
                <a:gd name="connsiteY4" fmla="*/ 152400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0" h="304800">
                  <a:moveTo>
                    <a:pt x="304800" y="152400"/>
                  </a:moveTo>
                  <a:cubicBezTo>
                    <a:pt x="304800" y="236568"/>
                    <a:pt x="236568" y="304800"/>
                    <a:pt x="152400" y="304800"/>
                  </a:cubicBezTo>
                  <a:cubicBezTo>
                    <a:pt x="68232" y="304800"/>
                    <a:pt x="0" y="236568"/>
                    <a:pt x="0" y="152400"/>
                  </a:cubicBezTo>
                  <a:cubicBezTo>
                    <a:pt x="0" y="68232"/>
                    <a:pt x="68232" y="0"/>
                    <a:pt x="152400" y="0"/>
                  </a:cubicBezTo>
                  <a:cubicBezTo>
                    <a:pt x="236568" y="0"/>
                    <a:pt x="304800" y="68232"/>
                    <a:pt x="304800" y="1524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/>
            </a:p>
          </p:txBody>
        </p:sp>
        <p:sp>
          <p:nvSpPr>
            <p:cNvPr id="22" name="任意多边形: 形状 21"/>
            <p:cNvSpPr/>
            <p:nvPr/>
          </p:nvSpPr>
          <p:spPr>
            <a:xfrm>
              <a:off x="312523" y="3271280"/>
              <a:ext cx="218218" cy="332607"/>
            </a:xfrm>
            <a:custGeom>
              <a:avLst/>
              <a:gdLst>
                <a:gd name="connsiteX0" fmla="*/ 215361 w 218218"/>
                <a:gd name="connsiteY0" fmla="*/ 286887 h 332607"/>
                <a:gd name="connsiteX1" fmla="*/ 152496 w 218218"/>
                <a:gd name="connsiteY1" fmla="*/ 144965 h 332607"/>
                <a:gd name="connsiteX2" fmla="*/ 152496 w 218218"/>
                <a:gd name="connsiteY2" fmla="*/ 48762 h 332607"/>
                <a:gd name="connsiteX3" fmla="*/ 168689 w 218218"/>
                <a:gd name="connsiteY3" fmla="*/ 20187 h 332607"/>
                <a:gd name="connsiteX4" fmla="*/ 173451 w 218218"/>
                <a:gd name="connsiteY4" fmla="*/ 5900 h 332607"/>
                <a:gd name="connsiteX5" fmla="*/ 162974 w 218218"/>
                <a:gd name="connsiteY5" fmla="*/ 185 h 332607"/>
                <a:gd name="connsiteX6" fmla="*/ 54389 w 218218"/>
                <a:gd name="connsiteY6" fmla="*/ 185 h 332607"/>
                <a:gd name="connsiteX7" fmla="*/ 42959 w 218218"/>
                <a:gd name="connsiteY7" fmla="*/ 10662 h 332607"/>
                <a:gd name="connsiteX8" fmla="*/ 48674 w 218218"/>
                <a:gd name="connsiteY8" fmla="*/ 21140 h 332607"/>
                <a:gd name="connsiteX9" fmla="*/ 64866 w 218218"/>
                <a:gd name="connsiteY9" fmla="*/ 49715 h 332607"/>
                <a:gd name="connsiteX10" fmla="*/ 64866 w 218218"/>
                <a:gd name="connsiteY10" fmla="*/ 145917 h 332607"/>
                <a:gd name="connsiteX11" fmla="*/ 2954 w 218218"/>
                <a:gd name="connsiteY11" fmla="*/ 286887 h 332607"/>
                <a:gd name="connsiteX12" fmla="*/ 20099 w 218218"/>
                <a:gd name="connsiteY12" fmla="*/ 329750 h 332607"/>
                <a:gd name="connsiteX13" fmla="*/ 33434 w 218218"/>
                <a:gd name="connsiteY13" fmla="*/ 332607 h 332607"/>
                <a:gd name="connsiteX14" fmla="*/ 185834 w 218218"/>
                <a:gd name="connsiteY14" fmla="*/ 332607 h 332607"/>
                <a:gd name="connsiteX15" fmla="*/ 218219 w 218218"/>
                <a:gd name="connsiteY15" fmla="*/ 300222 h 332607"/>
                <a:gd name="connsiteX16" fmla="*/ 215361 w 218218"/>
                <a:gd name="connsiteY16" fmla="*/ 286887 h 332607"/>
                <a:gd name="connsiteX17" fmla="*/ 215361 w 218218"/>
                <a:gd name="connsiteY17" fmla="*/ 286887 h 332607"/>
                <a:gd name="connsiteX18" fmla="*/ 87726 w 218218"/>
                <a:gd name="connsiteY18" fmla="*/ 70670 h 332607"/>
                <a:gd name="connsiteX19" fmla="*/ 87726 w 218218"/>
                <a:gd name="connsiteY19" fmla="*/ 48762 h 332607"/>
                <a:gd name="connsiteX20" fmla="*/ 80106 w 218218"/>
                <a:gd name="connsiteY20" fmla="*/ 21140 h 332607"/>
                <a:gd name="connsiteX21" fmla="*/ 138209 w 218218"/>
                <a:gd name="connsiteY21" fmla="*/ 21140 h 332607"/>
                <a:gd name="connsiteX22" fmla="*/ 130589 w 218218"/>
                <a:gd name="connsiteY22" fmla="*/ 48762 h 332607"/>
                <a:gd name="connsiteX23" fmla="*/ 130589 w 218218"/>
                <a:gd name="connsiteY23" fmla="*/ 70670 h 332607"/>
                <a:gd name="connsiteX24" fmla="*/ 87726 w 218218"/>
                <a:gd name="connsiteY24" fmla="*/ 70670 h 332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18218" h="332607">
                  <a:moveTo>
                    <a:pt x="215361" y="286887"/>
                  </a:moveTo>
                  <a:lnTo>
                    <a:pt x="152496" y="144965"/>
                  </a:lnTo>
                  <a:lnTo>
                    <a:pt x="152496" y="48762"/>
                  </a:lnTo>
                  <a:cubicBezTo>
                    <a:pt x="152496" y="37332"/>
                    <a:pt x="159164" y="25902"/>
                    <a:pt x="168689" y="20187"/>
                  </a:cubicBezTo>
                  <a:cubicBezTo>
                    <a:pt x="174404" y="17330"/>
                    <a:pt x="176309" y="10662"/>
                    <a:pt x="173451" y="5900"/>
                  </a:cubicBezTo>
                  <a:cubicBezTo>
                    <a:pt x="171546" y="2090"/>
                    <a:pt x="167736" y="-768"/>
                    <a:pt x="162974" y="185"/>
                  </a:cubicBezTo>
                  <a:lnTo>
                    <a:pt x="54389" y="185"/>
                  </a:lnTo>
                  <a:cubicBezTo>
                    <a:pt x="48674" y="185"/>
                    <a:pt x="42959" y="3995"/>
                    <a:pt x="42959" y="10662"/>
                  </a:cubicBezTo>
                  <a:cubicBezTo>
                    <a:pt x="42959" y="15425"/>
                    <a:pt x="44864" y="19235"/>
                    <a:pt x="48674" y="21140"/>
                  </a:cubicBezTo>
                  <a:cubicBezTo>
                    <a:pt x="59151" y="26855"/>
                    <a:pt x="64866" y="38285"/>
                    <a:pt x="64866" y="49715"/>
                  </a:cubicBezTo>
                  <a:lnTo>
                    <a:pt x="64866" y="145917"/>
                  </a:lnTo>
                  <a:lnTo>
                    <a:pt x="2954" y="286887"/>
                  </a:lnTo>
                  <a:cubicBezTo>
                    <a:pt x="-4666" y="303080"/>
                    <a:pt x="2954" y="323082"/>
                    <a:pt x="20099" y="329750"/>
                  </a:cubicBezTo>
                  <a:cubicBezTo>
                    <a:pt x="23909" y="331655"/>
                    <a:pt x="28671" y="332607"/>
                    <a:pt x="33434" y="332607"/>
                  </a:cubicBezTo>
                  <a:lnTo>
                    <a:pt x="185834" y="332607"/>
                  </a:lnTo>
                  <a:cubicBezTo>
                    <a:pt x="203931" y="332607"/>
                    <a:pt x="218219" y="318320"/>
                    <a:pt x="218219" y="300222"/>
                  </a:cubicBezTo>
                  <a:cubicBezTo>
                    <a:pt x="218219" y="295460"/>
                    <a:pt x="217266" y="290697"/>
                    <a:pt x="215361" y="286887"/>
                  </a:cubicBezTo>
                  <a:lnTo>
                    <a:pt x="215361" y="286887"/>
                  </a:lnTo>
                  <a:close/>
                  <a:moveTo>
                    <a:pt x="87726" y="70670"/>
                  </a:moveTo>
                  <a:lnTo>
                    <a:pt x="87726" y="48762"/>
                  </a:lnTo>
                  <a:cubicBezTo>
                    <a:pt x="87726" y="39237"/>
                    <a:pt x="85821" y="29712"/>
                    <a:pt x="80106" y="21140"/>
                  </a:cubicBezTo>
                  <a:lnTo>
                    <a:pt x="138209" y="21140"/>
                  </a:lnTo>
                  <a:cubicBezTo>
                    <a:pt x="133446" y="29712"/>
                    <a:pt x="130589" y="39237"/>
                    <a:pt x="130589" y="48762"/>
                  </a:cubicBezTo>
                  <a:lnTo>
                    <a:pt x="130589" y="70670"/>
                  </a:lnTo>
                  <a:lnTo>
                    <a:pt x="87726" y="7067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/>
            </a:p>
          </p:txBody>
        </p:sp>
        <p:sp>
          <p:nvSpPr>
            <p:cNvPr id="23" name="任意多边形: 形状 22"/>
            <p:cNvSpPr/>
            <p:nvPr/>
          </p:nvSpPr>
          <p:spPr>
            <a:xfrm>
              <a:off x="416442" y="3123828"/>
              <a:ext cx="32384" cy="32385"/>
            </a:xfrm>
            <a:custGeom>
              <a:avLst/>
              <a:gdLst>
                <a:gd name="connsiteX0" fmla="*/ 32385 w 32384"/>
                <a:gd name="connsiteY0" fmla="*/ 16193 h 32385"/>
                <a:gd name="connsiteX1" fmla="*/ 16192 w 32384"/>
                <a:gd name="connsiteY1" fmla="*/ 32385 h 32385"/>
                <a:gd name="connsiteX2" fmla="*/ 0 w 32384"/>
                <a:gd name="connsiteY2" fmla="*/ 16193 h 32385"/>
                <a:gd name="connsiteX3" fmla="*/ 16192 w 32384"/>
                <a:gd name="connsiteY3" fmla="*/ 0 h 32385"/>
                <a:gd name="connsiteX4" fmla="*/ 32385 w 32384"/>
                <a:gd name="connsiteY4" fmla="*/ 16193 h 32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84" h="32385">
                  <a:moveTo>
                    <a:pt x="32385" y="16193"/>
                  </a:moveTo>
                  <a:cubicBezTo>
                    <a:pt x="32385" y="25135"/>
                    <a:pt x="25135" y="32385"/>
                    <a:pt x="16192" y="32385"/>
                  </a:cubicBezTo>
                  <a:cubicBezTo>
                    <a:pt x="7250" y="32385"/>
                    <a:pt x="0" y="25135"/>
                    <a:pt x="0" y="16193"/>
                  </a:cubicBezTo>
                  <a:cubicBezTo>
                    <a:pt x="0" y="7250"/>
                    <a:pt x="7250" y="0"/>
                    <a:pt x="16192" y="0"/>
                  </a:cubicBezTo>
                  <a:cubicBezTo>
                    <a:pt x="25135" y="0"/>
                    <a:pt x="32385" y="7250"/>
                    <a:pt x="32385" y="16193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/>
            </a:p>
          </p:txBody>
        </p:sp>
        <p:sp>
          <p:nvSpPr>
            <p:cNvPr id="24" name="任意多边形: 形状 23"/>
            <p:cNvSpPr/>
            <p:nvPr/>
          </p:nvSpPr>
          <p:spPr>
            <a:xfrm>
              <a:off x="444065" y="3173358"/>
              <a:ext cx="32384" cy="32385"/>
            </a:xfrm>
            <a:custGeom>
              <a:avLst/>
              <a:gdLst>
                <a:gd name="connsiteX0" fmla="*/ 32385 w 32384"/>
                <a:gd name="connsiteY0" fmla="*/ 16193 h 32385"/>
                <a:gd name="connsiteX1" fmla="*/ 16193 w 32384"/>
                <a:gd name="connsiteY1" fmla="*/ 32385 h 32385"/>
                <a:gd name="connsiteX2" fmla="*/ 0 w 32384"/>
                <a:gd name="connsiteY2" fmla="*/ 16193 h 32385"/>
                <a:gd name="connsiteX3" fmla="*/ 16193 w 32384"/>
                <a:gd name="connsiteY3" fmla="*/ 0 h 32385"/>
                <a:gd name="connsiteX4" fmla="*/ 32385 w 32384"/>
                <a:gd name="connsiteY4" fmla="*/ 16193 h 32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84" h="32385">
                  <a:moveTo>
                    <a:pt x="32385" y="16193"/>
                  </a:moveTo>
                  <a:cubicBezTo>
                    <a:pt x="32385" y="25135"/>
                    <a:pt x="25135" y="32385"/>
                    <a:pt x="16193" y="32385"/>
                  </a:cubicBezTo>
                  <a:cubicBezTo>
                    <a:pt x="7250" y="32385"/>
                    <a:pt x="0" y="25135"/>
                    <a:pt x="0" y="16193"/>
                  </a:cubicBezTo>
                  <a:cubicBezTo>
                    <a:pt x="0" y="7250"/>
                    <a:pt x="7250" y="0"/>
                    <a:pt x="16193" y="0"/>
                  </a:cubicBezTo>
                  <a:cubicBezTo>
                    <a:pt x="25135" y="0"/>
                    <a:pt x="32385" y="7250"/>
                    <a:pt x="32385" y="16193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/>
            </a:p>
          </p:txBody>
        </p:sp>
        <p:sp>
          <p:nvSpPr>
            <p:cNvPr id="25" name="任意多边形: 形状 24"/>
            <p:cNvSpPr/>
            <p:nvPr/>
          </p:nvSpPr>
          <p:spPr>
            <a:xfrm>
              <a:off x="384057" y="3161928"/>
              <a:ext cx="32384" cy="32385"/>
            </a:xfrm>
            <a:custGeom>
              <a:avLst/>
              <a:gdLst>
                <a:gd name="connsiteX0" fmla="*/ 32385 w 32384"/>
                <a:gd name="connsiteY0" fmla="*/ 16193 h 32385"/>
                <a:gd name="connsiteX1" fmla="*/ 16192 w 32384"/>
                <a:gd name="connsiteY1" fmla="*/ 32385 h 32385"/>
                <a:gd name="connsiteX2" fmla="*/ 0 w 32384"/>
                <a:gd name="connsiteY2" fmla="*/ 16193 h 32385"/>
                <a:gd name="connsiteX3" fmla="*/ 16192 w 32384"/>
                <a:gd name="connsiteY3" fmla="*/ 0 h 32385"/>
                <a:gd name="connsiteX4" fmla="*/ 32385 w 32384"/>
                <a:gd name="connsiteY4" fmla="*/ 16193 h 32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84" h="32385">
                  <a:moveTo>
                    <a:pt x="32385" y="16193"/>
                  </a:moveTo>
                  <a:cubicBezTo>
                    <a:pt x="32385" y="25135"/>
                    <a:pt x="25135" y="32385"/>
                    <a:pt x="16192" y="32385"/>
                  </a:cubicBezTo>
                  <a:cubicBezTo>
                    <a:pt x="7250" y="32385"/>
                    <a:pt x="0" y="25135"/>
                    <a:pt x="0" y="16193"/>
                  </a:cubicBezTo>
                  <a:cubicBezTo>
                    <a:pt x="0" y="7250"/>
                    <a:pt x="7250" y="0"/>
                    <a:pt x="16192" y="0"/>
                  </a:cubicBezTo>
                  <a:cubicBezTo>
                    <a:pt x="25135" y="0"/>
                    <a:pt x="32385" y="7250"/>
                    <a:pt x="32385" y="16193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>
              <a:off x="388820" y="3216220"/>
              <a:ext cx="43815" cy="43814"/>
            </a:xfrm>
            <a:custGeom>
              <a:avLst/>
              <a:gdLst>
                <a:gd name="connsiteX0" fmla="*/ 43815 w 43815"/>
                <a:gd name="connsiteY0" fmla="*/ 21908 h 43814"/>
                <a:gd name="connsiteX1" fmla="*/ 21908 w 43815"/>
                <a:gd name="connsiteY1" fmla="*/ 43815 h 43814"/>
                <a:gd name="connsiteX2" fmla="*/ 0 w 43815"/>
                <a:gd name="connsiteY2" fmla="*/ 21908 h 43814"/>
                <a:gd name="connsiteX3" fmla="*/ 21908 w 43815"/>
                <a:gd name="connsiteY3" fmla="*/ 0 h 43814"/>
                <a:gd name="connsiteX4" fmla="*/ 43815 w 43815"/>
                <a:gd name="connsiteY4" fmla="*/ 21908 h 43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15" h="43814">
                  <a:moveTo>
                    <a:pt x="43815" y="21908"/>
                  </a:moveTo>
                  <a:cubicBezTo>
                    <a:pt x="43815" y="34007"/>
                    <a:pt x="34007" y="43815"/>
                    <a:pt x="21908" y="43815"/>
                  </a:cubicBezTo>
                  <a:cubicBezTo>
                    <a:pt x="9808" y="43815"/>
                    <a:pt x="0" y="34007"/>
                    <a:pt x="0" y="21908"/>
                  </a:cubicBezTo>
                  <a:cubicBezTo>
                    <a:pt x="0" y="9808"/>
                    <a:pt x="9808" y="0"/>
                    <a:pt x="21908" y="0"/>
                  </a:cubicBezTo>
                  <a:cubicBezTo>
                    <a:pt x="34007" y="0"/>
                    <a:pt x="43815" y="9808"/>
                    <a:pt x="43815" y="21908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/>
            </a:p>
          </p:txBody>
        </p:sp>
        <p:sp>
          <p:nvSpPr>
            <p:cNvPr id="27" name="任意多边形: 形状 26"/>
            <p:cNvSpPr/>
            <p:nvPr/>
          </p:nvSpPr>
          <p:spPr>
            <a:xfrm>
              <a:off x="484070" y="3279085"/>
              <a:ext cx="161925" cy="282892"/>
            </a:xfrm>
            <a:custGeom>
              <a:avLst/>
              <a:gdLst>
                <a:gd name="connsiteX0" fmla="*/ 161925 w 161925"/>
                <a:gd name="connsiteY0" fmla="*/ 196215 h 282892"/>
                <a:gd name="connsiteX1" fmla="*/ 93345 w 161925"/>
                <a:gd name="connsiteY1" fmla="*/ 123825 h 282892"/>
                <a:gd name="connsiteX2" fmla="*/ 131445 w 161925"/>
                <a:gd name="connsiteY2" fmla="*/ 76200 h 282892"/>
                <a:gd name="connsiteX3" fmla="*/ 131445 w 161925"/>
                <a:gd name="connsiteY3" fmla="*/ 75248 h 282892"/>
                <a:gd name="connsiteX4" fmla="*/ 73343 w 161925"/>
                <a:gd name="connsiteY4" fmla="*/ 80963 h 282892"/>
                <a:gd name="connsiteX5" fmla="*/ 75248 w 161925"/>
                <a:gd name="connsiteY5" fmla="*/ 0 h 282892"/>
                <a:gd name="connsiteX6" fmla="*/ 7620 w 161925"/>
                <a:gd name="connsiteY6" fmla="*/ 26670 h 282892"/>
                <a:gd name="connsiteX7" fmla="*/ 0 w 161925"/>
                <a:gd name="connsiteY7" fmla="*/ 41910 h 282892"/>
                <a:gd name="connsiteX8" fmla="*/ 0 w 161925"/>
                <a:gd name="connsiteY8" fmla="*/ 133350 h 282892"/>
                <a:gd name="connsiteX9" fmla="*/ 60960 w 161925"/>
                <a:gd name="connsiteY9" fmla="*/ 271463 h 282892"/>
                <a:gd name="connsiteX10" fmla="*/ 64770 w 161925"/>
                <a:gd name="connsiteY10" fmla="*/ 282893 h 282892"/>
                <a:gd name="connsiteX11" fmla="*/ 161925 w 161925"/>
                <a:gd name="connsiteY11" fmla="*/ 282893 h 282892"/>
                <a:gd name="connsiteX12" fmla="*/ 161925 w 161925"/>
                <a:gd name="connsiteY12" fmla="*/ 196215 h 282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282892">
                  <a:moveTo>
                    <a:pt x="161925" y="196215"/>
                  </a:moveTo>
                  <a:lnTo>
                    <a:pt x="93345" y="123825"/>
                  </a:lnTo>
                  <a:lnTo>
                    <a:pt x="131445" y="76200"/>
                  </a:lnTo>
                  <a:lnTo>
                    <a:pt x="131445" y="75248"/>
                  </a:lnTo>
                  <a:lnTo>
                    <a:pt x="73343" y="80963"/>
                  </a:lnTo>
                  <a:lnTo>
                    <a:pt x="75248" y="0"/>
                  </a:lnTo>
                  <a:cubicBezTo>
                    <a:pt x="52388" y="7620"/>
                    <a:pt x="29528" y="16193"/>
                    <a:pt x="7620" y="26670"/>
                  </a:cubicBezTo>
                  <a:cubicBezTo>
                    <a:pt x="3810" y="30480"/>
                    <a:pt x="953" y="36195"/>
                    <a:pt x="0" y="41910"/>
                  </a:cubicBezTo>
                  <a:lnTo>
                    <a:pt x="0" y="133350"/>
                  </a:lnTo>
                  <a:lnTo>
                    <a:pt x="60960" y="271463"/>
                  </a:lnTo>
                  <a:cubicBezTo>
                    <a:pt x="62865" y="275272"/>
                    <a:pt x="63818" y="279083"/>
                    <a:pt x="64770" y="282893"/>
                  </a:cubicBezTo>
                  <a:lnTo>
                    <a:pt x="161925" y="282893"/>
                  </a:lnTo>
                  <a:lnTo>
                    <a:pt x="161925" y="19621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/>
            </a:p>
          </p:txBody>
        </p:sp>
        <p:sp>
          <p:nvSpPr>
            <p:cNvPr id="15" name="任意多边形: 形状 27"/>
            <p:cNvSpPr/>
            <p:nvPr/>
          </p:nvSpPr>
          <p:spPr>
            <a:xfrm>
              <a:off x="597417" y="3257178"/>
              <a:ext cx="193357" cy="304800"/>
            </a:xfrm>
            <a:custGeom>
              <a:avLst/>
              <a:gdLst>
                <a:gd name="connsiteX0" fmla="*/ 67627 w 193357"/>
                <a:gd name="connsiteY0" fmla="*/ 209550 h 304800"/>
                <a:gd name="connsiteX1" fmla="*/ 67627 w 193357"/>
                <a:gd name="connsiteY1" fmla="*/ 304800 h 304800"/>
                <a:gd name="connsiteX2" fmla="*/ 124777 w 193357"/>
                <a:gd name="connsiteY2" fmla="*/ 304800 h 304800"/>
                <a:gd name="connsiteX3" fmla="*/ 124777 w 193357"/>
                <a:gd name="connsiteY3" fmla="*/ 209550 h 304800"/>
                <a:gd name="connsiteX4" fmla="*/ 193358 w 193357"/>
                <a:gd name="connsiteY4" fmla="*/ 11430 h 304800"/>
                <a:gd name="connsiteX5" fmla="*/ 96202 w 193357"/>
                <a:gd name="connsiteY5" fmla="*/ 0 h 304800"/>
                <a:gd name="connsiteX6" fmla="*/ 0 w 193357"/>
                <a:gd name="connsiteY6" fmla="*/ 11430 h 304800"/>
                <a:gd name="connsiteX7" fmla="*/ 67627 w 193357"/>
                <a:gd name="connsiteY7" fmla="*/ 209550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3357" h="304800">
                  <a:moveTo>
                    <a:pt x="67627" y="209550"/>
                  </a:moveTo>
                  <a:lnTo>
                    <a:pt x="67627" y="304800"/>
                  </a:lnTo>
                  <a:lnTo>
                    <a:pt x="124777" y="304800"/>
                  </a:lnTo>
                  <a:lnTo>
                    <a:pt x="124777" y="209550"/>
                  </a:lnTo>
                  <a:lnTo>
                    <a:pt x="193358" y="11430"/>
                  </a:lnTo>
                  <a:cubicBezTo>
                    <a:pt x="160972" y="3810"/>
                    <a:pt x="128588" y="0"/>
                    <a:pt x="96202" y="0"/>
                  </a:cubicBezTo>
                  <a:cubicBezTo>
                    <a:pt x="63817" y="0"/>
                    <a:pt x="31432" y="3810"/>
                    <a:pt x="0" y="11430"/>
                  </a:cubicBezTo>
                  <a:lnTo>
                    <a:pt x="67627" y="20955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/>
            </a:p>
          </p:txBody>
        </p:sp>
        <p:sp>
          <p:nvSpPr>
            <p:cNvPr id="19" name="任意多边形: 形状 28"/>
            <p:cNvSpPr/>
            <p:nvPr/>
          </p:nvSpPr>
          <p:spPr>
            <a:xfrm>
              <a:off x="741245" y="3279085"/>
              <a:ext cx="257175" cy="282892"/>
            </a:xfrm>
            <a:custGeom>
              <a:avLst/>
              <a:gdLst>
                <a:gd name="connsiteX0" fmla="*/ 226695 w 257175"/>
                <a:gd name="connsiteY0" fmla="*/ 69532 h 282892"/>
                <a:gd name="connsiteX1" fmla="*/ 86677 w 257175"/>
                <a:gd name="connsiteY1" fmla="*/ 0 h 282892"/>
                <a:gd name="connsiteX2" fmla="*/ 88582 w 257175"/>
                <a:gd name="connsiteY2" fmla="*/ 80963 h 282892"/>
                <a:gd name="connsiteX3" fmla="*/ 30480 w 257175"/>
                <a:gd name="connsiteY3" fmla="*/ 75248 h 282892"/>
                <a:gd name="connsiteX4" fmla="*/ 30480 w 257175"/>
                <a:gd name="connsiteY4" fmla="*/ 76200 h 282892"/>
                <a:gd name="connsiteX5" fmla="*/ 68580 w 257175"/>
                <a:gd name="connsiteY5" fmla="*/ 123825 h 282892"/>
                <a:gd name="connsiteX6" fmla="*/ 0 w 257175"/>
                <a:gd name="connsiteY6" fmla="*/ 196215 h 282892"/>
                <a:gd name="connsiteX7" fmla="*/ 0 w 257175"/>
                <a:gd name="connsiteY7" fmla="*/ 282893 h 282892"/>
                <a:gd name="connsiteX8" fmla="*/ 257175 w 257175"/>
                <a:gd name="connsiteY8" fmla="*/ 282893 h 282892"/>
                <a:gd name="connsiteX9" fmla="*/ 257175 w 257175"/>
                <a:gd name="connsiteY9" fmla="*/ 130493 h 282892"/>
                <a:gd name="connsiteX10" fmla="*/ 226695 w 257175"/>
                <a:gd name="connsiteY10" fmla="*/ 69532 h 282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7175" h="282892">
                  <a:moveTo>
                    <a:pt x="226695" y="69532"/>
                  </a:moveTo>
                  <a:cubicBezTo>
                    <a:pt x="184785" y="37148"/>
                    <a:pt x="137160" y="14288"/>
                    <a:pt x="86677" y="0"/>
                  </a:cubicBezTo>
                  <a:lnTo>
                    <a:pt x="88582" y="80963"/>
                  </a:lnTo>
                  <a:lnTo>
                    <a:pt x="30480" y="75248"/>
                  </a:lnTo>
                  <a:lnTo>
                    <a:pt x="30480" y="76200"/>
                  </a:lnTo>
                  <a:lnTo>
                    <a:pt x="68580" y="123825"/>
                  </a:lnTo>
                  <a:lnTo>
                    <a:pt x="0" y="196215"/>
                  </a:lnTo>
                  <a:lnTo>
                    <a:pt x="0" y="282893"/>
                  </a:lnTo>
                  <a:lnTo>
                    <a:pt x="257175" y="282893"/>
                  </a:lnTo>
                  <a:lnTo>
                    <a:pt x="257175" y="130493"/>
                  </a:lnTo>
                  <a:cubicBezTo>
                    <a:pt x="256223" y="106680"/>
                    <a:pt x="245745" y="83820"/>
                    <a:pt x="226695" y="69532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/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721995" y="1021080"/>
            <a:ext cx="805815" cy="301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>
                <a:latin typeface="汉仪颜楷简" panose="00020600040101010101" charset="-122"/>
                <a:ea typeface="汉仪颜楷简" panose="00020600040101010101" charset="-122"/>
                <a:sym typeface="汉仪颜楷简" panose="00020600040101010101" charset="-122"/>
              </a:rPr>
              <a:t>  </a:t>
            </a:r>
            <a:r>
              <a:rPr lang="zh-CN" altLang="en-US" sz="800">
                <a:latin typeface="汉仪颜楷简" panose="00020600040101010101" charset="-122"/>
                <a:ea typeface="汉仪颜楷简" panose="00020600040101010101" charset="-122"/>
                <a:sym typeface="汉仪颜楷简" panose="00020600040101010101" charset="-122"/>
              </a:rPr>
              <a:t>配制溶液</a:t>
            </a:r>
            <a:endParaRPr lang="zh-CN" altLang="en-US" sz="800">
              <a:latin typeface="汉仪颜楷简" panose="00020600040101010101" charset="-122"/>
              <a:ea typeface="汉仪颜楷简" panose="00020600040101010101" charset="-122"/>
              <a:sym typeface="汉仪颜楷简" panose="00020600040101010101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9905" y="1301115"/>
            <a:ext cx="561975" cy="494665"/>
          </a:xfrm>
          <a:prstGeom prst="rect">
            <a:avLst/>
          </a:prstGeom>
        </p:spPr>
      </p:pic>
      <p:pic>
        <p:nvPicPr>
          <p:cNvPr id="33" name="图片 32" descr="箭头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45895" y="1383030"/>
            <a:ext cx="365760" cy="365760"/>
          </a:xfrm>
          <a:prstGeom prst="rect">
            <a:avLst/>
          </a:prstGeom>
        </p:spPr>
      </p:pic>
      <p:sp>
        <p:nvSpPr>
          <p:cNvPr id="38" name="圆角矩形 37"/>
          <p:cNvSpPr/>
          <p:nvPr/>
        </p:nvSpPr>
        <p:spPr>
          <a:xfrm>
            <a:off x="1666240" y="1837055"/>
            <a:ext cx="1097280" cy="22288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圆角矩形 38"/>
          <p:cNvSpPr/>
          <p:nvPr/>
        </p:nvSpPr>
        <p:spPr>
          <a:xfrm>
            <a:off x="1612265" y="2082165"/>
            <a:ext cx="1181100" cy="1280160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75000"/>
                  </a:schemeClr>
                </a:solidFill>
              </a14:hiddenFill>
            </a:ext>
          </a:ex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圆角矩形 39"/>
          <p:cNvSpPr/>
          <p:nvPr/>
        </p:nvSpPr>
        <p:spPr>
          <a:xfrm>
            <a:off x="1544320" y="1781810"/>
            <a:ext cx="1341120" cy="1676400"/>
          </a:xfrm>
          <a:prstGeom prst="round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1650365" y="1826895"/>
            <a:ext cx="125412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分解与时序规划</a:t>
            </a:r>
            <a:endParaRPr lang="zh-CN" altLang="en-US" sz="1000"/>
          </a:p>
        </p:txBody>
      </p:sp>
      <p:sp>
        <p:nvSpPr>
          <p:cNvPr id="35" name="文本框 34"/>
          <p:cNvSpPr txBox="1"/>
          <p:nvPr/>
        </p:nvSpPr>
        <p:spPr>
          <a:xfrm>
            <a:off x="1612265" y="2035175"/>
            <a:ext cx="1292225" cy="1258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700"/>
              <a:t>    "step": 1,</a:t>
            </a:r>
            <a:endParaRPr lang="en-US" altLang="zh-CN" sz="700"/>
          </a:p>
          <a:p>
            <a:r>
              <a:rPr lang="en-US" altLang="zh-CN" sz="700"/>
              <a:t>    "type": "parallel",</a:t>
            </a:r>
            <a:endParaRPr lang="en-US" altLang="zh-CN" sz="700"/>
          </a:p>
          <a:p>
            <a:r>
              <a:rPr lang="en-US" altLang="zh-CN" sz="700"/>
              <a:t>    "tasks": [</a:t>
            </a:r>
            <a:endParaRPr lang="en-US" altLang="zh-CN" sz="700"/>
          </a:p>
          <a:p>
            <a:r>
              <a:rPr lang="en-US" altLang="zh-CN" sz="700"/>
              <a:t>      {</a:t>
            </a:r>
            <a:endParaRPr lang="en-US" altLang="zh-CN" sz="700"/>
          </a:p>
          <a:p>
            <a:r>
              <a:rPr lang="en-US" altLang="zh-CN" sz="700"/>
              <a:t>        "arm": "Arm_1",</a:t>
            </a:r>
            <a:endParaRPr lang="en-US" altLang="zh-CN" sz="700"/>
          </a:p>
          <a:p>
            <a:r>
              <a:rPr lang="en-US" altLang="zh-CN" sz="700"/>
              <a:t>        "sub_task": "pick(</a:t>
            </a:r>
            <a:r>
              <a:rPr lang="en-US" altLang="zh-CN" sz="700"/>
              <a:t>A)",</a:t>
            </a:r>
            <a:endParaRPr lang="en-US" altLang="zh-CN" sz="700"/>
          </a:p>
          <a:p>
            <a:r>
              <a:rPr lang="en-US" altLang="zh-CN" sz="700"/>
              <a:t>        "preconditions": [""],</a:t>
            </a:r>
            <a:endParaRPr lang="en-US" altLang="zh-CN" sz="700"/>
          </a:p>
          <a:p>
            <a:r>
              <a:rPr lang="en-US" altLang="zh-CN" sz="700"/>
              <a:t>        "vsv_check": ""</a:t>
            </a:r>
            <a:endParaRPr lang="en-US" altLang="zh-CN" sz="700"/>
          </a:p>
          <a:p>
            <a:r>
              <a:rPr lang="en-US" altLang="zh-CN" sz="700"/>
              <a:t>      },</a:t>
            </a:r>
            <a:endParaRPr lang="en-US" altLang="zh-CN" sz="700"/>
          </a:p>
          <a:p>
            <a:r>
              <a:rPr lang="en-US" altLang="zh-CN" sz="700"/>
              <a:t>      {</a:t>
            </a:r>
            <a:endParaRPr lang="en-US" altLang="zh-CN" sz="700"/>
          </a:p>
          <a:p>
            <a:r>
              <a:rPr lang="en-US" altLang="zh-CN" sz="700"/>
              <a:t>        "arm": "Arm_2",</a:t>
            </a:r>
            <a:endParaRPr lang="en-US" altLang="zh-CN" sz="700"/>
          </a:p>
          <a:p>
            <a:r>
              <a:rPr lang="en-US" altLang="zh-CN" sz="700"/>
              <a:t>      }</a:t>
            </a:r>
            <a:endParaRPr lang="en-US" altLang="zh-CN" sz="700"/>
          </a:p>
        </p:txBody>
      </p:sp>
      <p:sp>
        <p:nvSpPr>
          <p:cNvPr id="7192" name="左大括号 7191"/>
          <p:cNvSpPr/>
          <p:nvPr/>
        </p:nvSpPr>
        <p:spPr>
          <a:xfrm rot="5400000">
            <a:off x="2012950" y="2974340"/>
            <a:ext cx="340360" cy="1219835"/>
          </a:xfrm>
          <a:prstGeom prst="leftBrace">
            <a:avLst>
              <a:gd name="adj1" fmla="val 41791"/>
              <a:gd name="adj2" fmla="val 50194"/>
            </a:avLst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anchor="ctr"/>
          <a:p>
            <a:pPr algn="ctr">
              <a:defRPr/>
            </a:pPr>
            <a:endParaRPr lang="zh-CN" altLang="en-US">
              <a:latin typeface="Times New Roman" panose="02020603050405020304" pitchFamily="18" charset="0"/>
              <a:ea typeface="汉仪书魂体简" panose="02010600000101010101" charset="-122"/>
              <a:cs typeface="Times New Roman" panose="02020603050405020304" pitchFamily="18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46505" y="3597910"/>
            <a:ext cx="292100" cy="323850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58770" y="3597910"/>
            <a:ext cx="271780" cy="292100"/>
          </a:xfrm>
          <a:prstGeom prst="rect">
            <a:avLst/>
          </a:prstGeom>
        </p:spPr>
      </p:pic>
      <p:sp>
        <p:nvSpPr>
          <p:cNvPr id="45" name="圆角矩形 44"/>
          <p:cNvSpPr/>
          <p:nvPr/>
        </p:nvSpPr>
        <p:spPr>
          <a:xfrm>
            <a:off x="843915" y="4034155"/>
            <a:ext cx="1097280" cy="22288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圆角矩形 45"/>
          <p:cNvSpPr/>
          <p:nvPr/>
        </p:nvSpPr>
        <p:spPr>
          <a:xfrm>
            <a:off x="789940" y="4279265"/>
            <a:ext cx="1181100" cy="746760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75000"/>
                  </a:schemeClr>
                </a:solidFill>
              </a14:hiddenFill>
            </a:ext>
          </a:ex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圆角矩形 46"/>
          <p:cNvSpPr/>
          <p:nvPr/>
        </p:nvSpPr>
        <p:spPr>
          <a:xfrm>
            <a:off x="721995" y="3978910"/>
            <a:ext cx="1341120" cy="1088390"/>
          </a:xfrm>
          <a:prstGeom prst="round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930275" y="4023995"/>
            <a:ext cx="108394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任务</a:t>
            </a:r>
            <a:r>
              <a:rPr lang="en-US" altLang="zh-CN" sz="1000"/>
              <a:t> 1 (Arm 1):</a:t>
            </a:r>
            <a:endParaRPr lang="en-US" altLang="zh-CN" sz="1000"/>
          </a:p>
        </p:txBody>
      </p:sp>
      <p:sp>
        <p:nvSpPr>
          <p:cNvPr id="49" name="文本框 48"/>
          <p:cNvSpPr txBox="1"/>
          <p:nvPr/>
        </p:nvSpPr>
        <p:spPr>
          <a:xfrm>
            <a:off x="789940" y="4342765"/>
            <a:ext cx="1292225" cy="683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700"/>
              <a:t>Cerebellum_1: "</a:t>
            </a:r>
            <a:r>
              <a:rPr lang="zh-CN" altLang="en-US" sz="700"/>
              <a:t>你</a:t>
            </a:r>
            <a:r>
              <a:rPr lang="en-US" altLang="zh-CN" sz="700"/>
              <a:t> (Arm_1) </a:t>
            </a:r>
            <a:r>
              <a:rPr lang="zh-CN" altLang="en-US" sz="700"/>
              <a:t>的任务：</a:t>
            </a:r>
            <a:r>
              <a:rPr lang="en-US" altLang="zh-CN" sz="700"/>
              <a:t>hold_steady(beaker_A, at_handoff_position)</a:t>
            </a:r>
            <a:r>
              <a:rPr lang="zh-CN" altLang="en-US" sz="700"/>
              <a:t>。</a:t>
            </a:r>
            <a:r>
              <a:rPr lang="en-US" altLang="zh-CN" sz="700"/>
              <a:t>"</a:t>
            </a:r>
            <a:endParaRPr lang="en-US" altLang="zh-CN" sz="700"/>
          </a:p>
        </p:txBody>
      </p:sp>
      <p:sp>
        <p:nvSpPr>
          <p:cNvPr id="51" name="圆角矩形 50"/>
          <p:cNvSpPr/>
          <p:nvPr/>
        </p:nvSpPr>
        <p:spPr>
          <a:xfrm>
            <a:off x="2458085" y="4034155"/>
            <a:ext cx="1097280" cy="22288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圆角矩形 51"/>
          <p:cNvSpPr/>
          <p:nvPr/>
        </p:nvSpPr>
        <p:spPr>
          <a:xfrm>
            <a:off x="2404110" y="4279265"/>
            <a:ext cx="1181100" cy="813435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75000"/>
                  </a:schemeClr>
                </a:solidFill>
              </a14:hiddenFill>
            </a:ext>
          </a:ex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圆角矩形 52"/>
          <p:cNvSpPr/>
          <p:nvPr/>
        </p:nvSpPr>
        <p:spPr>
          <a:xfrm>
            <a:off x="2336165" y="3978910"/>
            <a:ext cx="1341120" cy="1158240"/>
          </a:xfrm>
          <a:prstGeom prst="round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2544445" y="4023995"/>
            <a:ext cx="108394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任务</a:t>
            </a:r>
            <a:r>
              <a:rPr lang="en-US" altLang="zh-CN" sz="1000"/>
              <a:t> 2 (Arm 2):</a:t>
            </a:r>
            <a:endParaRPr lang="en-US" altLang="zh-CN" sz="1000"/>
          </a:p>
        </p:txBody>
      </p:sp>
      <p:sp>
        <p:nvSpPr>
          <p:cNvPr id="56" name="文本框 55"/>
          <p:cNvSpPr txBox="1"/>
          <p:nvPr/>
        </p:nvSpPr>
        <p:spPr>
          <a:xfrm>
            <a:off x="2404110" y="4232275"/>
            <a:ext cx="1292225" cy="6426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700"/>
              <a:t>Cerebellum_2: </a:t>
            </a:r>
            <a:br>
              <a:rPr lang="en-US" altLang="zh-CN" sz="700"/>
            </a:br>
            <a:r>
              <a:rPr lang="en-US" altLang="zh-CN" sz="700"/>
              <a:t>"</a:t>
            </a:r>
            <a:r>
              <a:rPr lang="zh-CN" altLang="en-US" sz="700"/>
              <a:t>你</a:t>
            </a:r>
            <a:r>
              <a:rPr lang="en-US" altLang="zh-CN" sz="700"/>
              <a:t> (Arm_2) </a:t>
            </a:r>
            <a:r>
              <a:rPr lang="zh-CN" altLang="en-US" sz="700"/>
              <a:t>的任务：</a:t>
            </a:r>
            <a:r>
              <a:rPr lang="en-US" altLang="zh-CN" sz="700"/>
              <a:t>place(stirrer_C, target=beaker_A_opening)</a:t>
            </a:r>
            <a:r>
              <a:rPr lang="zh-CN" altLang="en-US" sz="700"/>
              <a:t>。上下文：</a:t>
            </a:r>
            <a:br>
              <a:rPr lang="zh-CN" altLang="en-US" sz="700"/>
            </a:br>
            <a:r>
              <a:rPr lang="zh-CN" altLang="en-US" sz="700"/>
              <a:t>烧杯开口坐标为</a:t>
            </a:r>
            <a:r>
              <a:rPr lang="en-US" altLang="zh-CN" sz="700"/>
              <a:t> [x, y, z]</a:t>
            </a:r>
            <a:r>
              <a:rPr lang="zh-CN" altLang="en-US" sz="700"/>
              <a:t>。</a:t>
            </a:r>
            <a:r>
              <a:rPr lang="en-US" altLang="zh-CN" sz="700"/>
              <a:t>"</a:t>
            </a:r>
            <a:endParaRPr lang="en-US" altLang="zh-CN" sz="700"/>
          </a:p>
        </p:txBody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09370" y="4822190"/>
            <a:ext cx="76200" cy="165100"/>
          </a:xfrm>
          <a:prstGeom prst="rect">
            <a:avLst/>
          </a:prstGeom>
        </p:spPr>
      </p:pic>
      <p:pic>
        <p:nvPicPr>
          <p:cNvPr id="59" name="图片 5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69895" y="4921250"/>
            <a:ext cx="76200" cy="146050"/>
          </a:xfrm>
          <a:prstGeom prst="rect">
            <a:avLst/>
          </a:prstGeom>
        </p:spPr>
      </p:pic>
      <p:sp>
        <p:nvSpPr>
          <p:cNvPr id="60" name="左大括号 59"/>
          <p:cNvSpPr/>
          <p:nvPr/>
        </p:nvSpPr>
        <p:spPr>
          <a:xfrm rot="16200000">
            <a:off x="1887220" y="4697095"/>
            <a:ext cx="340360" cy="1219835"/>
          </a:xfrm>
          <a:prstGeom prst="leftBrace">
            <a:avLst>
              <a:gd name="adj1" fmla="val 41791"/>
              <a:gd name="adj2" fmla="val 50194"/>
            </a:avLst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anchor="ctr"/>
          <a:p>
            <a:pPr algn="ctr">
              <a:defRPr/>
            </a:pPr>
            <a:endParaRPr lang="zh-CN" altLang="en-US">
              <a:latin typeface="Times New Roman" panose="02020603050405020304" pitchFamily="18" charset="0"/>
              <a:ea typeface="汉仪书魂体简" panose="02010600000101010101" charset="-122"/>
              <a:cs typeface="Times New Roman" panose="02020603050405020304" pitchFamily="18" charset="0"/>
            </a:endParaRPr>
          </a:p>
        </p:txBody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99285" y="5528945"/>
            <a:ext cx="322580" cy="283845"/>
          </a:xfrm>
          <a:prstGeom prst="rect">
            <a:avLst/>
          </a:prstGeom>
        </p:spPr>
      </p:pic>
      <p:pic>
        <p:nvPicPr>
          <p:cNvPr id="63" name="图片 6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3085" y="5492750"/>
            <a:ext cx="610235" cy="573405"/>
          </a:xfrm>
          <a:prstGeom prst="rect">
            <a:avLst/>
          </a:prstGeom>
        </p:spPr>
      </p:pic>
      <p:pic>
        <p:nvPicPr>
          <p:cNvPr id="64" name="图片 6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flipH="1">
            <a:off x="3067050" y="5492750"/>
            <a:ext cx="610235" cy="573405"/>
          </a:xfrm>
          <a:prstGeom prst="rect">
            <a:avLst/>
          </a:prstGeom>
        </p:spPr>
      </p:pic>
      <p:pic>
        <p:nvPicPr>
          <p:cNvPr id="65" name="图片 6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0765" y="5492750"/>
            <a:ext cx="232410" cy="218440"/>
          </a:xfrm>
          <a:prstGeom prst="rect">
            <a:avLst/>
          </a:prstGeom>
        </p:spPr>
      </p:pic>
      <p:pic>
        <p:nvPicPr>
          <p:cNvPr id="66" name="图片 6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65450" y="5492750"/>
            <a:ext cx="231775" cy="218440"/>
          </a:xfrm>
          <a:prstGeom prst="rect">
            <a:avLst/>
          </a:prstGeom>
        </p:spPr>
      </p:pic>
      <p:pic>
        <p:nvPicPr>
          <p:cNvPr id="71" name="图片 7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25575" y="5333365"/>
            <a:ext cx="240665" cy="247015"/>
          </a:xfrm>
          <a:prstGeom prst="rect">
            <a:avLst/>
          </a:prstGeom>
        </p:spPr>
      </p:pic>
      <p:pic>
        <p:nvPicPr>
          <p:cNvPr id="72" name="图片 7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59050" y="5349875"/>
            <a:ext cx="204470" cy="210820"/>
          </a:xfrm>
          <a:prstGeom prst="rect">
            <a:avLst/>
          </a:prstGeom>
        </p:spPr>
      </p:pic>
      <p:pic>
        <p:nvPicPr>
          <p:cNvPr id="73" name="图片 7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17580000">
            <a:off x="2964180" y="5172710"/>
            <a:ext cx="336550" cy="335280"/>
          </a:xfrm>
          <a:prstGeom prst="rect">
            <a:avLst/>
          </a:prstGeom>
        </p:spPr>
      </p:pic>
      <p:pic>
        <p:nvPicPr>
          <p:cNvPr id="74" name="图片 73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17270" y="5120005"/>
            <a:ext cx="310515" cy="309880"/>
          </a:xfrm>
          <a:prstGeom prst="rect">
            <a:avLst/>
          </a:prstGeom>
        </p:spPr>
      </p:pic>
      <p:sp>
        <p:nvSpPr>
          <p:cNvPr id="75" name="文本框 74"/>
          <p:cNvSpPr txBox="1"/>
          <p:nvPr/>
        </p:nvSpPr>
        <p:spPr>
          <a:xfrm>
            <a:off x="789940" y="5120005"/>
            <a:ext cx="483235" cy="77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/>
              <a:t>API </a:t>
            </a:r>
            <a:endParaRPr lang="en-US" altLang="zh-CN" sz="1000"/>
          </a:p>
        </p:txBody>
      </p:sp>
      <p:sp>
        <p:nvSpPr>
          <p:cNvPr id="77" name="文本框 76"/>
          <p:cNvSpPr txBox="1"/>
          <p:nvPr/>
        </p:nvSpPr>
        <p:spPr>
          <a:xfrm>
            <a:off x="3202940" y="5255895"/>
            <a:ext cx="483235" cy="77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/>
              <a:t>API</a:t>
            </a:r>
            <a:endParaRPr lang="en-US" altLang="zh-CN" sz="1000"/>
          </a:p>
        </p:txBody>
      </p:sp>
      <p:pic>
        <p:nvPicPr>
          <p:cNvPr id="78" name="图片 7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09370" y="5560695"/>
            <a:ext cx="502285" cy="265430"/>
          </a:xfrm>
          <a:prstGeom prst="rect">
            <a:avLst/>
          </a:prstGeom>
        </p:spPr>
      </p:pic>
      <p:pic>
        <p:nvPicPr>
          <p:cNvPr id="79" name="图片 7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336165" y="5560695"/>
            <a:ext cx="605790" cy="27813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163320" y="5790565"/>
            <a:ext cx="10248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Verification</a:t>
            </a:r>
            <a:endParaRPr lang="en-US" altLang="zh-CN" sz="1000"/>
          </a:p>
        </p:txBody>
      </p:sp>
      <p:sp>
        <p:nvSpPr>
          <p:cNvPr id="14" name="文本框 13"/>
          <p:cNvSpPr txBox="1"/>
          <p:nvPr/>
        </p:nvSpPr>
        <p:spPr>
          <a:xfrm>
            <a:off x="2240280" y="5812790"/>
            <a:ext cx="10248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Verification</a:t>
            </a:r>
            <a:endParaRPr lang="en-US" altLang="zh-CN" sz="1000"/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33265" y="1644015"/>
            <a:ext cx="437515" cy="386715"/>
          </a:xfrm>
          <a:prstGeom prst="rect">
            <a:avLst/>
          </a:prstGeom>
        </p:spPr>
      </p:pic>
      <p:sp>
        <p:nvSpPr>
          <p:cNvPr id="62" name="文本框 61"/>
          <p:cNvSpPr txBox="1"/>
          <p:nvPr/>
        </p:nvSpPr>
        <p:spPr>
          <a:xfrm>
            <a:off x="5019675" y="1383030"/>
            <a:ext cx="2357755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/>
              <a:t>痛点：</a:t>
            </a:r>
            <a:endParaRPr lang="en-US" altLang="zh-CN" sz="1200" b="1"/>
          </a:p>
          <a:p>
            <a:pPr marL="171450" indent="-171450">
              <a:buFont typeface="Wingdings" panose="05000000000000000000" charset="0"/>
              <a:buChar char="l"/>
            </a:pPr>
            <a:r>
              <a:rPr lang="zh-CN" altLang="en-US" sz="1200"/>
              <a:t>检索覆盖范围</a:t>
            </a:r>
            <a:r>
              <a:rPr lang="en-US" altLang="zh-CN" sz="1200"/>
              <a:t>/</a:t>
            </a:r>
            <a:r>
              <a:rPr lang="zh-CN" altLang="en-US" sz="1200"/>
              <a:t>上下文</a:t>
            </a:r>
            <a:endParaRPr lang="zh-CN" altLang="en-US" sz="1200"/>
          </a:p>
          <a:p>
            <a:pPr marL="171450" indent="-171450">
              <a:buFont typeface="Wingdings" panose="05000000000000000000" charset="0"/>
              <a:buChar char="l"/>
            </a:pPr>
            <a:r>
              <a:rPr lang="zh-CN" altLang="en-US" sz="1400">
                <a:solidFill>
                  <a:srgbClr val="C00000"/>
                </a:solidFill>
                <a:sym typeface="+mn-ea"/>
              </a:rPr>
              <a:t>干扰</a:t>
            </a:r>
            <a:r>
              <a:rPr lang="en-US" altLang="zh-CN" sz="1400">
                <a:solidFill>
                  <a:srgbClr val="C00000"/>
                </a:solidFill>
                <a:sym typeface="+mn-ea"/>
              </a:rPr>
              <a:t> &amp; </a:t>
            </a:r>
            <a:r>
              <a:rPr lang="zh-CN" altLang="en-US" sz="1400">
                <a:solidFill>
                  <a:srgbClr val="C00000"/>
                </a:solidFill>
                <a:sym typeface="+mn-ea"/>
              </a:rPr>
              <a:t>提示性饱和</a:t>
            </a:r>
            <a:r>
              <a:rPr lang="en-US" altLang="zh-CN" sz="1200">
                <a:sym typeface="+mn-ea"/>
              </a:rPr>
              <a:t>. </a:t>
            </a:r>
            <a:r>
              <a:rPr lang="en-US" altLang="zh-CN" sz="1200"/>
              <a:t>  </a:t>
            </a:r>
            <a:endParaRPr lang="en-US" altLang="zh-CN" sz="1200"/>
          </a:p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1200"/>
              <a:t>Top-k</a:t>
            </a:r>
            <a:r>
              <a:rPr lang="zh-CN" altLang="en-US" sz="1200"/>
              <a:t>检索遗漏</a:t>
            </a:r>
            <a:endParaRPr lang="zh-CN" altLang="en-US" sz="1200"/>
          </a:p>
        </p:txBody>
      </p:sp>
      <p:pic>
        <p:nvPicPr>
          <p:cNvPr id="67" name="图片 66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024370" y="2672715"/>
            <a:ext cx="502920" cy="462280"/>
          </a:xfrm>
          <a:prstGeom prst="rect">
            <a:avLst/>
          </a:prstGeom>
        </p:spPr>
      </p:pic>
      <p:sp>
        <p:nvSpPr>
          <p:cNvPr id="68" name="文本框 67"/>
          <p:cNvSpPr txBox="1"/>
          <p:nvPr/>
        </p:nvSpPr>
        <p:spPr>
          <a:xfrm>
            <a:off x="4793615" y="2289175"/>
            <a:ext cx="2402840" cy="1414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 b="1"/>
              <a:t>层级化</a:t>
            </a:r>
            <a:r>
              <a:rPr lang="en-US" altLang="zh-CN" sz="1200" b="1"/>
              <a:t>&amp;</a:t>
            </a:r>
            <a:br>
              <a:rPr lang="en-US" altLang="zh-CN" sz="1200" b="1"/>
            </a:br>
            <a:r>
              <a:rPr lang="en-US" altLang="zh-CN" sz="1200" b="1"/>
              <a:t>         </a:t>
            </a:r>
            <a:r>
              <a:rPr lang="zh-CN" altLang="en-US" sz="1200" b="1"/>
              <a:t>结构化记忆</a:t>
            </a:r>
            <a:endParaRPr lang="zh-CN" altLang="en-US" sz="1200" b="1"/>
          </a:p>
          <a:p>
            <a:pPr marL="171450" indent="-171450">
              <a:buFont typeface="Wingdings" panose="05000000000000000000" charset="0"/>
              <a:buChar char="l"/>
            </a:pPr>
            <a:r>
              <a:rPr lang="zh-CN" altLang="en-US" sz="1400">
                <a:solidFill>
                  <a:srgbClr val="C00000"/>
                </a:solidFill>
              </a:rPr>
              <a:t>即时层+召回层+归档层</a:t>
            </a:r>
            <a:endParaRPr lang="zh-CN" altLang="en-US" sz="1400">
              <a:solidFill>
                <a:srgbClr val="C00000"/>
              </a:solidFill>
            </a:endParaRPr>
          </a:p>
          <a:p>
            <a:pPr marL="171450" indent="-171450">
              <a:buFont typeface="Wingdings" panose="05000000000000000000" charset="0"/>
              <a:buChar char="l"/>
            </a:pPr>
            <a:r>
              <a:rPr lang="zh-CN" altLang="en-US" sz="1000"/>
              <a:t>在线仅保留即时</a:t>
            </a:r>
            <a:r>
              <a:rPr lang="en-US" altLang="zh-CN" sz="1000"/>
              <a:t> + </a:t>
            </a:r>
            <a:r>
              <a:rPr lang="zh-CN" altLang="en-US" sz="1000"/>
              <a:t>少量召回</a:t>
            </a:r>
            <a:endParaRPr lang="zh-CN" altLang="en-US" sz="1000"/>
          </a:p>
          <a:p>
            <a:pPr marL="171450" indent="-171450" algn="l">
              <a:buClrTx/>
              <a:buSzTx/>
              <a:buFont typeface="Wingdings" panose="05000000000000000000" charset="0"/>
              <a:buChar char="l"/>
            </a:pPr>
            <a:r>
              <a:rPr lang="zh-CN" altLang="en-US" sz="1000"/>
              <a:t>高频套路做</a:t>
            </a:r>
            <a:r>
              <a:rPr lang="zh-CN" altLang="en-US" sz="1400">
                <a:solidFill>
                  <a:srgbClr val="C00000"/>
                </a:solidFill>
              </a:rPr>
              <a:t>提示编译/蒸馏形成短模板</a:t>
            </a:r>
            <a:endParaRPr lang="zh-CN" altLang="en-US" sz="1000">
              <a:solidFill>
                <a:srgbClr val="C00000"/>
              </a:solidFill>
            </a:endParaRPr>
          </a:p>
          <a:p>
            <a:endParaRPr lang="zh-CN" altLang="en-US" sz="1000" b="1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9" name="图片 68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07535" y="3670935"/>
            <a:ext cx="612140" cy="561340"/>
          </a:xfrm>
          <a:prstGeom prst="rect">
            <a:avLst/>
          </a:prstGeom>
        </p:spPr>
      </p:pic>
      <p:sp>
        <p:nvSpPr>
          <p:cNvPr id="70" name="文本框 69"/>
          <p:cNvSpPr txBox="1"/>
          <p:nvPr/>
        </p:nvSpPr>
        <p:spPr>
          <a:xfrm>
            <a:off x="5067935" y="3533775"/>
            <a:ext cx="2555240" cy="1045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 b="1"/>
              <a:t>结构化嵌入</a:t>
            </a:r>
            <a:endParaRPr lang="zh-CN" altLang="en-US" sz="1200" b="1"/>
          </a:p>
          <a:p>
            <a:pPr marL="171450" indent="-171450">
              <a:buFont typeface="Wingdings" panose="05000000000000000000" charset="0"/>
              <a:buChar char="l"/>
            </a:pPr>
            <a:r>
              <a:rPr lang="zh-CN" altLang="en-US" sz="1000"/>
              <a:t>函数签名嵌入</a:t>
            </a:r>
            <a:endParaRPr lang="zh-CN" altLang="en-US" sz="1000"/>
          </a:p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1000"/>
              <a:t>CFG/DFG </a:t>
            </a:r>
            <a:r>
              <a:rPr lang="zh-CN" altLang="en-US" sz="1000"/>
              <a:t>编码</a:t>
            </a:r>
            <a:r>
              <a:rPr lang="en-US" altLang="zh-CN" sz="1000"/>
              <a:t> (control-flow &amp; data-flow)</a:t>
            </a:r>
            <a:endParaRPr lang="en-US" altLang="zh-CN" sz="1000"/>
          </a:p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1000"/>
              <a:t>Distillation of code and plan facts</a:t>
            </a:r>
            <a:endParaRPr lang="en-US" altLang="zh-CN" sz="1000"/>
          </a:p>
          <a:p>
            <a:endParaRPr lang="en-US" altLang="zh-CN" sz="1000" b="1"/>
          </a:p>
        </p:txBody>
      </p:sp>
      <p:pic>
        <p:nvPicPr>
          <p:cNvPr id="76" name="图片 75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128510" y="4699000"/>
            <a:ext cx="398145" cy="391795"/>
          </a:xfrm>
          <a:prstGeom prst="rect">
            <a:avLst/>
          </a:prstGeom>
        </p:spPr>
      </p:pic>
      <p:sp>
        <p:nvSpPr>
          <p:cNvPr id="80" name="文本框 79"/>
          <p:cNvSpPr txBox="1"/>
          <p:nvPr/>
        </p:nvSpPr>
        <p:spPr>
          <a:xfrm>
            <a:off x="4970780" y="4440555"/>
            <a:ext cx="2108835" cy="5880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200" b="1"/>
              <a:t>工具选择器</a:t>
            </a:r>
            <a:r>
              <a:rPr lang="en-US" altLang="zh-CN" sz="1200" b="1"/>
              <a:t> / </a:t>
            </a:r>
            <a:r>
              <a:rPr lang="zh-CN" altLang="en-US" sz="1200" b="1"/>
              <a:t>路由器</a:t>
            </a:r>
            <a:r>
              <a:rPr lang="en-US" altLang="zh-CN" sz="1000" b="1"/>
              <a:t> </a:t>
            </a:r>
            <a:endParaRPr lang="en-US" altLang="zh-CN" sz="1000" b="1"/>
          </a:p>
          <a:p>
            <a:pPr marL="171450" indent="-171450">
              <a:buFont typeface="Wingdings" panose="05000000000000000000" charset="0"/>
              <a:buChar char="l"/>
            </a:pPr>
            <a:r>
              <a:rPr lang="zh-CN" altLang="en-US" sz="1000"/>
              <a:t>参考</a:t>
            </a:r>
            <a:r>
              <a:rPr lang="en-US" altLang="zh-CN" sz="1000"/>
              <a:t>Gorilla / Toolformer</a:t>
            </a:r>
            <a:endParaRPr lang="en-US" altLang="zh-CN" sz="1000"/>
          </a:p>
          <a:p>
            <a:pPr marL="171450" indent="-171450">
              <a:buFont typeface="Wingdings" panose="05000000000000000000" charset="0"/>
              <a:buChar char="l"/>
            </a:pPr>
            <a:r>
              <a:rPr lang="zh-CN" altLang="en-US" sz="1200">
                <a:solidFill>
                  <a:srgbClr val="C00000"/>
                </a:solidFill>
              </a:rPr>
              <a:t>API 调用数据或执行日志</a:t>
            </a:r>
            <a:r>
              <a:rPr lang="zh-CN" altLang="en-US" sz="1000"/>
              <a:t>（</a:t>
            </a:r>
            <a:r>
              <a:rPr lang="en-US" altLang="zh-CN" sz="1000"/>
              <a:t>“</a:t>
            </a:r>
            <a:r>
              <a:rPr lang="zh-CN" altLang="en-US" sz="1000">
                <a:sym typeface="+mn-ea"/>
              </a:rPr>
              <a:t>学会</a:t>
            </a:r>
            <a:r>
              <a:rPr lang="en-US" altLang="zh-CN" sz="1000"/>
              <a:t>”</a:t>
            </a:r>
            <a:r>
              <a:rPr lang="zh-CN" altLang="en-US" sz="1000"/>
              <a:t>暴露哪些工具、先后关系</a:t>
            </a:r>
            <a:r>
              <a:rPr lang="en-US" altLang="zh-CN" sz="1000"/>
              <a:t>”</a:t>
            </a:r>
            <a:r>
              <a:rPr lang="zh-CN" altLang="en-US" sz="1000"/>
              <a:t>）</a:t>
            </a:r>
            <a:endParaRPr lang="zh-CN" altLang="en-US" sz="1000"/>
          </a:p>
          <a:p>
            <a:endParaRPr lang="en-US" altLang="zh-CN" sz="1000" b="1"/>
          </a:p>
        </p:txBody>
      </p:sp>
      <p:pic>
        <p:nvPicPr>
          <p:cNvPr id="81" name="图片 80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10245" y="1587500"/>
            <a:ext cx="492760" cy="472440"/>
          </a:xfrm>
          <a:prstGeom prst="rect">
            <a:avLst/>
          </a:prstGeom>
        </p:spPr>
      </p:pic>
      <p:sp>
        <p:nvSpPr>
          <p:cNvPr id="83" name="文本框 82"/>
          <p:cNvSpPr txBox="1"/>
          <p:nvPr/>
        </p:nvSpPr>
        <p:spPr>
          <a:xfrm>
            <a:off x="8853170" y="1539875"/>
            <a:ext cx="2912110" cy="12604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/>
              <a:t>影响分析</a:t>
            </a:r>
            <a:endParaRPr lang="zh-CN" altLang="en-US" sz="1200" b="1"/>
          </a:p>
          <a:p>
            <a:pPr marL="171450" indent="-171450">
              <a:buFont typeface="Wingdings" panose="05000000000000000000" charset="0"/>
              <a:buChar char="l"/>
            </a:pPr>
            <a:r>
              <a:rPr lang="zh-CN" altLang="en-US" sz="1200"/>
              <a:t>在任务分解过程中，生成每个步骤的</a:t>
            </a:r>
            <a:r>
              <a:rPr lang="zh-CN" altLang="en-US" sz="1400">
                <a:solidFill>
                  <a:srgbClr val="C00000"/>
                </a:solidFill>
              </a:rPr>
              <a:t>先验条件和预期成功状态</a:t>
            </a:r>
            <a:r>
              <a:rPr lang="zh-CN" altLang="en-US" sz="1200"/>
              <a:t>。</a:t>
            </a:r>
            <a:endParaRPr lang="zh-CN" altLang="en-US" sz="1200"/>
          </a:p>
          <a:p>
            <a:pPr marL="171450" indent="-171450">
              <a:buFont typeface="Wingdings" panose="05000000000000000000" charset="0"/>
              <a:buChar char="l"/>
            </a:pPr>
            <a:r>
              <a:rPr lang="zh-CN" altLang="en-US" sz="1200">
                <a:solidFill>
                  <a:schemeClr val="tx1"/>
                </a:solidFill>
              </a:rPr>
              <a:t>在每个关键子任务之后，插入一个验证步骤，并使用</a:t>
            </a:r>
            <a:r>
              <a:rPr lang="zh-CN" altLang="en-US" sz="1400">
                <a:solidFill>
                  <a:srgbClr val="C00000"/>
                </a:solidFill>
              </a:rPr>
              <a:t>视觉评判器</a:t>
            </a:r>
            <a:r>
              <a:rPr lang="zh-CN" altLang="en-US" sz="1200">
                <a:solidFill>
                  <a:schemeClr val="tx1"/>
                </a:solidFill>
              </a:rPr>
              <a:t>（</a:t>
            </a:r>
            <a:r>
              <a:rPr lang="en-US" altLang="zh-CN" sz="1200">
                <a:solidFill>
                  <a:schemeClr val="tx1"/>
                </a:solidFill>
              </a:rPr>
              <a:t>VLM </a:t>
            </a:r>
            <a:r>
              <a:rPr lang="zh-CN" altLang="en-US" sz="1200">
                <a:solidFill>
                  <a:schemeClr val="tx1"/>
                </a:solidFill>
              </a:rPr>
              <a:t>或</a:t>
            </a:r>
            <a:r>
              <a:rPr lang="en-US" altLang="zh-CN" sz="1200">
                <a:solidFill>
                  <a:schemeClr val="tx1"/>
                </a:solidFill>
              </a:rPr>
              <a:t> CV</a:t>
            </a:r>
            <a:r>
              <a:rPr lang="zh-CN" altLang="en-US" sz="1200">
                <a:solidFill>
                  <a:schemeClr val="tx1"/>
                </a:solidFill>
              </a:rPr>
              <a:t>）检查预期状态是否成立。</a:t>
            </a:r>
            <a:endParaRPr lang="zh-CN" altLang="en-US" sz="1200">
              <a:solidFill>
                <a:schemeClr val="tx1"/>
              </a:solidFill>
            </a:endParaRPr>
          </a:p>
        </p:txBody>
      </p:sp>
      <p:pic>
        <p:nvPicPr>
          <p:cNvPr id="84" name="图片 83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523105" y="5448935"/>
            <a:ext cx="544830" cy="527685"/>
          </a:xfrm>
          <a:prstGeom prst="rect">
            <a:avLst/>
          </a:prstGeom>
        </p:spPr>
      </p:pic>
      <p:sp>
        <p:nvSpPr>
          <p:cNvPr id="85" name="文本框 84"/>
          <p:cNvSpPr txBox="1"/>
          <p:nvPr/>
        </p:nvSpPr>
        <p:spPr>
          <a:xfrm>
            <a:off x="5114925" y="5288915"/>
            <a:ext cx="2903220" cy="5880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200" b="1"/>
              <a:t>评估</a:t>
            </a:r>
            <a:r>
              <a:rPr lang="en-US" altLang="zh-CN" sz="1200" b="1"/>
              <a:t>:</a:t>
            </a:r>
            <a:endParaRPr lang="en-US" altLang="zh-CN" sz="1200" b="1"/>
          </a:p>
          <a:p>
            <a:pPr marL="171450" indent="-171450">
              <a:buFont typeface="Wingdings" panose="05000000000000000000" charset="0"/>
              <a:buChar char="l"/>
            </a:pPr>
            <a:r>
              <a:rPr lang="zh-CN" altLang="en-US" sz="1400">
                <a:solidFill>
                  <a:srgbClr val="C00000"/>
                </a:solidFill>
              </a:rPr>
              <a:t>E2E SR; FT/BT</a:t>
            </a:r>
            <a:r>
              <a:rPr lang="en-US" altLang="zh-CN" sz="1000"/>
              <a:t> (forward/backward transfer); steps to success</a:t>
            </a:r>
            <a:endParaRPr lang="en-US" altLang="zh-CN" sz="1000"/>
          </a:p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1000"/>
              <a:t>MMR/DPP diversity</a:t>
            </a:r>
            <a:endParaRPr lang="en-US" altLang="zh-CN" sz="1000"/>
          </a:p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1000"/>
              <a:t>Retrieval Recall@K; Top-k miss rate</a:t>
            </a:r>
            <a:endParaRPr lang="en-US" altLang="zh-CN" sz="1000"/>
          </a:p>
          <a:p>
            <a:pPr marL="171450" indent="-171450">
              <a:buFont typeface="Wingdings" panose="05000000000000000000" charset="0"/>
              <a:buChar char="l"/>
            </a:pPr>
            <a:endParaRPr lang="en-US" altLang="zh-CN" sz="1000"/>
          </a:p>
          <a:p>
            <a:pPr marL="171450" indent="-171450">
              <a:buFont typeface="Wingdings" panose="05000000000000000000" charset="0"/>
              <a:buChar char="l"/>
            </a:pPr>
            <a:endParaRPr lang="en-US" altLang="zh-CN" sz="1000"/>
          </a:p>
          <a:p>
            <a:endParaRPr lang="en-US" altLang="zh-CN" sz="1000" b="1"/>
          </a:p>
        </p:txBody>
      </p:sp>
      <p:graphicFrame>
        <p:nvGraphicFramePr>
          <p:cNvPr id="86" name="图示 85"/>
          <p:cNvGraphicFramePr/>
          <p:nvPr/>
        </p:nvGraphicFramePr>
        <p:xfrm>
          <a:off x="3743325" y="3277235"/>
          <a:ext cx="556260" cy="393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5" r:lo="rId26" r:qs="rId27" r:cs="rId28"/>
          </a:graphicData>
        </a:graphic>
      </p:graphicFrame>
      <p:graphicFrame>
        <p:nvGraphicFramePr>
          <p:cNvPr id="90" name="图示 89"/>
          <p:cNvGraphicFramePr/>
          <p:nvPr/>
        </p:nvGraphicFramePr>
        <p:xfrm>
          <a:off x="7786370" y="3277235"/>
          <a:ext cx="469900" cy="320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0" r:lo="rId31" r:qs="rId32" r:cs="rId33"/>
          </a:graphicData>
        </a:graphic>
      </p:graphicFrame>
      <p:sp>
        <p:nvSpPr>
          <p:cNvPr id="91" name="文本框 90"/>
          <p:cNvSpPr txBox="1"/>
          <p:nvPr/>
        </p:nvSpPr>
        <p:spPr>
          <a:xfrm>
            <a:off x="8495030" y="3165475"/>
            <a:ext cx="2716530" cy="117729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zh-CN" altLang="en-US" sz="1200" b="1"/>
              <a:t>学习矫正</a:t>
            </a:r>
            <a:endParaRPr lang="en-US" altLang="zh-CN" sz="1200" b="1"/>
          </a:p>
          <a:p>
            <a:pPr marL="171450" indent="-171450" algn="l">
              <a:buClrTx/>
              <a:buSzTx/>
              <a:buFont typeface="Wingdings" panose="05000000000000000000" charset="0"/>
              <a:buChar char="l"/>
            </a:pPr>
            <a:r>
              <a:rPr lang="zh-CN" altLang="en-US" sz="1200"/>
              <a:t>分析步骤失败的原因（参数、顺序、缺失的</a:t>
            </a:r>
            <a:r>
              <a:rPr lang="zh-CN" altLang="en-US" sz="1200"/>
              <a:t>先验条件）。</a:t>
            </a:r>
            <a:endParaRPr lang="zh-CN" altLang="en-US" sz="1200"/>
          </a:p>
          <a:p>
            <a:pPr marL="171450" indent="-171450" algn="l">
              <a:buClrTx/>
              <a:buSzTx/>
              <a:buFont typeface="Wingdings" panose="05000000000000000000" charset="0"/>
              <a:buChar char="l"/>
            </a:pPr>
            <a:r>
              <a:rPr lang="zh-CN" altLang="en-US" sz="1200"/>
              <a:t>建议重试方式：</a:t>
            </a:r>
            <a:r>
              <a:rPr lang="zh-CN" altLang="en-US" sz="1400">
                <a:solidFill>
                  <a:srgbClr val="C00000"/>
                </a:solidFill>
              </a:rPr>
              <a:t>参数修正、工具/技能切换、步骤重新排序或寻求帮助。</a:t>
            </a:r>
            <a:endParaRPr lang="zh-CN" altLang="en-US" sz="1400">
              <a:solidFill>
                <a:srgbClr val="C00000"/>
              </a:solidFill>
            </a:endParaRPr>
          </a:p>
        </p:txBody>
      </p:sp>
      <p:pic>
        <p:nvPicPr>
          <p:cNvPr id="92" name="图片 91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1211560" y="3533775"/>
            <a:ext cx="619760" cy="558800"/>
          </a:xfrm>
          <a:prstGeom prst="rect">
            <a:avLst/>
          </a:prstGeom>
        </p:spPr>
      </p:pic>
      <p:pic>
        <p:nvPicPr>
          <p:cNvPr id="93" name="图片 92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516620" y="4874895"/>
            <a:ext cx="598170" cy="535305"/>
          </a:xfrm>
          <a:prstGeom prst="rect">
            <a:avLst/>
          </a:prstGeom>
        </p:spPr>
      </p:pic>
      <p:sp>
        <p:nvSpPr>
          <p:cNvPr id="94" name="文本框 93"/>
          <p:cNvSpPr txBox="1"/>
          <p:nvPr/>
        </p:nvSpPr>
        <p:spPr>
          <a:xfrm>
            <a:off x="9114790" y="4696460"/>
            <a:ext cx="2716530" cy="107632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200" b="1"/>
              <a:t>评估</a:t>
            </a:r>
            <a:endParaRPr lang="en-US" altLang="zh-CN" sz="1200" b="1"/>
          </a:p>
          <a:p>
            <a:pPr marL="171450" indent="-171450" algn="l">
              <a:buClrTx/>
              <a:buSzTx/>
              <a:buFont typeface="Wingdings" panose="05000000000000000000" charset="0"/>
              <a:buChar char="l"/>
            </a:pPr>
            <a:r>
              <a:rPr lang="zh-CN" altLang="en-US" sz="1400">
                <a:solidFill>
                  <a:srgbClr val="C00000"/>
                </a:solidFill>
              </a:rPr>
              <a:t>恢复后的ASR</a:t>
            </a:r>
            <a:r>
              <a:rPr lang="zh-CN" altLang="en-US" sz="1200"/>
              <a:t>；每次</a:t>
            </a:r>
            <a:r>
              <a:rPr lang="zh-CN" altLang="en-US" sz="1400">
                <a:solidFill>
                  <a:srgbClr val="C00000"/>
                </a:solidFill>
              </a:rPr>
              <a:t>故障的重试次数</a:t>
            </a:r>
            <a:r>
              <a:rPr lang="zh-CN" altLang="en-US" sz="1200"/>
              <a:t>；</a:t>
            </a:r>
            <a:r>
              <a:rPr lang="zh-CN" altLang="en-US" sz="1400">
                <a:solidFill>
                  <a:srgbClr val="C00000"/>
                </a:solidFill>
              </a:rPr>
              <a:t>恢复所需时间</a:t>
            </a:r>
            <a:r>
              <a:rPr lang="zh-CN" altLang="en-US" sz="1200"/>
              <a:t>。</a:t>
            </a:r>
            <a:endParaRPr lang="zh-CN" altLang="en-US" sz="1200"/>
          </a:p>
          <a:p>
            <a:pPr marL="171450" indent="-171450" algn="l">
              <a:buClrTx/>
              <a:buSzTx/>
              <a:buFont typeface="Wingdings" panose="05000000000000000000" charset="0"/>
              <a:buChar char="l"/>
            </a:pPr>
            <a:r>
              <a:rPr lang="zh-CN" altLang="en-US" sz="1200"/>
              <a:t>建议重试方式：参数修正、工具</a:t>
            </a:r>
            <a:r>
              <a:rPr lang="en-US" altLang="zh-CN" sz="1200"/>
              <a:t>/</a:t>
            </a:r>
            <a:r>
              <a:rPr lang="zh-CN" altLang="en-US" sz="1200"/>
              <a:t>技能切换、步骤重新排序或寻求帮助。</a:t>
            </a:r>
            <a:endParaRPr lang="zh-CN" altLang="en-US" sz="1200"/>
          </a:p>
        </p:txBody>
      </p:sp>
      <p:pic>
        <p:nvPicPr>
          <p:cNvPr id="68609" name="图形 68608" descr="箭头顺时针弯曲"/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 rot="16014660">
            <a:off x="1140612" y="1408841"/>
            <a:ext cx="417760" cy="83988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cxnSp>
        <p:nvCxnSpPr>
          <p:cNvPr id="87" name="直接连接符 86"/>
          <p:cNvCxnSpPr/>
          <p:nvPr/>
        </p:nvCxnSpPr>
        <p:spPr>
          <a:xfrm flipV="1">
            <a:off x="739140" y="1343660"/>
            <a:ext cx="657225" cy="381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8" name="文本框 87"/>
          <p:cNvSpPr txBox="1"/>
          <p:nvPr/>
        </p:nvSpPr>
        <p:spPr>
          <a:xfrm>
            <a:off x="939165" y="1965325"/>
            <a:ext cx="60515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 b="1" i="1"/>
              <a:t>二次询问？</a:t>
            </a:r>
            <a:endParaRPr lang="zh-CN" altLang="en-US" sz="800" b="1" i="1"/>
          </a:p>
        </p:txBody>
      </p:sp>
      <p:sp>
        <p:nvSpPr>
          <p:cNvPr id="89" name="文本框 88"/>
          <p:cNvSpPr txBox="1"/>
          <p:nvPr/>
        </p:nvSpPr>
        <p:spPr>
          <a:xfrm>
            <a:off x="661670" y="1301115"/>
            <a:ext cx="805815" cy="301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800">
                <a:latin typeface="汉仪颜楷简" panose="00020600040101010101" charset="-122"/>
                <a:ea typeface="汉仪颜楷简" panose="00020600040101010101" charset="-122"/>
                <a:sym typeface="汉仪颜楷简" panose="00020600040101010101" charset="-122"/>
              </a:rPr>
              <a:t>阿司匹林（二次</a:t>
            </a:r>
            <a:r>
              <a:rPr lang="zh-CN" altLang="en-US" sz="800">
                <a:latin typeface="汉仪颜楷简" panose="00020600040101010101" charset="-122"/>
                <a:ea typeface="汉仪颜楷简" panose="00020600040101010101" charset="-122"/>
                <a:sym typeface="汉仪颜楷简" panose="00020600040101010101" charset="-122"/>
              </a:rPr>
              <a:t>补充）</a:t>
            </a:r>
            <a:endParaRPr lang="zh-CN" altLang="en-US" sz="800">
              <a:latin typeface="汉仪颜楷简" panose="00020600040101010101" charset="-122"/>
              <a:ea typeface="汉仪颜楷简" panose="00020600040101010101" charset="-122"/>
              <a:sym typeface="汉仪颜楷简" panose="00020600040101010101" charset="-122"/>
            </a:endParaRPr>
          </a:p>
        </p:txBody>
      </p:sp>
      <p:pic>
        <p:nvPicPr>
          <p:cNvPr id="96" name="图片 95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90575" y="1089025"/>
            <a:ext cx="114935" cy="95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  <p:bldLst>
      <p:bldP spid="121" grpId="0" animBg="1"/>
      <p:bldP spid="121" grpId="1" animBg="1"/>
      <p:bldP spid="7192" grpId="0" animBg="1"/>
      <p:bldP spid="7192" grpId="1" animBg="1"/>
      <p:bldP spid="60" grpId="0" animBg="1"/>
      <p:bldP spid="60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4824730" y="1024890"/>
            <a:ext cx="7330440" cy="5257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2" name="圆角矩形 81"/>
          <p:cNvSpPr/>
          <p:nvPr/>
        </p:nvSpPr>
        <p:spPr>
          <a:xfrm>
            <a:off x="10281920" y="3284220"/>
            <a:ext cx="1198245" cy="104584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2" name="Google Shape;173;p22"/>
          <p:cNvSpPr/>
          <p:nvPr/>
        </p:nvSpPr>
        <p:spPr>
          <a:xfrm>
            <a:off x="8843010" y="5019675"/>
            <a:ext cx="2725420" cy="368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rgbClr val="FF0000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22605" y="350520"/>
            <a:ext cx="11668760" cy="621030"/>
            <a:chOff x="420" y="216"/>
            <a:chExt cx="18376" cy="978"/>
          </a:xfrm>
        </p:grpSpPr>
        <p:grpSp>
          <p:nvGrpSpPr>
            <p:cNvPr id="29" name="组合 28"/>
            <p:cNvGrpSpPr/>
            <p:nvPr/>
          </p:nvGrpSpPr>
          <p:grpSpPr>
            <a:xfrm>
              <a:off x="13717" y="216"/>
              <a:ext cx="5079" cy="895"/>
              <a:chOff x="8733552" y="75111"/>
              <a:chExt cx="3224966" cy="570305"/>
            </a:xfrm>
          </p:grpSpPr>
          <p:sp>
            <p:nvSpPr>
              <p:cNvPr id="5" name="文本框 4"/>
              <p:cNvSpPr txBox="1"/>
              <p:nvPr/>
            </p:nvSpPr>
            <p:spPr>
              <a:xfrm>
                <a:off x="9158872" y="75417"/>
                <a:ext cx="2799646" cy="569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000" b="1" dirty="0">
                    <a:solidFill>
                      <a:srgbClr val="183884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机器人科学与工程学院</a:t>
                </a:r>
                <a:endParaRPr lang="en-US" altLang="zh-CN" sz="2000" b="1" dirty="0">
                  <a:solidFill>
                    <a:srgbClr val="183884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1100" b="1" i="1" u="sng" dirty="0">
                    <a:solidFill>
                      <a:srgbClr val="183884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Faculty of Robot Science and Engineering</a:t>
                </a:r>
                <a:endParaRPr lang="zh-CN" altLang="zh-CN" sz="1100" b="1" i="1" u="sng" dirty="0">
                  <a:solidFill>
                    <a:srgbClr val="183884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1">
                <a:extLst>
                  <a:ext uri="{BEBA8EAE-BF5A-486C-A8C5-ECC9F3942E4B}">
                    <a14:imgProps xmlns:a14="http://schemas.microsoft.com/office/drawing/2010/main">
                      <a14:imgLayer r:embed="rId2">
                        <a14:imgEffect>
                          <a14:artisticPaintBrush brushSize="10"/>
                        </a14:imgEffect>
                        <a14:imgEffect>
                          <a14:sharpenSoften amount="44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33552" y="75111"/>
                <a:ext cx="551050" cy="546198"/>
              </a:xfrm>
              <a:prstGeom prst="rect">
                <a:avLst/>
              </a:prstGeom>
            </p:spPr>
          </p:pic>
        </p:grpSp>
        <p:cxnSp>
          <p:nvCxnSpPr>
            <p:cNvPr id="7" name="直接连接符 9"/>
            <p:cNvCxnSpPr/>
            <p:nvPr/>
          </p:nvCxnSpPr>
          <p:spPr>
            <a:xfrm>
              <a:off x="420" y="1194"/>
              <a:ext cx="18376" cy="0"/>
            </a:xfrm>
            <a:prstGeom prst="line">
              <a:avLst/>
            </a:prstGeom>
            <a:ln w="38100" cap="flat" cmpd="sng" algn="ctr">
              <a:solidFill>
                <a:schemeClr val="accent5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cxnSp>
        <p:nvCxnSpPr>
          <p:cNvPr id="12" name="直接连接符 9"/>
          <p:cNvCxnSpPr/>
          <p:nvPr>
            <p:custDataLst>
              <p:tags r:id="rId3"/>
            </p:custDataLst>
          </p:nvPr>
        </p:nvCxnSpPr>
        <p:spPr>
          <a:xfrm>
            <a:off x="266700" y="6333924"/>
            <a:ext cx="11668626" cy="0"/>
          </a:xfrm>
          <a:prstGeom prst="line">
            <a:avLst/>
          </a:prstGeom>
          <a:ln w="3810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1" name="文本框 120"/>
          <p:cNvSpPr txBox="1"/>
          <p:nvPr/>
        </p:nvSpPr>
        <p:spPr>
          <a:xfrm>
            <a:off x="4545330" y="379095"/>
            <a:ext cx="2738755" cy="530225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noAutofit/>
          </a:bodyPr>
          <a:p>
            <a:pPr algn="l" fontAlgn="base">
              <a:buClrTx/>
              <a:buSzTx/>
              <a:buFontTx/>
            </a:pP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双臂协同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处理机制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pPr algn="ctr"/>
            <a:endParaRPr lang="zh-CN" altLang="en-US" sz="2400" i="1" dirty="0" err="1">
              <a:ln>
                <a:solidFill>
                  <a:schemeClr val="tx1"/>
                </a:solidFill>
              </a:ln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174625" y="6406515"/>
            <a:ext cx="441325" cy="332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➢</a:t>
            </a:r>
            <a:r>
              <a:rPr lang="en-US" altLang="zh-CN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endParaRPr lang="zh-CN" altLang="en-US" b="1" i="1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34" name="文本框 33">
            <a:hlinkClick r:id="rId5"/>
          </p:cNvPr>
          <p:cNvSpPr txBox="1"/>
          <p:nvPr/>
        </p:nvSpPr>
        <p:spPr>
          <a:xfrm>
            <a:off x="451485" y="372745"/>
            <a:ext cx="1868170" cy="5219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altLang="zh-CN" sz="1400" b="1" i="1" u="sng" dirty="0">
                <a:solidFill>
                  <a:srgbClr val="183884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Research Background and Significance</a:t>
            </a:r>
            <a:endParaRPr lang="en-US" altLang="zh-CN" sz="1400" b="1" i="1" u="sng" dirty="0">
              <a:solidFill>
                <a:srgbClr val="183884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605" y="6352540"/>
            <a:ext cx="499110" cy="50546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769037" y="6406515"/>
            <a:ext cx="1758507" cy="40850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D9D8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308735" y="6406515"/>
            <a:ext cx="1933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研究背景及意义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265045" y="6406752"/>
            <a:ext cx="228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研究综述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839179" y="6446757"/>
            <a:ext cx="163830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研究内容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706014" y="6435952"/>
            <a:ext cx="163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前期工作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572850" y="6458285"/>
            <a:ext cx="163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研究计划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1465286" y="6352823"/>
            <a:ext cx="469673" cy="29189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173990" y="1732915"/>
            <a:ext cx="441960" cy="371475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9" name="文本框 108"/>
          <p:cNvSpPr txBox="1"/>
          <p:nvPr/>
        </p:nvSpPr>
        <p:spPr>
          <a:xfrm>
            <a:off x="179070" y="1772920"/>
            <a:ext cx="358775" cy="4209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长序列任务的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智能体控制策略</a:t>
            </a:r>
            <a:endParaRPr lang="zh-CN" altLang="en-US"/>
          </a:p>
        </p:txBody>
      </p:sp>
      <p:sp>
        <p:nvSpPr>
          <p:cNvPr id="110" name="圆角矩形 109"/>
          <p:cNvSpPr/>
          <p:nvPr/>
        </p:nvSpPr>
        <p:spPr>
          <a:xfrm>
            <a:off x="645795" y="1069340"/>
            <a:ext cx="1729105" cy="509016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1" name="文本框 110"/>
          <p:cNvSpPr txBox="1"/>
          <p:nvPr/>
        </p:nvSpPr>
        <p:spPr>
          <a:xfrm>
            <a:off x="1118870" y="1085850"/>
            <a:ext cx="7804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input</a:t>
            </a:r>
            <a:endParaRPr lang="en-US" altLang="zh-CN" sz="1600"/>
          </a:p>
        </p:txBody>
      </p:sp>
      <p:pic>
        <p:nvPicPr>
          <p:cNvPr id="112" name="图片 1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3795" y="1400175"/>
            <a:ext cx="913130" cy="1028700"/>
          </a:xfrm>
          <a:prstGeom prst="rect">
            <a:avLst/>
          </a:prstGeom>
        </p:spPr>
      </p:pic>
      <p:grpSp>
        <p:nvGrpSpPr>
          <p:cNvPr id="68608" name="组合 68607"/>
          <p:cNvGrpSpPr/>
          <p:nvPr/>
        </p:nvGrpSpPr>
        <p:grpSpPr>
          <a:xfrm flipH="1">
            <a:off x="1105535" y="2332355"/>
            <a:ext cx="297180" cy="266700"/>
            <a:chOff x="312523" y="2914278"/>
            <a:chExt cx="685897" cy="689609"/>
          </a:xfrm>
        </p:grpSpPr>
        <p:sp>
          <p:nvSpPr>
            <p:cNvPr id="113" name="任意多边形: 形状 20"/>
            <p:cNvSpPr/>
            <p:nvPr/>
          </p:nvSpPr>
          <p:spPr>
            <a:xfrm>
              <a:off x="541220" y="2914278"/>
              <a:ext cx="304800" cy="304800"/>
            </a:xfrm>
            <a:custGeom>
              <a:avLst/>
              <a:gdLst>
                <a:gd name="connsiteX0" fmla="*/ 304800 w 304800"/>
                <a:gd name="connsiteY0" fmla="*/ 152400 h 304800"/>
                <a:gd name="connsiteX1" fmla="*/ 152400 w 304800"/>
                <a:gd name="connsiteY1" fmla="*/ 304800 h 304800"/>
                <a:gd name="connsiteX2" fmla="*/ 0 w 304800"/>
                <a:gd name="connsiteY2" fmla="*/ 152400 h 304800"/>
                <a:gd name="connsiteX3" fmla="*/ 152400 w 304800"/>
                <a:gd name="connsiteY3" fmla="*/ 0 h 304800"/>
                <a:gd name="connsiteX4" fmla="*/ 304800 w 304800"/>
                <a:gd name="connsiteY4" fmla="*/ 152400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0" h="304800">
                  <a:moveTo>
                    <a:pt x="304800" y="152400"/>
                  </a:moveTo>
                  <a:cubicBezTo>
                    <a:pt x="304800" y="236568"/>
                    <a:pt x="236568" y="304800"/>
                    <a:pt x="152400" y="304800"/>
                  </a:cubicBezTo>
                  <a:cubicBezTo>
                    <a:pt x="68232" y="304800"/>
                    <a:pt x="0" y="236568"/>
                    <a:pt x="0" y="152400"/>
                  </a:cubicBezTo>
                  <a:cubicBezTo>
                    <a:pt x="0" y="68232"/>
                    <a:pt x="68232" y="0"/>
                    <a:pt x="152400" y="0"/>
                  </a:cubicBezTo>
                  <a:cubicBezTo>
                    <a:pt x="236568" y="0"/>
                    <a:pt x="304800" y="68232"/>
                    <a:pt x="304800" y="1524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/>
            </a:p>
          </p:txBody>
        </p:sp>
        <p:sp>
          <p:nvSpPr>
            <p:cNvPr id="114" name="任意多边形: 形状 21"/>
            <p:cNvSpPr/>
            <p:nvPr/>
          </p:nvSpPr>
          <p:spPr>
            <a:xfrm>
              <a:off x="312523" y="3271280"/>
              <a:ext cx="218218" cy="332607"/>
            </a:xfrm>
            <a:custGeom>
              <a:avLst/>
              <a:gdLst>
                <a:gd name="connsiteX0" fmla="*/ 215361 w 218218"/>
                <a:gd name="connsiteY0" fmla="*/ 286887 h 332607"/>
                <a:gd name="connsiteX1" fmla="*/ 152496 w 218218"/>
                <a:gd name="connsiteY1" fmla="*/ 144965 h 332607"/>
                <a:gd name="connsiteX2" fmla="*/ 152496 w 218218"/>
                <a:gd name="connsiteY2" fmla="*/ 48762 h 332607"/>
                <a:gd name="connsiteX3" fmla="*/ 168689 w 218218"/>
                <a:gd name="connsiteY3" fmla="*/ 20187 h 332607"/>
                <a:gd name="connsiteX4" fmla="*/ 173451 w 218218"/>
                <a:gd name="connsiteY4" fmla="*/ 5900 h 332607"/>
                <a:gd name="connsiteX5" fmla="*/ 162974 w 218218"/>
                <a:gd name="connsiteY5" fmla="*/ 185 h 332607"/>
                <a:gd name="connsiteX6" fmla="*/ 54389 w 218218"/>
                <a:gd name="connsiteY6" fmla="*/ 185 h 332607"/>
                <a:gd name="connsiteX7" fmla="*/ 42959 w 218218"/>
                <a:gd name="connsiteY7" fmla="*/ 10662 h 332607"/>
                <a:gd name="connsiteX8" fmla="*/ 48674 w 218218"/>
                <a:gd name="connsiteY8" fmla="*/ 21140 h 332607"/>
                <a:gd name="connsiteX9" fmla="*/ 64866 w 218218"/>
                <a:gd name="connsiteY9" fmla="*/ 49715 h 332607"/>
                <a:gd name="connsiteX10" fmla="*/ 64866 w 218218"/>
                <a:gd name="connsiteY10" fmla="*/ 145917 h 332607"/>
                <a:gd name="connsiteX11" fmla="*/ 2954 w 218218"/>
                <a:gd name="connsiteY11" fmla="*/ 286887 h 332607"/>
                <a:gd name="connsiteX12" fmla="*/ 20099 w 218218"/>
                <a:gd name="connsiteY12" fmla="*/ 329750 h 332607"/>
                <a:gd name="connsiteX13" fmla="*/ 33434 w 218218"/>
                <a:gd name="connsiteY13" fmla="*/ 332607 h 332607"/>
                <a:gd name="connsiteX14" fmla="*/ 185834 w 218218"/>
                <a:gd name="connsiteY14" fmla="*/ 332607 h 332607"/>
                <a:gd name="connsiteX15" fmla="*/ 218219 w 218218"/>
                <a:gd name="connsiteY15" fmla="*/ 300222 h 332607"/>
                <a:gd name="connsiteX16" fmla="*/ 215361 w 218218"/>
                <a:gd name="connsiteY16" fmla="*/ 286887 h 332607"/>
                <a:gd name="connsiteX17" fmla="*/ 215361 w 218218"/>
                <a:gd name="connsiteY17" fmla="*/ 286887 h 332607"/>
                <a:gd name="connsiteX18" fmla="*/ 87726 w 218218"/>
                <a:gd name="connsiteY18" fmla="*/ 70670 h 332607"/>
                <a:gd name="connsiteX19" fmla="*/ 87726 w 218218"/>
                <a:gd name="connsiteY19" fmla="*/ 48762 h 332607"/>
                <a:gd name="connsiteX20" fmla="*/ 80106 w 218218"/>
                <a:gd name="connsiteY20" fmla="*/ 21140 h 332607"/>
                <a:gd name="connsiteX21" fmla="*/ 138209 w 218218"/>
                <a:gd name="connsiteY21" fmla="*/ 21140 h 332607"/>
                <a:gd name="connsiteX22" fmla="*/ 130589 w 218218"/>
                <a:gd name="connsiteY22" fmla="*/ 48762 h 332607"/>
                <a:gd name="connsiteX23" fmla="*/ 130589 w 218218"/>
                <a:gd name="connsiteY23" fmla="*/ 70670 h 332607"/>
                <a:gd name="connsiteX24" fmla="*/ 87726 w 218218"/>
                <a:gd name="connsiteY24" fmla="*/ 70670 h 332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18218" h="332607">
                  <a:moveTo>
                    <a:pt x="215361" y="286887"/>
                  </a:moveTo>
                  <a:lnTo>
                    <a:pt x="152496" y="144965"/>
                  </a:lnTo>
                  <a:lnTo>
                    <a:pt x="152496" y="48762"/>
                  </a:lnTo>
                  <a:cubicBezTo>
                    <a:pt x="152496" y="37332"/>
                    <a:pt x="159164" y="25902"/>
                    <a:pt x="168689" y="20187"/>
                  </a:cubicBezTo>
                  <a:cubicBezTo>
                    <a:pt x="174404" y="17330"/>
                    <a:pt x="176309" y="10662"/>
                    <a:pt x="173451" y="5900"/>
                  </a:cubicBezTo>
                  <a:cubicBezTo>
                    <a:pt x="171546" y="2090"/>
                    <a:pt x="167736" y="-768"/>
                    <a:pt x="162974" y="185"/>
                  </a:cubicBezTo>
                  <a:lnTo>
                    <a:pt x="54389" y="185"/>
                  </a:lnTo>
                  <a:cubicBezTo>
                    <a:pt x="48674" y="185"/>
                    <a:pt x="42959" y="3995"/>
                    <a:pt x="42959" y="10662"/>
                  </a:cubicBezTo>
                  <a:cubicBezTo>
                    <a:pt x="42959" y="15425"/>
                    <a:pt x="44864" y="19235"/>
                    <a:pt x="48674" y="21140"/>
                  </a:cubicBezTo>
                  <a:cubicBezTo>
                    <a:pt x="59151" y="26855"/>
                    <a:pt x="64866" y="38285"/>
                    <a:pt x="64866" y="49715"/>
                  </a:cubicBezTo>
                  <a:lnTo>
                    <a:pt x="64866" y="145917"/>
                  </a:lnTo>
                  <a:lnTo>
                    <a:pt x="2954" y="286887"/>
                  </a:lnTo>
                  <a:cubicBezTo>
                    <a:pt x="-4666" y="303080"/>
                    <a:pt x="2954" y="323082"/>
                    <a:pt x="20099" y="329750"/>
                  </a:cubicBezTo>
                  <a:cubicBezTo>
                    <a:pt x="23909" y="331655"/>
                    <a:pt x="28671" y="332607"/>
                    <a:pt x="33434" y="332607"/>
                  </a:cubicBezTo>
                  <a:lnTo>
                    <a:pt x="185834" y="332607"/>
                  </a:lnTo>
                  <a:cubicBezTo>
                    <a:pt x="203931" y="332607"/>
                    <a:pt x="218219" y="318320"/>
                    <a:pt x="218219" y="300222"/>
                  </a:cubicBezTo>
                  <a:cubicBezTo>
                    <a:pt x="218219" y="295460"/>
                    <a:pt x="217266" y="290697"/>
                    <a:pt x="215361" y="286887"/>
                  </a:cubicBezTo>
                  <a:lnTo>
                    <a:pt x="215361" y="286887"/>
                  </a:lnTo>
                  <a:close/>
                  <a:moveTo>
                    <a:pt x="87726" y="70670"/>
                  </a:moveTo>
                  <a:lnTo>
                    <a:pt x="87726" y="48762"/>
                  </a:lnTo>
                  <a:cubicBezTo>
                    <a:pt x="87726" y="39237"/>
                    <a:pt x="85821" y="29712"/>
                    <a:pt x="80106" y="21140"/>
                  </a:cubicBezTo>
                  <a:lnTo>
                    <a:pt x="138209" y="21140"/>
                  </a:lnTo>
                  <a:cubicBezTo>
                    <a:pt x="133446" y="29712"/>
                    <a:pt x="130589" y="39237"/>
                    <a:pt x="130589" y="48762"/>
                  </a:cubicBezTo>
                  <a:lnTo>
                    <a:pt x="130589" y="70670"/>
                  </a:lnTo>
                  <a:lnTo>
                    <a:pt x="87726" y="7067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/>
            </a:p>
          </p:txBody>
        </p:sp>
        <p:sp>
          <p:nvSpPr>
            <p:cNvPr id="115" name="任意多边形: 形状 22"/>
            <p:cNvSpPr/>
            <p:nvPr/>
          </p:nvSpPr>
          <p:spPr>
            <a:xfrm>
              <a:off x="416442" y="3123828"/>
              <a:ext cx="32384" cy="32385"/>
            </a:xfrm>
            <a:custGeom>
              <a:avLst/>
              <a:gdLst>
                <a:gd name="connsiteX0" fmla="*/ 32385 w 32384"/>
                <a:gd name="connsiteY0" fmla="*/ 16193 h 32385"/>
                <a:gd name="connsiteX1" fmla="*/ 16192 w 32384"/>
                <a:gd name="connsiteY1" fmla="*/ 32385 h 32385"/>
                <a:gd name="connsiteX2" fmla="*/ 0 w 32384"/>
                <a:gd name="connsiteY2" fmla="*/ 16193 h 32385"/>
                <a:gd name="connsiteX3" fmla="*/ 16192 w 32384"/>
                <a:gd name="connsiteY3" fmla="*/ 0 h 32385"/>
                <a:gd name="connsiteX4" fmla="*/ 32385 w 32384"/>
                <a:gd name="connsiteY4" fmla="*/ 16193 h 32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84" h="32385">
                  <a:moveTo>
                    <a:pt x="32385" y="16193"/>
                  </a:moveTo>
                  <a:cubicBezTo>
                    <a:pt x="32385" y="25135"/>
                    <a:pt x="25135" y="32385"/>
                    <a:pt x="16192" y="32385"/>
                  </a:cubicBezTo>
                  <a:cubicBezTo>
                    <a:pt x="7250" y="32385"/>
                    <a:pt x="0" y="25135"/>
                    <a:pt x="0" y="16193"/>
                  </a:cubicBezTo>
                  <a:cubicBezTo>
                    <a:pt x="0" y="7250"/>
                    <a:pt x="7250" y="0"/>
                    <a:pt x="16192" y="0"/>
                  </a:cubicBezTo>
                  <a:cubicBezTo>
                    <a:pt x="25135" y="0"/>
                    <a:pt x="32385" y="7250"/>
                    <a:pt x="32385" y="16193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/>
            </a:p>
          </p:txBody>
        </p:sp>
        <p:sp>
          <p:nvSpPr>
            <p:cNvPr id="116" name="任意多边形: 形状 23"/>
            <p:cNvSpPr/>
            <p:nvPr/>
          </p:nvSpPr>
          <p:spPr>
            <a:xfrm>
              <a:off x="444065" y="3173358"/>
              <a:ext cx="32384" cy="32385"/>
            </a:xfrm>
            <a:custGeom>
              <a:avLst/>
              <a:gdLst>
                <a:gd name="connsiteX0" fmla="*/ 32385 w 32384"/>
                <a:gd name="connsiteY0" fmla="*/ 16193 h 32385"/>
                <a:gd name="connsiteX1" fmla="*/ 16193 w 32384"/>
                <a:gd name="connsiteY1" fmla="*/ 32385 h 32385"/>
                <a:gd name="connsiteX2" fmla="*/ 0 w 32384"/>
                <a:gd name="connsiteY2" fmla="*/ 16193 h 32385"/>
                <a:gd name="connsiteX3" fmla="*/ 16193 w 32384"/>
                <a:gd name="connsiteY3" fmla="*/ 0 h 32385"/>
                <a:gd name="connsiteX4" fmla="*/ 32385 w 32384"/>
                <a:gd name="connsiteY4" fmla="*/ 16193 h 32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84" h="32385">
                  <a:moveTo>
                    <a:pt x="32385" y="16193"/>
                  </a:moveTo>
                  <a:cubicBezTo>
                    <a:pt x="32385" y="25135"/>
                    <a:pt x="25135" y="32385"/>
                    <a:pt x="16193" y="32385"/>
                  </a:cubicBezTo>
                  <a:cubicBezTo>
                    <a:pt x="7250" y="32385"/>
                    <a:pt x="0" y="25135"/>
                    <a:pt x="0" y="16193"/>
                  </a:cubicBezTo>
                  <a:cubicBezTo>
                    <a:pt x="0" y="7250"/>
                    <a:pt x="7250" y="0"/>
                    <a:pt x="16193" y="0"/>
                  </a:cubicBezTo>
                  <a:cubicBezTo>
                    <a:pt x="25135" y="0"/>
                    <a:pt x="32385" y="7250"/>
                    <a:pt x="32385" y="16193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/>
            </a:p>
          </p:txBody>
        </p:sp>
        <p:sp>
          <p:nvSpPr>
            <p:cNvPr id="117" name="任意多边形: 形状 24"/>
            <p:cNvSpPr/>
            <p:nvPr/>
          </p:nvSpPr>
          <p:spPr>
            <a:xfrm>
              <a:off x="384057" y="3161928"/>
              <a:ext cx="32384" cy="32385"/>
            </a:xfrm>
            <a:custGeom>
              <a:avLst/>
              <a:gdLst>
                <a:gd name="connsiteX0" fmla="*/ 32385 w 32384"/>
                <a:gd name="connsiteY0" fmla="*/ 16193 h 32385"/>
                <a:gd name="connsiteX1" fmla="*/ 16192 w 32384"/>
                <a:gd name="connsiteY1" fmla="*/ 32385 h 32385"/>
                <a:gd name="connsiteX2" fmla="*/ 0 w 32384"/>
                <a:gd name="connsiteY2" fmla="*/ 16193 h 32385"/>
                <a:gd name="connsiteX3" fmla="*/ 16192 w 32384"/>
                <a:gd name="connsiteY3" fmla="*/ 0 h 32385"/>
                <a:gd name="connsiteX4" fmla="*/ 32385 w 32384"/>
                <a:gd name="connsiteY4" fmla="*/ 16193 h 32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84" h="32385">
                  <a:moveTo>
                    <a:pt x="32385" y="16193"/>
                  </a:moveTo>
                  <a:cubicBezTo>
                    <a:pt x="32385" y="25135"/>
                    <a:pt x="25135" y="32385"/>
                    <a:pt x="16192" y="32385"/>
                  </a:cubicBezTo>
                  <a:cubicBezTo>
                    <a:pt x="7250" y="32385"/>
                    <a:pt x="0" y="25135"/>
                    <a:pt x="0" y="16193"/>
                  </a:cubicBezTo>
                  <a:cubicBezTo>
                    <a:pt x="0" y="7250"/>
                    <a:pt x="7250" y="0"/>
                    <a:pt x="16192" y="0"/>
                  </a:cubicBezTo>
                  <a:cubicBezTo>
                    <a:pt x="25135" y="0"/>
                    <a:pt x="32385" y="7250"/>
                    <a:pt x="32385" y="16193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/>
            </a:p>
          </p:txBody>
        </p:sp>
        <p:sp>
          <p:nvSpPr>
            <p:cNvPr id="118" name="任意多边形: 形状 25"/>
            <p:cNvSpPr/>
            <p:nvPr/>
          </p:nvSpPr>
          <p:spPr>
            <a:xfrm>
              <a:off x="388820" y="3216220"/>
              <a:ext cx="43815" cy="43814"/>
            </a:xfrm>
            <a:custGeom>
              <a:avLst/>
              <a:gdLst>
                <a:gd name="connsiteX0" fmla="*/ 43815 w 43815"/>
                <a:gd name="connsiteY0" fmla="*/ 21908 h 43814"/>
                <a:gd name="connsiteX1" fmla="*/ 21908 w 43815"/>
                <a:gd name="connsiteY1" fmla="*/ 43815 h 43814"/>
                <a:gd name="connsiteX2" fmla="*/ 0 w 43815"/>
                <a:gd name="connsiteY2" fmla="*/ 21908 h 43814"/>
                <a:gd name="connsiteX3" fmla="*/ 21908 w 43815"/>
                <a:gd name="connsiteY3" fmla="*/ 0 h 43814"/>
                <a:gd name="connsiteX4" fmla="*/ 43815 w 43815"/>
                <a:gd name="connsiteY4" fmla="*/ 21908 h 43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15" h="43814">
                  <a:moveTo>
                    <a:pt x="43815" y="21908"/>
                  </a:moveTo>
                  <a:cubicBezTo>
                    <a:pt x="43815" y="34007"/>
                    <a:pt x="34007" y="43815"/>
                    <a:pt x="21908" y="43815"/>
                  </a:cubicBezTo>
                  <a:cubicBezTo>
                    <a:pt x="9808" y="43815"/>
                    <a:pt x="0" y="34007"/>
                    <a:pt x="0" y="21908"/>
                  </a:cubicBezTo>
                  <a:cubicBezTo>
                    <a:pt x="0" y="9808"/>
                    <a:pt x="9808" y="0"/>
                    <a:pt x="21908" y="0"/>
                  </a:cubicBezTo>
                  <a:cubicBezTo>
                    <a:pt x="34007" y="0"/>
                    <a:pt x="43815" y="9808"/>
                    <a:pt x="43815" y="21908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/>
            </a:p>
          </p:txBody>
        </p:sp>
        <p:sp>
          <p:nvSpPr>
            <p:cNvPr id="119" name="任意多边形: 形状 26"/>
            <p:cNvSpPr/>
            <p:nvPr/>
          </p:nvSpPr>
          <p:spPr>
            <a:xfrm>
              <a:off x="484070" y="3279085"/>
              <a:ext cx="161925" cy="282892"/>
            </a:xfrm>
            <a:custGeom>
              <a:avLst/>
              <a:gdLst>
                <a:gd name="connsiteX0" fmla="*/ 161925 w 161925"/>
                <a:gd name="connsiteY0" fmla="*/ 196215 h 282892"/>
                <a:gd name="connsiteX1" fmla="*/ 93345 w 161925"/>
                <a:gd name="connsiteY1" fmla="*/ 123825 h 282892"/>
                <a:gd name="connsiteX2" fmla="*/ 131445 w 161925"/>
                <a:gd name="connsiteY2" fmla="*/ 76200 h 282892"/>
                <a:gd name="connsiteX3" fmla="*/ 131445 w 161925"/>
                <a:gd name="connsiteY3" fmla="*/ 75248 h 282892"/>
                <a:gd name="connsiteX4" fmla="*/ 73343 w 161925"/>
                <a:gd name="connsiteY4" fmla="*/ 80963 h 282892"/>
                <a:gd name="connsiteX5" fmla="*/ 75248 w 161925"/>
                <a:gd name="connsiteY5" fmla="*/ 0 h 282892"/>
                <a:gd name="connsiteX6" fmla="*/ 7620 w 161925"/>
                <a:gd name="connsiteY6" fmla="*/ 26670 h 282892"/>
                <a:gd name="connsiteX7" fmla="*/ 0 w 161925"/>
                <a:gd name="connsiteY7" fmla="*/ 41910 h 282892"/>
                <a:gd name="connsiteX8" fmla="*/ 0 w 161925"/>
                <a:gd name="connsiteY8" fmla="*/ 133350 h 282892"/>
                <a:gd name="connsiteX9" fmla="*/ 60960 w 161925"/>
                <a:gd name="connsiteY9" fmla="*/ 271463 h 282892"/>
                <a:gd name="connsiteX10" fmla="*/ 64770 w 161925"/>
                <a:gd name="connsiteY10" fmla="*/ 282893 h 282892"/>
                <a:gd name="connsiteX11" fmla="*/ 161925 w 161925"/>
                <a:gd name="connsiteY11" fmla="*/ 282893 h 282892"/>
                <a:gd name="connsiteX12" fmla="*/ 161925 w 161925"/>
                <a:gd name="connsiteY12" fmla="*/ 196215 h 282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282892">
                  <a:moveTo>
                    <a:pt x="161925" y="196215"/>
                  </a:moveTo>
                  <a:lnTo>
                    <a:pt x="93345" y="123825"/>
                  </a:lnTo>
                  <a:lnTo>
                    <a:pt x="131445" y="76200"/>
                  </a:lnTo>
                  <a:lnTo>
                    <a:pt x="131445" y="75248"/>
                  </a:lnTo>
                  <a:lnTo>
                    <a:pt x="73343" y="80963"/>
                  </a:lnTo>
                  <a:lnTo>
                    <a:pt x="75248" y="0"/>
                  </a:lnTo>
                  <a:cubicBezTo>
                    <a:pt x="52388" y="7620"/>
                    <a:pt x="29528" y="16193"/>
                    <a:pt x="7620" y="26670"/>
                  </a:cubicBezTo>
                  <a:cubicBezTo>
                    <a:pt x="3810" y="30480"/>
                    <a:pt x="953" y="36195"/>
                    <a:pt x="0" y="41910"/>
                  </a:cubicBezTo>
                  <a:lnTo>
                    <a:pt x="0" y="133350"/>
                  </a:lnTo>
                  <a:lnTo>
                    <a:pt x="60960" y="271463"/>
                  </a:lnTo>
                  <a:cubicBezTo>
                    <a:pt x="62865" y="275272"/>
                    <a:pt x="63818" y="279083"/>
                    <a:pt x="64770" y="282893"/>
                  </a:cubicBezTo>
                  <a:lnTo>
                    <a:pt x="161925" y="282893"/>
                  </a:lnTo>
                  <a:lnTo>
                    <a:pt x="161925" y="19621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/>
            </a:p>
          </p:txBody>
        </p:sp>
        <p:sp>
          <p:nvSpPr>
            <p:cNvPr id="120" name="任意多边形: 形状 27"/>
            <p:cNvSpPr/>
            <p:nvPr/>
          </p:nvSpPr>
          <p:spPr>
            <a:xfrm>
              <a:off x="597417" y="3257178"/>
              <a:ext cx="193357" cy="304800"/>
            </a:xfrm>
            <a:custGeom>
              <a:avLst/>
              <a:gdLst>
                <a:gd name="connsiteX0" fmla="*/ 67627 w 193357"/>
                <a:gd name="connsiteY0" fmla="*/ 209550 h 304800"/>
                <a:gd name="connsiteX1" fmla="*/ 67627 w 193357"/>
                <a:gd name="connsiteY1" fmla="*/ 304800 h 304800"/>
                <a:gd name="connsiteX2" fmla="*/ 124777 w 193357"/>
                <a:gd name="connsiteY2" fmla="*/ 304800 h 304800"/>
                <a:gd name="connsiteX3" fmla="*/ 124777 w 193357"/>
                <a:gd name="connsiteY3" fmla="*/ 209550 h 304800"/>
                <a:gd name="connsiteX4" fmla="*/ 193358 w 193357"/>
                <a:gd name="connsiteY4" fmla="*/ 11430 h 304800"/>
                <a:gd name="connsiteX5" fmla="*/ 96202 w 193357"/>
                <a:gd name="connsiteY5" fmla="*/ 0 h 304800"/>
                <a:gd name="connsiteX6" fmla="*/ 0 w 193357"/>
                <a:gd name="connsiteY6" fmla="*/ 11430 h 304800"/>
                <a:gd name="connsiteX7" fmla="*/ 67627 w 193357"/>
                <a:gd name="connsiteY7" fmla="*/ 209550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3357" h="304800">
                  <a:moveTo>
                    <a:pt x="67627" y="209550"/>
                  </a:moveTo>
                  <a:lnTo>
                    <a:pt x="67627" y="304800"/>
                  </a:lnTo>
                  <a:lnTo>
                    <a:pt x="124777" y="304800"/>
                  </a:lnTo>
                  <a:lnTo>
                    <a:pt x="124777" y="209550"/>
                  </a:lnTo>
                  <a:lnTo>
                    <a:pt x="193358" y="11430"/>
                  </a:lnTo>
                  <a:cubicBezTo>
                    <a:pt x="160972" y="3810"/>
                    <a:pt x="128588" y="0"/>
                    <a:pt x="96202" y="0"/>
                  </a:cubicBezTo>
                  <a:cubicBezTo>
                    <a:pt x="63817" y="0"/>
                    <a:pt x="31432" y="3810"/>
                    <a:pt x="0" y="11430"/>
                  </a:cubicBezTo>
                  <a:lnTo>
                    <a:pt x="67627" y="20955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/>
            </a:p>
          </p:txBody>
        </p:sp>
        <p:sp>
          <p:nvSpPr>
            <p:cNvPr id="122" name="任意多边形: 形状 28"/>
            <p:cNvSpPr/>
            <p:nvPr/>
          </p:nvSpPr>
          <p:spPr>
            <a:xfrm>
              <a:off x="741245" y="3279085"/>
              <a:ext cx="257175" cy="282892"/>
            </a:xfrm>
            <a:custGeom>
              <a:avLst/>
              <a:gdLst>
                <a:gd name="connsiteX0" fmla="*/ 226695 w 257175"/>
                <a:gd name="connsiteY0" fmla="*/ 69532 h 282892"/>
                <a:gd name="connsiteX1" fmla="*/ 86677 w 257175"/>
                <a:gd name="connsiteY1" fmla="*/ 0 h 282892"/>
                <a:gd name="connsiteX2" fmla="*/ 88582 w 257175"/>
                <a:gd name="connsiteY2" fmla="*/ 80963 h 282892"/>
                <a:gd name="connsiteX3" fmla="*/ 30480 w 257175"/>
                <a:gd name="connsiteY3" fmla="*/ 75248 h 282892"/>
                <a:gd name="connsiteX4" fmla="*/ 30480 w 257175"/>
                <a:gd name="connsiteY4" fmla="*/ 76200 h 282892"/>
                <a:gd name="connsiteX5" fmla="*/ 68580 w 257175"/>
                <a:gd name="connsiteY5" fmla="*/ 123825 h 282892"/>
                <a:gd name="connsiteX6" fmla="*/ 0 w 257175"/>
                <a:gd name="connsiteY6" fmla="*/ 196215 h 282892"/>
                <a:gd name="connsiteX7" fmla="*/ 0 w 257175"/>
                <a:gd name="connsiteY7" fmla="*/ 282893 h 282892"/>
                <a:gd name="connsiteX8" fmla="*/ 257175 w 257175"/>
                <a:gd name="connsiteY8" fmla="*/ 282893 h 282892"/>
                <a:gd name="connsiteX9" fmla="*/ 257175 w 257175"/>
                <a:gd name="connsiteY9" fmla="*/ 130493 h 282892"/>
                <a:gd name="connsiteX10" fmla="*/ 226695 w 257175"/>
                <a:gd name="connsiteY10" fmla="*/ 69532 h 282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7175" h="282892">
                  <a:moveTo>
                    <a:pt x="226695" y="69532"/>
                  </a:moveTo>
                  <a:cubicBezTo>
                    <a:pt x="184785" y="37148"/>
                    <a:pt x="137160" y="14288"/>
                    <a:pt x="86677" y="0"/>
                  </a:cubicBezTo>
                  <a:lnTo>
                    <a:pt x="88582" y="80963"/>
                  </a:lnTo>
                  <a:lnTo>
                    <a:pt x="30480" y="75248"/>
                  </a:lnTo>
                  <a:lnTo>
                    <a:pt x="30480" y="76200"/>
                  </a:lnTo>
                  <a:lnTo>
                    <a:pt x="68580" y="123825"/>
                  </a:lnTo>
                  <a:lnTo>
                    <a:pt x="0" y="196215"/>
                  </a:lnTo>
                  <a:lnTo>
                    <a:pt x="0" y="282893"/>
                  </a:lnTo>
                  <a:lnTo>
                    <a:pt x="257175" y="282893"/>
                  </a:lnTo>
                  <a:lnTo>
                    <a:pt x="257175" y="130493"/>
                  </a:lnTo>
                  <a:cubicBezTo>
                    <a:pt x="256223" y="106680"/>
                    <a:pt x="245745" y="83820"/>
                    <a:pt x="226695" y="69532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/>
            </a:p>
          </p:txBody>
        </p:sp>
      </p:grpSp>
      <p:sp>
        <p:nvSpPr>
          <p:cNvPr id="123" name="文本框 122"/>
          <p:cNvSpPr txBox="1"/>
          <p:nvPr/>
        </p:nvSpPr>
        <p:spPr>
          <a:xfrm>
            <a:off x="1276985" y="1522095"/>
            <a:ext cx="805815" cy="301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>
                <a:latin typeface="汉仪颜楷简" panose="00020600040101010101" charset="-122"/>
                <a:ea typeface="汉仪颜楷简" panose="00020600040101010101" charset="-122"/>
                <a:sym typeface="汉仪颜楷简" panose="00020600040101010101" charset="-122"/>
              </a:rPr>
              <a:t>  </a:t>
            </a:r>
            <a:r>
              <a:rPr lang="zh-CN" altLang="en-US" sz="800">
                <a:latin typeface="汉仪颜楷简" panose="00020600040101010101" charset="-122"/>
                <a:ea typeface="汉仪颜楷简" panose="00020600040101010101" charset="-122"/>
                <a:sym typeface="汉仪颜楷简" panose="00020600040101010101" charset="-122"/>
              </a:rPr>
              <a:t>配置溶液</a:t>
            </a:r>
            <a:endParaRPr lang="zh-CN" altLang="en-US" sz="800">
              <a:latin typeface="汉仪颜楷简" panose="00020600040101010101" charset="-122"/>
              <a:ea typeface="汉仪颜楷简" panose="00020600040101010101" charset="-122"/>
              <a:sym typeface="汉仪颜楷简" panose="00020600040101010101" charset="-122"/>
            </a:endParaRPr>
          </a:p>
        </p:txBody>
      </p:sp>
      <p:pic>
        <p:nvPicPr>
          <p:cNvPr id="68609" name="图形 68608" descr="箭头顺时针弯曲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1874659">
            <a:off x="1751330" y="2628265"/>
            <a:ext cx="245745" cy="4953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cxnSp>
        <p:nvCxnSpPr>
          <p:cNvPr id="125" name="直接连接符 124"/>
          <p:cNvCxnSpPr/>
          <p:nvPr/>
        </p:nvCxnSpPr>
        <p:spPr>
          <a:xfrm flipV="1">
            <a:off x="1294130" y="1844675"/>
            <a:ext cx="657225" cy="381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6" name="文本框 125"/>
          <p:cNvSpPr txBox="1"/>
          <p:nvPr/>
        </p:nvSpPr>
        <p:spPr>
          <a:xfrm>
            <a:off x="1610995" y="2385060"/>
            <a:ext cx="60515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 b="1" i="1"/>
              <a:t>二次询问？</a:t>
            </a:r>
            <a:endParaRPr lang="zh-CN" altLang="en-US" sz="800" b="1" i="1"/>
          </a:p>
        </p:txBody>
      </p:sp>
      <p:sp>
        <p:nvSpPr>
          <p:cNvPr id="127" name="文本框 126"/>
          <p:cNvSpPr txBox="1"/>
          <p:nvPr/>
        </p:nvSpPr>
        <p:spPr>
          <a:xfrm>
            <a:off x="1216660" y="1802130"/>
            <a:ext cx="805815" cy="301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>
                <a:latin typeface="汉仪颜楷简" panose="00020600040101010101" charset="-122"/>
                <a:ea typeface="汉仪颜楷简" panose="00020600040101010101" charset="-122"/>
                <a:sym typeface="汉仪颜楷简" panose="00020600040101010101" charset="-122"/>
              </a:rPr>
              <a:t>Nacl</a:t>
            </a:r>
            <a:r>
              <a:rPr lang="zh-CN" altLang="en-US" sz="800">
                <a:latin typeface="汉仪颜楷简" panose="00020600040101010101" charset="-122"/>
                <a:ea typeface="汉仪颜楷简" panose="00020600040101010101" charset="-122"/>
                <a:sym typeface="汉仪颜楷简" panose="00020600040101010101" charset="-122"/>
              </a:rPr>
              <a:t>（二次</a:t>
            </a:r>
            <a:r>
              <a:rPr lang="zh-CN" altLang="en-US" sz="800">
                <a:latin typeface="汉仪颜楷简" panose="00020600040101010101" charset="-122"/>
                <a:ea typeface="汉仪颜楷简" panose="00020600040101010101" charset="-122"/>
                <a:sym typeface="汉仪颜楷简" panose="00020600040101010101" charset="-122"/>
              </a:rPr>
              <a:t>补充）</a:t>
            </a:r>
            <a:endParaRPr lang="zh-CN" altLang="en-US" sz="800">
              <a:latin typeface="汉仪颜楷简" panose="00020600040101010101" charset="-122"/>
              <a:ea typeface="汉仪颜楷简" panose="00020600040101010101" charset="-122"/>
              <a:sym typeface="汉仪颜楷简" panose="00020600040101010101" charset="-122"/>
            </a:endParaRPr>
          </a:p>
        </p:txBody>
      </p:sp>
      <p:pic>
        <p:nvPicPr>
          <p:cNvPr id="128" name="图片 12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45565" y="1590040"/>
            <a:ext cx="114935" cy="95250"/>
          </a:xfrm>
          <a:prstGeom prst="rect">
            <a:avLst/>
          </a:prstGeom>
        </p:spPr>
      </p:pic>
      <p:pic>
        <p:nvPicPr>
          <p:cNvPr id="129" name="图形 68608" descr="箭头顺时针弯曲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21054658">
            <a:off x="1067435" y="2638425"/>
            <a:ext cx="245745" cy="4953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31" name="图片 130" descr="QWe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43660" y="3150235"/>
            <a:ext cx="492760" cy="490855"/>
          </a:xfrm>
          <a:prstGeom prst="rect">
            <a:avLst/>
          </a:prstGeom>
        </p:spPr>
      </p:pic>
      <p:pic>
        <p:nvPicPr>
          <p:cNvPr id="132" name="图片 131" descr="英语水平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97230" y="5141595"/>
            <a:ext cx="403860" cy="403860"/>
          </a:xfrm>
          <a:prstGeom prst="rect">
            <a:avLst/>
          </a:prstGeom>
        </p:spPr>
      </p:pic>
      <p:sp>
        <p:nvSpPr>
          <p:cNvPr id="133" name="文本框 132"/>
          <p:cNvSpPr txBox="1"/>
          <p:nvPr/>
        </p:nvSpPr>
        <p:spPr>
          <a:xfrm>
            <a:off x="629285" y="5545455"/>
            <a:ext cx="6483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API</a:t>
            </a:r>
            <a:r>
              <a:rPr lang="zh-CN" altLang="en-US" sz="1400"/>
              <a:t>库</a:t>
            </a:r>
            <a:endParaRPr lang="zh-CN" altLang="en-US" sz="1400"/>
          </a:p>
        </p:txBody>
      </p:sp>
      <p:pic>
        <p:nvPicPr>
          <p:cNvPr id="134" name="图片 133" descr="环境信息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29690" y="5141595"/>
            <a:ext cx="365760" cy="365760"/>
          </a:xfrm>
          <a:prstGeom prst="rect">
            <a:avLst/>
          </a:prstGeom>
        </p:spPr>
      </p:pic>
      <p:sp>
        <p:nvSpPr>
          <p:cNvPr id="135" name="文本框 134"/>
          <p:cNvSpPr txBox="1"/>
          <p:nvPr/>
        </p:nvSpPr>
        <p:spPr>
          <a:xfrm>
            <a:off x="1418590" y="5545455"/>
            <a:ext cx="9398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环境信息</a:t>
            </a:r>
            <a:endParaRPr lang="zh-CN" altLang="en-US" sz="1400"/>
          </a:p>
        </p:txBody>
      </p:sp>
      <p:pic>
        <p:nvPicPr>
          <p:cNvPr id="136" name="图形 68608" descr="箭头顺时针弯曲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1674659">
            <a:off x="1380490" y="3585210"/>
            <a:ext cx="172720" cy="34925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38" name="图片 137" descr="过滤读取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68730" y="4330065"/>
            <a:ext cx="335915" cy="335915"/>
          </a:xfrm>
          <a:prstGeom prst="rect">
            <a:avLst/>
          </a:prstGeom>
        </p:spPr>
      </p:pic>
      <p:pic>
        <p:nvPicPr>
          <p:cNvPr id="139" name="图片 138" descr="过滤读取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21460" y="3994150"/>
            <a:ext cx="335915" cy="335915"/>
          </a:xfrm>
          <a:prstGeom prst="rect">
            <a:avLst/>
          </a:prstGeom>
        </p:spPr>
      </p:pic>
      <p:pic>
        <p:nvPicPr>
          <p:cNvPr id="140" name="图片 139" descr="过滤读取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24890" y="3977005"/>
            <a:ext cx="335915" cy="335915"/>
          </a:xfrm>
          <a:prstGeom prst="rect">
            <a:avLst/>
          </a:prstGeom>
        </p:spPr>
      </p:pic>
      <p:pic>
        <p:nvPicPr>
          <p:cNvPr id="142" name="图形 68608" descr="箭头顺时针弯曲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1674659">
            <a:off x="827405" y="4694555"/>
            <a:ext cx="245745" cy="4953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43" name="图形 68608" descr="箭头顺时针弯曲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20705341" flipH="1">
            <a:off x="1390015" y="4699635"/>
            <a:ext cx="245745" cy="4953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62" name="图片 161" descr="示例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57375" y="5218430"/>
            <a:ext cx="506095" cy="269875"/>
          </a:xfrm>
          <a:prstGeom prst="rect">
            <a:avLst/>
          </a:prstGeom>
        </p:spPr>
      </p:pic>
      <p:pic>
        <p:nvPicPr>
          <p:cNvPr id="163" name="图形 68608" descr="箭头顺时针弯曲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20705341" flipH="1">
            <a:off x="1917065" y="4700270"/>
            <a:ext cx="245745" cy="4953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64" name="圆角矩形 163"/>
          <p:cNvSpPr/>
          <p:nvPr/>
        </p:nvSpPr>
        <p:spPr>
          <a:xfrm>
            <a:off x="851535" y="3903345"/>
            <a:ext cx="1231265" cy="83756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5" name="文本框 164"/>
          <p:cNvSpPr txBox="1"/>
          <p:nvPr/>
        </p:nvSpPr>
        <p:spPr>
          <a:xfrm>
            <a:off x="2025015" y="3903345"/>
            <a:ext cx="470535" cy="9423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000" b="1">
                <a:sym typeface="+mn-ea"/>
              </a:rPr>
              <a:t>层级化</a:t>
            </a:r>
            <a:r>
              <a:rPr lang="en-US" altLang="zh-CN" sz="1000" b="1">
                <a:sym typeface="+mn-ea"/>
              </a:rPr>
              <a:t>&amp;  </a:t>
            </a:r>
            <a:endParaRPr lang="en-US" altLang="zh-CN" sz="1000" b="1">
              <a:sym typeface="+mn-ea"/>
            </a:endParaRPr>
          </a:p>
          <a:p>
            <a:r>
              <a:rPr lang="zh-CN" altLang="en-US" sz="1000" b="1">
                <a:sym typeface="+mn-ea"/>
              </a:rPr>
              <a:t>结构化记忆</a:t>
            </a:r>
            <a:endParaRPr lang="zh-CN" altLang="en-US" sz="1000" b="1">
              <a:sym typeface="+mn-ea"/>
            </a:endParaRPr>
          </a:p>
        </p:txBody>
      </p:sp>
      <p:sp>
        <p:nvSpPr>
          <p:cNvPr id="166" name="箭头: 右 4119"/>
          <p:cNvSpPr/>
          <p:nvPr/>
        </p:nvSpPr>
        <p:spPr>
          <a:xfrm>
            <a:off x="2377440" y="3404870"/>
            <a:ext cx="334645" cy="16002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167" name="圆角矩形 166"/>
          <p:cNvSpPr/>
          <p:nvPr/>
        </p:nvSpPr>
        <p:spPr>
          <a:xfrm>
            <a:off x="2712085" y="1069340"/>
            <a:ext cx="1729105" cy="509016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0" name="文本框 169"/>
          <p:cNvSpPr txBox="1"/>
          <p:nvPr/>
        </p:nvSpPr>
        <p:spPr>
          <a:xfrm>
            <a:off x="3250565" y="1093470"/>
            <a:ext cx="889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middle</a:t>
            </a:r>
            <a:endParaRPr lang="en-US" altLang="zh-CN" sz="1400"/>
          </a:p>
        </p:txBody>
      </p:sp>
      <p:pic>
        <p:nvPicPr>
          <p:cNvPr id="171" name="图形 68608" descr="箭头顺时针弯曲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11874659">
            <a:off x="986155" y="4692015"/>
            <a:ext cx="245745" cy="4953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72" name="图形 68608" descr="箭头顺时针弯曲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11874659">
            <a:off x="1541780" y="4702810"/>
            <a:ext cx="245745" cy="4953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73" name="图形 68608" descr="箭头顺时针弯曲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11874659">
            <a:off x="2051050" y="4703445"/>
            <a:ext cx="245745" cy="4953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74" name="图片 173" descr="JSON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87470" y="1093470"/>
            <a:ext cx="356235" cy="356235"/>
          </a:xfrm>
          <a:prstGeom prst="rect">
            <a:avLst/>
          </a:prstGeom>
        </p:spPr>
      </p:pic>
      <p:sp>
        <p:nvSpPr>
          <p:cNvPr id="175" name="文本框 174"/>
          <p:cNvSpPr txBox="1"/>
          <p:nvPr/>
        </p:nvSpPr>
        <p:spPr>
          <a:xfrm>
            <a:off x="2712085" y="1351915"/>
            <a:ext cx="1729740" cy="4728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/>
              <a:t>[</a:t>
            </a:r>
            <a:endParaRPr lang="en-US" altLang="zh-CN" sz="800"/>
          </a:p>
          <a:p>
            <a:r>
              <a:rPr lang="en-US" altLang="zh-CN" sz="800"/>
              <a:t>  {</a:t>
            </a:r>
            <a:endParaRPr lang="en-US" altLang="zh-CN" sz="800"/>
          </a:p>
          <a:p>
            <a:r>
              <a:rPr lang="en-US" altLang="zh-CN" sz="800"/>
              <a:t>    </a:t>
            </a:r>
            <a:r>
              <a:rPr lang="en-US" altLang="zh-CN" sz="800">
                <a:solidFill>
                  <a:srgbClr val="FF0000"/>
                </a:solidFill>
              </a:rPr>
              <a:t>"step": 1,</a:t>
            </a:r>
            <a:endParaRPr lang="en-US" altLang="zh-CN" sz="800"/>
          </a:p>
          <a:p>
            <a:r>
              <a:rPr lang="en-US" altLang="zh-CN" sz="800"/>
              <a:t>    </a:t>
            </a:r>
            <a:r>
              <a:rPr lang="en-US" altLang="zh-CN" sz="800">
                <a:solidFill>
                  <a:srgbClr val="FF0000"/>
                </a:solidFill>
              </a:rPr>
              <a:t>"type": "parallel",</a:t>
            </a:r>
            <a:endParaRPr lang="en-US" altLang="zh-CN" sz="800"/>
          </a:p>
          <a:p>
            <a:r>
              <a:rPr lang="en-US" altLang="zh-CN" sz="800"/>
              <a:t>    "tasks": [</a:t>
            </a:r>
            <a:endParaRPr lang="en-US" altLang="zh-CN" sz="800"/>
          </a:p>
          <a:p>
            <a:r>
              <a:rPr lang="en-US" altLang="zh-CN" sz="800"/>
              <a:t>      { "arm": "Arm_1", "sub_task": "</a:t>
            </a:r>
            <a:r>
              <a:rPr lang="zh-CN" altLang="en-US" sz="800"/>
              <a:t>抓取</a:t>
            </a:r>
            <a:r>
              <a:rPr lang="en-US" altLang="zh-CN" sz="800"/>
              <a:t>(</a:t>
            </a:r>
            <a:r>
              <a:rPr lang="zh-CN" altLang="en-US" sz="800"/>
              <a:t>烧杯</a:t>
            </a:r>
            <a:r>
              <a:rPr lang="en-US" altLang="zh-CN" sz="800"/>
              <a:t>)", "vsv_check": "Arm_1.</a:t>
            </a:r>
            <a:r>
              <a:rPr lang="zh-CN" altLang="en-US" sz="800"/>
              <a:t>已抓取</a:t>
            </a:r>
            <a:r>
              <a:rPr lang="en-US" altLang="zh-CN" sz="800"/>
              <a:t>(</a:t>
            </a:r>
            <a:r>
              <a:rPr lang="zh-CN" altLang="en-US" sz="800"/>
              <a:t>烧杯</a:t>
            </a:r>
            <a:r>
              <a:rPr lang="en-US" altLang="zh-CN" sz="800"/>
              <a:t>)" },</a:t>
            </a:r>
            <a:endParaRPr lang="en-US" altLang="zh-CN" sz="800"/>
          </a:p>
          <a:p>
            <a:r>
              <a:rPr lang="en-US" altLang="zh-CN" sz="800"/>
              <a:t>      { "arm": "Arm_2", "sub_task": "</a:t>
            </a:r>
            <a:r>
              <a:rPr lang="zh-CN" altLang="en-US" sz="800"/>
              <a:t>抓取</a:t>
            </a:r>
            <a:r>
              <a:rPr lang="en-US" altLang="zh-CN" sz="800"/>
              <a:t>(</a:t>
            </a:r>
            <a:r>
              <a:rPr lang="zh-CN" altLang="en-US" sz="800"/>
              <a:t>水瓶</a:t>
            </a:r>
            <a:r>
              <a:rPr lang="en-US" altLang="zh-CN" sz="800"/>
              <a:t>)", "vsv_check": "Arm_2.</a:t>
            </a:r>
            <a:r>
              <a:rPr lang="zh-CN" altLang="en-US" sz="800"/>
              <a:t>已抓取</a:t>
            </a:r>
            <a:r>
              <a:rPr lang="en-US" altLang="zh-CN" sz="800"/>
              <a:t>(</a:t>
            </a:r>
            <a:r>
              <a:rPr lang="zh-CN" altLang="en-US" sz="800"/>
              <a:t>水瓶</a:t>
            </a:r>
            <a:r>
              <a:rPr lang="en-US" altLang="zh-CN" sz="800"/>
              <a:t>)" }</a:t>
            </a:r>
            <a:endParaRPr lang="en-US" altLang="zh-CN" sz="800"/>
          </a:p>
          <a:p>
            <a:r>
              <a:rPr lang="en-US" altLang="zh-CN" sz="800"/>
              <a:t>    ]</a:t>
            </a:r>
            <a:endParaRPr lang="en-US" altLang="zh-CN" sz="800"/>
          </a:p>
          <a:p>
            <a:r>
              <a:rPr lang="en-US" altLang="zh-CN" sz="800"/>
              <a:t>  },</a:t>
            </a:r>
            <a:endParaRPr lang="en-US" altLang="zh-CN" sz="800"/>
          </a:p>
          <a:p>
            <a:r>
              <a:rPr lang="en-US" altLang="zh-CN" sz="800"/>
              <a:t>  {</a:t>
            </a:r>
            <a:endParaRPr lang="en-US" altLang="zh-CN" sz="800"/>
          </a:p>
          <a:p>
            <a:r>
              <a:rPr lang="en-US" altLang="zh-CN" sz="800"/>
              <a:t>    </a:t>
            </a:r>
            <a:r>
              <a:rPr lang="en-US" altLang="zh-CN" sz="800">
                <a:solidFill>
                  <a:srgbClr val="FF0000"/>
                </a:solidFill>
              </a:rPr>
              <a:t>"step": 2,</a:t>
            </a:r>
            <a:endParaRPr lang="en-US" altLang="zh-CN" sz="800">
              <a:solidFill>
                <a:srgbClr val="FF0000"/>
              </a:solidFill>
            </a:endParaRPr>
          </a:p>
          <a:p>
            <a:r>
              <a:rPr lang="en-US" altLang="zh-CN" sz="800"/>
              <a:t>   </a:t>
            </a:r>
            <a:r>
              <a:rPr lang="en-US" altLang="zh-CN" sz="800">
                <a:solidFill>
                  <a:srgbClr val="FF0000"/>
                </a:solidFill>
              </a:rPr>
              <a:t> "type": "serial",</a:t>
            </a:r>
            <a:endParaRPr lang="en-US" altLang="zh-CN" sz="800"/>
          </a:p>
          <a:p>
            <a:r>
              <a:rPr lang="en-US" altLang="zh-CN" sz="800"/>
              <a:t>    "tasks": [</a:t>
            </a:r>
            <a:endParaRPr lang="en-US" altLang="zh-CN" sz="800"/>
          </a:p>
          <a:p>
            <a:r>
              <a:rPr lang="en-US" altLang="zh-CN" sz="800"/>
              <a:t>      { "arm": "Arm_1", "sub_task": "</a:t>
            </a:r>
            <a:r>
              <a:rPr lang="zh-CN" altLang="en-US" sz="800"/>
              <a:t>保持</a:t>
            </a:r>
            <a:r>
              <a:rPr lang="en-US" altLang="zh-CN" sz="800"/>
              <a:t>(</a:t>
            </a:r>
            <a:r>
              <a:rPr lang="zh-CN" altLang="en-US" sz="800"/>
              <a:t>烧杯</a:t>
            </a:r>
            <a:r>
              <a:rPr lang="en-US" altLang="zh-CN" sz="800"/>
              <a:t>, </a:t>
            </a:r>
            <a:r>
              <a:rPr lang="zh-CN" altLang="en-US" sz="800"/>
              <a:t>倾倒位</a:t>
            </a:r>
            <a:r>
              <a:rPr lang="en-US" altLang="zh-CN" sz="800"/>
              <a:t>)", "vsv_check": "Arm_1.</a:t>
            </a:r>
            <a:r>
              <a:rPr lang="zh-CN" altLang="en-US" sz="800"/>
              <a:t>到位</a:t>
            </a:r>
            <a:r>
              <a:rPr lang="en-US" altLang="zh-CN" sz="800"/>
              <a:t>" },</a:t>
            </a:r>
            <a:endParaRPr lang="en-US" altLang="zh-CN" sz="800"/>
          </a:p>
          <a:p>
            <a:r>
              <a:rPr lang="en-US" altLang="zh-CN" sz="800"/>
              <a:t>      { "arm": "Arm_2", "sub_task": "</a:t>
            </a:r>
            <a:r>
              <a:rPr lang="zh-CN" altLang="en-US" sz="800"/>
              <a:t>倾倒</a:t>
            </a:r>
            <a:r>
              <a:rPr lang="en-US" altLang="zh-CN" sz="800"/>
              <a:t>(</a:t>
            </a:r>
            <a:r>
              <a:rPr lang="zh-CN" altLang="en-US" sz="800"/>
              <a:t>水瓶</a:t>
            </a:r>
            <a:r>
              <a:rPr lang="en-US" altLang="zh-CN" sz="800"/>
              <a:t>, 100ml)", "vsv_check": "</a:t>
            </a:r>
            <a:r>
              <a:rPr lang="zh-CN" altLang="en-US" sz="800"/>
              <a:t>传感器</a:t>
            </a:r>
            <a:r>
              <a:rPr lang="en-US" altLang="zh-CN" sz="800"/>
              <a:t>.</a:t>
            </a:r>
            <a:r>
              <a:rPr lang="zh-CN" altLang="en-US" sz="800"/>
              <a:t>未溢出</a:t>
            </a:r>
            <a:r>
              <a:rPr lang="en-US" altLang="zh-CN" sz="800"/>
              <a:t>" }</a:t>
            </a:r>
            <a:endParaRPr lang="en-US" altLang="zh-CN" sz="800"/>
          </a:p>
          <a:p>
            <a:r>
              <a:rPr lang="en-US" altLang="zh-CN" sz="800"/>
              <a:t>    ]</a:t>
            </a:r>
            <a:endParaRPr lang="en-US" altLang="zh-CN" sz="800"/>
          </a:p>
          <a:p>
            <a:r>
              <a:rPr lang="en-US" altLang="zh-CN" sz="800"/>
              <a:t>  },</a:t>
            </a:r>
            <a:endParaRPr lang="en-US" altLang="zh-CN" sz="800"/>
          </a:p>
          <a:p>
            <a:r>
              <a:rPr lang="en-US" altLang="zh-CN" sz="800"/>
              <a:t>  {</a:t>
            </a:r>
            <a:endParaRPr lang="en-US" altLang="zh-CN" sz="800"/>
          </a:p>
          <a:p>
            <a:r>
              <a:rPr lang="en-US" altLang="zh-CN" sz="800"/>
              <a:t>    </a:t>
            </a:r>
            <a:r>
              <a:rPr lang="en-US" altLang="zh-CN" sz="800">
                <a:solidFill>
                  <a:srgbClr val="FF0000"/>
                </a:solidFill>
              </a:rPr>
              <a:t>"step": 3,</a:t>
            </a:r>
            <a:endParaRPr lang="en-US" altLang="zh-CN" sz="800"/>
          </a:p>
          <a:p>
            <a:r>
              <a:rPr lang="en-US" altLang="zh-CN" sz="800"/>
              <a:t>    </a:t>
            </a:r>
            <a:r>
              <a:rPr lang="en-US" altLang="zh-CN" sz="800">
                <a:solidFill>
                  <a:srgbClr val="FF0000"/>
                </a:solidFill>
              </a:rPr>
              <a:t>"type": "serial",</a:t>
            </a:r>
            <a:endParaRPr lang="en-US" altLang="zh-CN" sz="800"/>
          </a:p>
          <a:p>
            <a:r>
              <a:rPr lang="en-US" altLang="zh-CN" sz="800"/>
              <a:t>    "tasks": [</a:t>
            </a:r>
            <a:endParaRPr lang="en-US" altLang="zh-CN" sz="800"/>
          </a:p>
          <a:p>
            <a:r>
              <a:rPr lang="en-US" altLang="zh-CN" sz="800"/>
              <a:t>      { "arm": "Arm_2", "sub_task": "</a:t>
            </a:r>
            <a:r>
              <a:rPr lang="zh-CN" altLang="en-US" sz="800"/>
              <a:t>放回</a:t>
            </a:r>
            <a:r>
              <a:rPr lang="en-US" altLang="zh-CN" sz="800"/>
              <a:t>(</a:t>
            </a:r>
            <a:r>
              <a:rPr lang="zh-CN" altLang="en-US" sz="800"/>
              <a:t>水瓶</a:t>
            </a:r>
            <a:r>
              <a:rPr lang="en-US" altLang="zh-CN" sz="800"/>
              <a:t>)", "vsv_check": "Arm_2.</a:t>
            </a:r>
            <a:r>
              <a:rPr lang="zh-CN" altLang="en-US" sz="800"/>
              <a:t>夹爪为空</a:t>
            </a:r>
            <a:r>
              <a:rPr lang="en-US" altLang="zh-CN" sz="800"/>
              <a:t>" },</a:t>
            </a:r>
            <a:endParaRPr lang="en-US" altLang="zh-CN" sz="800"/>
          </a:p>
          <a:p>
            <a:r>
              <a:rPr lang="en-US" altLang="zh-CN" sz="800"/>
              <a:t>      { "arm": "Arm_2", "sub_task": "</a:t>
            </a:r>
            <a:r>
              <a:rPr lang="zh-CN" altLang="en-US" sz="800"/>
              <a:t>抓取</a:t>
            </a:r>
            <a:r>
              <a:rPr lang="en-US" altLang="zh-CN" sz="800"/>
              <a:t>(</a:t>
            </a:r>
            <a:r>
              <a:rPr lang="zh-CN" altLang="en-US" sz="800"/>
              <a:t>搅拌子</a:t>
            </a:r>
            <a:r>
              <a:rPr lang="en-US" altLang="zh-CN" sz="800"/>
              <a:t>)", "vsv_check": "Arm_2.</a:t>
            </a:r>
            <a:r>
              <a:rPr lang="zh-CN" altLang="en-US" sz="800"/>
              <a:t>已抓取</a:t>
            </a:r>
            <a:r>
              <a:rPr lang="en-US" altLang="zh-CN" sz="800"/>
              <a:t>(</a:t>
            </a:r>
            <a:r>
              <a:rPr lang="zh-CN" altLang="en-US" sz="800"/>
              <a:t>搅拌子</a:t>
            </a:r>
            <a:r>
              <a:rPr lang="en-US" altLang="zh-CN" sz="800"/>
              <a:t>)" }</a:t>
            </a:r>
            <a:endParaRPr lang="en-US" altLang="zh-CN" sz="800"/>
          </a:p>
          <a:p>
            <a:r>
              <a:rPr lang="en-US" altLang="zh-CN" sz="800"/>
              <a:t>    ]</a:t>
            </a:r>
            <a:endParaRPr lang="en-US" altLang="zh-CN" sz="800"/>
          </a:p>
          <a:p>
            <a:r>
              <a:rPr lang="en-US" altLang="zh-CN" sz="800"/>
              <a:t>  }</a:t>
            </a:r>
            <a:endParaRPr lang="en-US" altLang="zh-CN" sz="800"/>
          </a:p>
        </p:txBody>
      </p:sp>
      <p:sp>
        <p:nvSpPr>
          <p:cNvPr id="7192" name="左大括号 7191"/>
          <p:cNvSpPr/>
          <p:nvPr/>
        </p:nvSpPr>
        <p:spPr>
          <a:xfrm>
            <a:off x="4441825" y="1908810"/>
            <a:ext cx="340360" cy="3889375"/>
          </a:xfrm>
          <a:prstGeom prst="leftBrace">
            <a:avLst>
              <a:gd name="adj1" fmla="val 41791"/>
              <a:gd name="adj2" fmla="val 50194"/>
            </a:avLst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/>
          <a:p>
            <a:pPr algn="ctr">
              <a:defRPr/>
            </a:pPr>
            <a:endParaRPr lang="zh-CN" altLang="en-US">
              <a:latin typeface="Times New Roman" panose="02020603050405020304" pitchFamily="18" charset="0"/>
              <a:ea typeface="汉仪书魂体简" panose="02010600000101010101" charset="-122"/>
              <a:cs typeface="Times New Roman" panose="02020603050405020304" pitchFamily="18" charset="0"/>
            </a:endParaRPr>
          </a:p>
        </p:txBody>
      </p:sp>
      <p:pic>
        <p:nvPicPr>
          <p:cNvPr id="176" name="图片 175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294630" y="1590675"/>
            <a:ext cx="1127760" cy="640080"/>
          </a:xfrm>
          <a:prstGeom prst="rect">
            <a:avLst/>
          </a:prstGeom>
        </p:spPr>
      </p:pic>
      <p:pic>
        <p:nvPicPr>
          <p:cNvPr id="177" name="图片 17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863465" y="1685290"/>
            <a:ext cx="490220" cy="477520"/>
          </a:xfrm>
          <a:prstGeom prst="rect">
            <a:avLst/>
          </a:prstGeom>
        </p:spPr>
      </p:pic>
      <p:pic>
        <p:nvPicPr>
          <p:cNvPr id="178" name="图片 177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flipH="1">
            <a:off x="5353685" y="5213350"/>
            <a:ext cx="876300" cy="655320"/>
          </a:xfrm>
          <a:prstGeom prst="rect">
            <a:avLst/>
          </a:prstGeom>
        </p:spPr>
      </p:pic>
      <p:pic>
        <p:nvPicPr>
          <p:cNvPr id="179" name="图片 178" descr="QWe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26635" y="5439410"/>
            <a:ext cx="431165" cy="429260"/>
          </a:xfrm>
          <a:prstGeom prst="rect">
            <a:avLst/>
          </a:prstGeom>
        </p:spPr>
      </p:pic>
      <p:cxnSp>
        <p:nvCxnSpPr>
          <p:cNvPr id="184" name="直接连接符 183"/>
          <p:cNvCxnSpPr/>
          <p:nvPr/>
        </p:nvCxnSpPr>
        <p:spPr>
          <a:xfrm>
            <a:off x="670560" y="5125085"/>
            <a:ext cx="1706880" cy="0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5" name="直接连接符 184"/>
          <p:cNvCxnSpPr/>
          <p:nvPr/>
        </p:nvCxnSpPr>
        <p:spPr>
          <a:xfrm>
            <a:off x="670560" y="5868670"/>
            <a:ext cx="1706880" cy="0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6" name="直接连接符 185"/>
          <p:cNvCxnSpPr/>
          <p:nvPr/>
        </p:nvCxnSpPr>
        <p:spPr>
          <a:xfrm>
            <a:off x="2346325" y="5107305"/>
            <a:ext cx="6350" cy="725805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7" name="直接连接符 186"/>
          <p:cNvCxnSpPr/>
          <p:nvPr/>
        </p:nvCxnSpPr>
        <p:spPr>
          <a:xfrm>
            <a:off x="645795" y="5125085"/>
            <a:ext cx="6350" cy="725805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88" name="图片 187" descr="10787419791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3250565" y="5798185"/>
            <a:ext cx="361315" cy="361315"/>
          </a:xfrm>
          <a:prstGeom prst="rect">
            <a:avLst/>
          </a:prstGeom>
        </p:spPr>
      </p:pic>
      <p:sp>
        <p:nvSpPr>
          <p:cNvPr id="189" name="文本框 188"/>
          <p:cNvSpPr txBox="1"/>
          <p:nvPr/>
        </p:nvSpPr>
        <p:spPr>
          <a:xfrm>
            <a:off x="6710680" y="5245100"/>
            <a:ext cx="142049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VLM/</a:t>
            </a:r>
            <a:r>
              <a:rPr lang="en-US" altLang="zh-CN" sz="1400" b="1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(RIO)</a:t>
            </a:r>
            <a:r>
              <a:rPr lang="zh-CN" altLang="en-US" sz="1400" b="1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校验</a:t>
            </a:r>
            <a:endParaRPr lang="en-US" altLang="zh-CN" sz="1400" b="1" i="1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1400" b="1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preconditions</a:t>
            </a:r>
            <a:r>
              <a:rPr lang="zh-CN" altLang="en-US" sz="1400" b="1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lang="en-US" altLang="zh-CN" sz="1400" b="1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vsv_check</a:t>
            </a:r>
            <a:endParaRPr lang="en-US" altLang="zh-CN" sz="1400" b="1" i="1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190" name="图片 189" descr="QWe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38770" y="5448935"/>
            <a:ext cx="431165" cy="429260"/>
          </a:xfrm>
          <a:prstGeom prst="rect">
            <a:avLst/>
          </a:prstGeom>
        </p:spPr>
      </p:pic>
      <p:sp>
        <p:nvSpPr>
          <p:cNvPr id="193" name="文本框 192"/>
          <p:cNvSpPr txBox="1"/>
          <p:nvPr/>
        </p:nvSpPr>
        <p:spPr>
          <a:xfrm>
            <a:off x="8872220" y="5039360"/>
            <a:ext cx="25742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失败影响以及原因分析</a:t>
            </a:r>
            <a:endParaRPr lang="zh-CN" altLang="en-US" sz="1600"/>
          </a:p>
        </p:txBody>
      </p:sp>
      <p:sp>
        <p:nvSpPr>
          <p:cNvPr id="194" name="左大括号 193"/>
          <p:cNvSpPr/>
          <p:nvPr/>
        </p:nvSpPr>
        <p:spPr>
          <a:xfrm>
            <a:off x="8436610" y="5102225"/>
            <a:ext cx="379095" cy="1077595"/>
          </a:xfrm>
          <a:prstGeom prst="leftBrace">
            <a:avLst>
              <a:gd name="adj1" fmla="val 41791"/>
              <a:gd name="adj2" fmla="val 50194"/>
            </a:avLst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/>
          <a:p>
            <a:pPr algn="ctr">
              <a:defRPr/>
            </a:pPr>
            <a:endParaRPr lang="zh-CN" altLang="en-US">
              <a:latin typeface="Times New Roman" panose="02020603050405020304" pitchFamily="18" charset="0"/>
              <a:ea typeface="汉仪书魂体简" panose="02010600000101010101" charset="-122"/>
              <a:cs typeface="Times New Roman" panose="02020603050405020304" pitchFamily="18" charset="0"/>
            </a:endParaRPr>
          </a:p>
        </p:txBody>
      </p:sp>
      <p:pic>
        <p:nvPicPr>
          <p:cNvPr id="195" name="图片 194" descr="省略号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229985" y="5387975"/>
            <a:ext cx="480695" cy="480695"/>
          </a:xfrm>
          <a:prstGeom prst="rect">
            <a:avLst/>
          </a:prstGeom>
        </p:spPr>
      </p:pic>
      <p:pic>
        <p:nvPicPr>
          <p:cNvPr id="196" name="图片 195" descr="省略号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422390" y="1685290"/>
            <a:ext cx="480695" cy="480695"/>
          </a:xfrm>
          <a:prstGeom prst="rect">
            <a:avLst/>
          </a:prstGeom>
        </p:spPr>
      </p:pic>
      <p:pic>
        <p:nvPicPr>
          <p:cNvPr id="198" name="图片 197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872220" y="5833110"/>
            <a:ext cx="443865" cy="455930"/>
          </a:xfrm>
          <a:prstGeom prst="rect">
            <a:avLst/>
          </a:prstGeom>
        </p:spPr>
      </p:pic>
      <p:sp>
        <p:nvSpPr>
          <p:cNvPr id="199" name="箭头: 右 4119"/>
          <p:cNvSpPr/>
          <p:nvPr/>
        </p:nvSpPr>
        <p:spPr>
          <a:xfrm>
            <a:off x="9316360" y="5999211"/>
            <a:ext cx="470780" cy="160085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200" name="文本框 199"/>
          <p:cNvSpPr txBox="1"/>
          <p:nvPr/>
        </p:nvSpPr>
        <p:spPr>
          <a:xfrm>
            <a:off x="9841230" y="5878195"/>
            <a:ext cx="1368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next_step</a:t>
            </a:r>
            <a:endParaRPr lang="en-US" altLang="zh-CN"/>
          </a:p>
        </p:txBody>
      </p:sp>
      <p:sp>
        <p:nvSpPr>
          <p:cNvPr id="204" name="Google Shape;156;p21"/>
          <p:cNvSpPr/>
          <p:nvPr/>
        </p:nvSpPr>
        <p:spPr>
          <a:xfrm>
            <a:off x="6005195" y="5039360"/>
            <a:ext cx="795655" cy="220980"/>
          </a:xfrm>
          <a:prstGeom prst="roundRect">
            <a:avLst>
              <a:gd name="adj" fmla="val 16667"/>
            </a:avLst>
          </a:prstGeom>
          <a:solidFill>
            <a:srgbClr val="69C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step1</a:t>
            </a:r>
            <a:endParaRPr lang="en-US" sz="1600" b="1"/>
          </a:p>
        </p:txBody>
      </p:sp>
      <p:pic>
        <p:nvPicPr>
          <p:cNvPr id="209" name="图片 208" descr="省略号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095615" y="4907280"/>
            <a:ext cx="480695" cy="480695"/>
          </a:xfrm>
          <a:prstGeom prst="rect">
            <a:avLst/>
          </a:prstGeom>
        </p:spPr>
      </p:pic>
      <p:cxnSp>
        <p:nvCxnSpPr>
          <p:cNvPr id="329" name="Google Shape;329;p32"/>
          <p:cNvCxnSpPr/>
          <p:nvPr/>
        </p:nvCxnSpPr>
        <p:spPr>
          <a:xfrm flipH="1">
            <a:off x="6321885" y="6140350"/>
            <a:ext cx="1639570" cy="1905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stealth" w="med" len="med"/>
            <a:tailEnd type="none" w="med" len="med"/>
          </a:ln>
        </p:spPr>
      </p:cxnSp>
      <p:sp>
        <p:nvSpPr>
          <p:cNvPr id="210" name="Google Shape;156;p21"/>
          <p:cNvSpPr/>
          <p:nvPr/>
        </p:nvSpPr>
        <p:spPr>
          <a:xfrm>
            <a:off x="6653530" y="5039360"/>
            <a:ext cx="795655" cy="220980"/>
          </a:xfrm>
          <a:prstGeom prst="roundRect">
            <a:avLst>
              <a:gd name="adj" fmla="val 16667"/>
            </a:avLst>
          </a:prstGeom>
          <a:solidFill>
            <a:srgbClr val="69C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step2</a:t>
            </a:r>
            <a:endParaRPr lang="en-US" sz="1600" b="1"/>
          </a:p>
        </p:txBody>
      </p:sp>
      <p:sp>
        <p:nvSpPr>
          <p:cNvPr id="211" name="Google Shape;156;p21"/>
          <p:cNvSpPr/>
          <p:nvPr/>
        </p:nvSpPr>
        <p:spPr>
          <a:xfrm>
            <a:off x="7299960" y="5039360"/>
            <a:ext cx="795655" cy="220980"/>
          </a:xfrm>
          <a:prstGeom prst="roundRect">
            <a:avLst>
              <a:gd name="adj" fmla="val 16667"/>
            </a:avLst>
          </a:prstGeom>
          <a:solidFill>
            <a:srgbClr val="69C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step3</a:t>
            </a:r>
            <a:endParaRPr lang="en-US" sz="1600" b="1"/>
          </a:p>
        </p:txBody>
      </p:sp>
      <p:sp>
        <p:nvSpPr>
          <p:cNvPr id="213" name="文本框 212"/>
          <p:cNvSpPr txBox="1"/>
          <p:nvPr/>
        </p:nvSpPr>
        <p:spPr>
          <a:xfrm>
            <a:off x="6894830" y="1557655"/>
            <a:ext cx="154114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VLM/</a:t>
            </a:r>
            <a:r>
              <a:rPr lang="en-US" altLang="zh-CN" sz="1400" b="1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(RIO)</a:t>
            </a:r>
            <a:r>
              <a:rPr lang="zh-CN" altLang="en-US" sz="1400" b="1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校验</a:t>
            </a:r>
            <a:endParaRPr lang="en-US" altLang="zh-CN" sz="1400" b="1" i="1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1400" b="1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preconditions</a:t>
            </a:r>
            <a:r>
              <a:rPr lang="zh-CN" altLang="en-US" sz="1400" b="1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lang="en-US" altLang="zh-CN" sz="1400" b="1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vsv_check</a:t>
            </a:r>
            <a:endParaRPr lang="en-US" altLang="zh-CN" sz="1400" b="1" i="1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16" name="左大括号 215"/>
          <p:cNvSpPr/>
          <p:nvPr/>
        </p:nvSpPr>
        <p:spPr>
          <a:xfrm>
            <a:off x="8620760" y="1414780"/>
            <a:ext cx="379095" cy="1077595"/>
          </a:xfrm>
          <a:prstGeom prst="leftBrace">
            <a:avLst>
              <a:gd name="adj1" fmla="val 41791"/>
              <a:gd name="adj2" fmla="val 50194"/>
            </a:avLst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/>
          <a:p>
            <a:pPr algn="ctr">
              <a:defRPr/>
            </a:pPr>
            <a:endParaRPr lang="zh-CN" altLang="en-US">
              <a:latin typeface="Times New Roman" panose="02020603050405020304" pitchFamily="18" charset="0"/>
              <a:ea typeface="汉仪书魂体简" panose="02010600000101010101" charset="-122"/>
              <a:cs typeface="Times New Roman" panose="02020603050405020304" pitchFamily="18" charset="0"/>
            </a:endParaRPr>
          </a:p>
        </p:txBody>
      </p:sp>
      <p:pic>
        <p:nvPicPr>
          <p:cNvPr id="217" name="图片 216" descr="省略号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414135" y="1700530"/>
            <a:ext cx="480695" cy="480695"/>
          </a:xfrm>
          <a:prstGeom prst="rect">
            <a:avLst/>
          </a:prstGeom>
        </p:spPr>
      </p:pic>
      <p:pic>
        <p:nvPicPr>
          <p:cNvPr id="218" name="图片 217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999855" y="1219835"/>
            <a:ext cx="443865" cy="455930"/>
          </a:xfrm>
          <a:prstGeom prst="rect">
            <a:avLst/>
          </a:prstGeom>
        </p:spPr>
      </p:pic>
      <p:sp>
        <p:nvSpPr>
          <p:cNvPr id="219" name="箭头: 右 4119"/>
          <p:cNvSpPr/>
          <p:nvPr/>
        </p:nvSpPr>
        <p:spPr>
          <a:xfrm>
            <a:off x="9443995" y="1397366"/>
            <a:ext cx="470780" cy="160085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cxnSp>
        <p:nvCxnSpPr>
          <p:cNvPr id="222" name="Google Shape;329;p32"/>
          <p:cNvCxnSpPr/>
          <p:nvPr/>
        </p:nvCxnSpPr>
        <p:spPr>
          <a:xfrm flipH="1" flipV="1">
            <a:off x="6571440" y="1521995"/>
            <a:ext cx="1361440" cy="63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stealth" w="med" len="med"/>
            <a:tailEnd type="none" w="med" len="med"/>
          </a:ln>
        </p:spPr>
      </p:cxnSp>
      <p:sp>
        <p:nvSpPr>
          <p:cNvPr id="225" name="文本框 224"/>
          <p:cNvSpPr txBox="1"/>
          <p:nvPr/>
        </p:nvSpPr>
        <p:spPr>
          <a:xfrm>
            <a:off x="9914890" y="1263650"/>
            <a:ext cx="1368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next_step</a:t>
            </a:r>
            <a:endParaRPr lang="en-US" altLang="zh-CN"/>
          </a:p>
        </p:txBody>
      </p:sp>
      <p:sp>
        <p:nvSpPr>
          <p:cNvPr id="226" name="上箭头 25"/>
          <p:cNvSpPr/>
          <p:nvPr/>
        </p:nvSpPr>
        <p:spPr>
          <a:xfrm rot="10800000">
            <a:off x="7700010" y="4664710"/>
            <a:ext cx="125095" cy="354965"/>
          </a:xfrm>
          <a:prstGeom prst="up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7" name="矩形 226"/>
          <p:cNvSpPr/>
          <p:nvPr/>
        </p:nvSpPr>
        <p:spPr>
          <a:xfrm>
            <a:off x="7788275" y="4664710"/>
            <a:ext cx="1441450" cy="57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8" name="矩形 227"/>
          <p:cNvSpPr/>
          <p:nvPr/>
        </p:nvSpPr>
        <p:spPr>
          <a:xfrm rot="16200000" flipV="1">
            <a:off x="9081043" y="4814662"/>
            <a:ext cx="353060" cy="57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9" name="上箭头 25"/>
          <p:cNvSpPr/>
          <p:nvPr/>
        </p:nvSpPr>
        <p:spPr>
          <a:xfrm rot="10800000">
            <a:off x="6991985" y="4545965"/>
            <a:ext cx="111760" cy="404495"/>
          </a:xfrm>
          <a:prstGeom prst="up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0" name="矩形 229"/>
          <p:cNvSpPr/>
          <p:nvPr/>
        </p:nvSpPr>
        <p:spPr>
          <a:xfrm>
            <a:off x="7027545" y="4494530"/>
            <a:ext cx="2633345" cy="57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1" name="矩形 230"/>
          <p:cNvSpPr/>
          <p:nvPr/>
        </p:nvSpPr>
        <p:spPr>
          <a:xfrm rot="16200000" flipV="1">
            <a:off x="9421085" y="4726080"/>
            <a:ext cx="528955" cy="57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2" name="矩形 231"/>
          <p:cNvSpPr/>
          <p:nvPr/>
        </p:nvSpPr>
        <p:spPr>
          <a:xfrm>
            <a:off x="6398895" y="4244975"/>
            <a:ext cx="3699510" cy="76200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233" name="上箭头 25"/>
          <p:cNvSpPr/>
          <p:nvPr/>
        </p:nvSpPr>
        <p:spPr>
          <a:xfrm rot="10800000">
            <a:off x="6304915" y="4245610"/>
            <a:ext cx="130175" cy="793750"/>
          </a:xfrm>
          <a:prstGeom prst="upArrow">
            <a:avLst/>
          </a:prstGeom>
          <a:solidFill>
            <a:srgbClr val="E2F0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4" name="矩形 233"/>
          <p:cNvSpPr/>
          <p:nvPr>
            <p:custDataLst>
              <p:tags r:id="rId30"/>
            </p:custDataLst>
          </p:nvPr>
        </p:nvSpPr>
        <p:spPr>
          <a:xfrm rot="16200000">
            <a:off x="9745980" y="4596130"/>
            <a:ext cx="777875" cy="76200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5" name="文本框 234"/>
          <p:cNvSpPr txBox="1"/>
          <p:nvPr/>
        </p:nvSpPr>
        <p:spPr>
          <a:xfrm>
            <a:off x="7700010" y="3994150"/>
            <a:ext cx="4064000" cy="57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 b="1"/>
              <a:t>矫正重试</a:t>
            </a:r>
            <a:endParaRPr lang="zh-CN" altLang="en-US" sz="1400" b="1"/>
          </a:p>
        </p:txBody>
      </p:sp>
      <p:sp>
        <p:nvSpPr>
          <p:cNvPr id="236" name="文本框 235"/>
          <p:cNvSpPr txBox="1"/>
          <p:nvPr/>
        </p:nvSpPr>
        <p:spPr>
          <a:xfrm>
            <a:off x="8843010" y="5387975"/>
            <a:ext cx="157035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（抓取点，力度，位姿等）</a:t>
            </a:r>
            <a:endParaRPr lang="zh-CN" altLang="en-US" sz="900"/>
          </a:p>
        </p:txBody>
      </p:sp>
      <p:sp>
        <p:nvSpPr>
          <p:cNvPr id="238" name="上箭头 25"/>
          <p:cNvSpPr/>
          <p:nvPr/>
        </p:nvSpPr>
        <p:spPr>
          <a:xfrm>
            <a:off x="7847965" y="2445385"/>
            <a:ext cx="125095" cy="392430"/>
          </a:xfrm>
          <a:prstGeom prst="up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9" name="矩形 238"/>
          <p:cNvSpPr/>
          <p:nvPr/>
        </p:nvSpPr>
        <p:spPr>
          <a:xfrm rot="10800000">
            <a:off x="7874635" y="2837365"/>
            <a:ext cx="1441450" cy="57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0" name="矩形 239"/>
          <p:cNvSpPr/>
          <p:nvPr/>
        </p:nvSpPr>
        <p:spPr>
          <a:xfrm rot="5400000" flipV="1">
            <a:off x="9193622" y="2740752"/>
            <a:ext cx="250825" cy="57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1" name="上箭头 25"/>
          <p:cNvSpPr/>
          <p:nvPr/>
        </p:nvSpPr>
        <p:spPr>
          <a:xfrm>
            <a:off x="7158990" y="2428240"/>
            <a:ext cx="111760" cy="582930"/>
          </a:xfrm>
          <a:prstGeom prst="up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2" name="矩形 241"/>
          <p:cNvSpPr/>
          <p:nvPr/>
        </p:nvSpPr>
        <p:spPr>
          <a:xfrm rot="10800000">
            <a:off x="7188835" y="3003100"/>
            <a:ext cx="2584450" cy="57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3" name="矩形 242"/>
          <p:cNvSpPr/>
          <p:nvPr/>
        </p:nvSpPr>
        <p:spPr>
          <a:xfrm rot="5400000" flipV="1">
            <a:off x="9569225" y="2819810"/>
            <a:ext cx="423545" cy="57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4" name="矩形 243"/>
          <p:cNvSpPr/>
          <p:nvPr/>
        </p:nvSpPr>
        <p:spPr>
          <a:xfrm rot="10800000">
            <a:off x="6383655" y="3177090"/>
            <a:ext cx="3714750" cy="57600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245" name="上箭头 25"/>
          <p:cNvSpPr/>
          <p:nvPr/>
        </p:nvSpPr>
        <p:spPr>
          <a:xfrm>
            <a:off x="6304915" y="2440940"/>
            <a:ext cx="130175" cy="793750"/>
          </a:xfrm>
          <a:prstGeom prst="upArrow">
            <a:avLst/>
          </a:prstGeom>
          <a:solidFill>
            <a:srgbClr val="E2F0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6" name="矩形 245"/>
          <p:cNvSpPr/>
          <p:nvPr>
            <p:custDataLst>
              <p:tags r:id="rId31"/>
            </p:custDataLst>
          </p:nvPr>
        </p:nvSpPr>
        <p:spPr>
          <a:xfrm rot="5400000">
            <a:off x="9780680" y="2895375"/>
            <a:ext cx="607695" cy="57600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7" name="Google Shape;156;p21"/>
          <p:cNvSpPr/>
          <p:nvPr/>
        </p:nvSpPr>
        <p:spPr>
          <a:xfrm>
            <a:off x="6189345" y="2211705"/>
            <a:ext cx="795655" cy="220980"/>
          </a:xfrm>
          <a:prstGeom prst="roundRect">
            <a:avLst>
              <a:gd name="adj" fmla="val 16667"/>
            </a:avLst>
          </a:prstGeom>
          <a:solidFill>
            <a:srgbClr val="69C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step1</a:t>
            </a:r>
            <a:endParaRPr lang="en-US" sz="1600" b="1"/>
          </a:p>
        </p:txBody>
      </p:sp>
      <p:sp>
        <p:nvSpPr>
          <p:cNvPr id="248" name="Google Shape;156;p21"/>
          <p:cNvSpPr/>
          <p:nvPr/>
        </p:nvSpPr>
        <p:spPr>
          <a:xfrm>
            <a:off x="6837680" y="2211705"/>
            <a:ext cx="795655" cy="220980"/>
          </a:xfrm>
          <a:prstGeom prst="roundRect">
            <a:avLst>
              <a:gd name="adj" fmla="val 16667"/>
            </a:avLst>
          </a:prstGeom>
          <a:solidFill>
            <a:srgbClr val="69C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step2</a:t>
            </a:r>
            <a:endParaRPr lang="en-US" sz="1600" b="1"/>
          </a:p>
        </p:txBody>
      </p:sp>
      <p:sp>
        <p:nvSpPr>
          <p:cNvPr id="249" name="Google Shape;156;p21"/>
          <p:cNvSpPr/>
          <p:nvPr/>
        </p:nvSpPr>
        <p:spPr>
          <a:xfrm>
            <a:off x="7484110" y="2211705"/>
            <a:ext cx="795655" cy="220980"/>
          </a:xfrm>
          <a:prstGeom prst="roundRect">
            <a:avLst>
              <a:gd name="adj" fmla="val 16667"/>
            </a:avLst>
          </a:prstGeom>
          <a:solidFill>
            <a:srgbClr val="69C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step3</a:t>
            </a:r>
            <a:endParaRPr lang="en-US" sz="1600" b="1"/>
          </a:p>
        </p:txBody>
      </p:sp>
      <p:pic>
        <p:nvPicPr>
          <p:cNvPr id="253" name="图片 252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130540" y="1700530"/>
            <a:ext cx="490220" cy="477520"/>
          </a:xfrm>
          <a:prstGeom prst="rect">
            <a:avLst/>
          </a:prstGeom>
        </p:spPr>
      </p:pic>
      <p:pic>
        <p:nvPicPr>
          <p:cNvPr id="254" name="图片 253" descr="QWe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60430" y="5039360"/>
            <a:ext cx="329565" cy="328295"/>
          </a:xfrm>
          <a:prstGeom prst="rect">
            <a:avLst/>
          </a:prstGeom>
        </p:spPr>
      </p:pic>
      <p:sp>
        <p:nvSpPr>
          <p:cNvPr id="255" name="Google Shape;173;p22"/>
          <p:cNvSpPr/>
          <p:nvPr/>
        </p:nvSpPr>
        <p:spPr>
          <a:xfrm>
            <a:off x="9038590" y="2045335"/>
            <a:ext cx="2725420" cy="368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rgbClr val="FF0000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56" name="文本框 255"/>
          <p:cNvSpPr txBox="1"/>
          <p:nvPr/>
        </p:nvSpPr>
        <p:spPr>
          <a:xfrm>
            <a:off x="9067800" y="2065020"/>
            <a:ext cx="25742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失败影响以及原因分析</a:t>
            </a:r>
            <a:endParaRPr lang="zh-CN" altLang="en-US" sz="1600"/>
          </a:p>
        </p:txBody>
      </p:sp>
      <p:sp>
        <p:nvSpPr>
          <p:cNvPr id="257" name="文本框 256"/>
          <p:cNvSpPr txBox="1"/>
          <p:nvPr/>
        </p:nvSpPr>
        <p:spPr>
          <a:xfrm>
            <a:off x="9038590" y="2413635"/>
            <a:ext cx="157035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（抓取点，力度，位姿等）</a:t>
            </a:r>
            <a:endParaRPr lang="zh-CN" altLang="en-US" sz="900"/>
          </a:p>
        </p:txBody>
      </p:sp>
      <p:pic>
        <p:nvPicPr>
          <p:cNvPr id="259" name="图片 258" descr="示例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930255" y="3488690"/>
            <a:ext cx="506095" cy="269875"/>
          </a:xfrm>
          <a:prstGeom prst="rect">
            <a:avLst/>
          </a:prstGeom>
        </p:spPr>
      </p:pic>
      <p:sp>
        <p:nvSpPr>
          <p:cNvPr id="261" name="文本框 260"/>
          <p:cNvSpPr txBox="1"/>
          <p:nvPr/>
        </p:nvSpPr>
        <p:spPr>
          <a:xfrm>
            <a:off x="10297795" y="3886200"/>
            <a:ext cx="13442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经验库更新</a:t>
            </a:r>
            <a:endParaRPr lang="zh-CN" altLang="en-US" sz="1600"/>
          </a:p>
        </p:txBody>
      </p:sp>
      <p:pic>
        <p:nvPicPr>
          <p:cNvPr id="263" name="图形 68608" descr="箭头顺时针弯曲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 rot="11874659">
            <a:off x="10929620" y="2512060"/>
            <a:ext cx="245745" cy="73850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64" name="图形 68608" descr="箭头顺时针弯曲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 rot="20525341" flipH="1">
            <a:off x="10727055" y="4323715"/>
            <a:ext cx="245745" cy="60579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65" name="图片 26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242675" y="2045335"/>
            <a:ext cx="399415" cy="389255"/>
          </a:xfrm>
          <a:prstGeom prst="rect">
            <a:avLst/>
          </a:prstGeom>
        </p:spPr>
      </p:pic>
      <p:sp>
        <p:nvSpPr>
          <p:cNvPr id="266" name="文本框 265"/>
          <p:cNvSpPr txBox="1"/>
          <p:nvPr/>
        </p:nvSpPr>
        <p:spPr>
          <a:xfrm>
            <a:off x="5175250" y="23164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Arm1</a:t>
            </a:r>
            <a:endParaRPr lang="en-US" altLang="zh-CN"/>
          </a:p>
        </p:txBody>
      </p:sp>
      <p:sp>
        <p:nvSpPr>
          <p:cNvPr id="267" name="文本框 266"/>
          <p:cNvSpPr txBox="1"/>
          <p:nvPr/>
        </p:nvSpPr>
        <p:spPr>
          <a:xfrm>
            <a:off x="4992370" y="5920740"/>
            <a:ext cx="812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</a:t>
            </a:r>
            <a:r>
              <a:rPr lang="en-US" altLang="zh-CN"/>
              <a:t>rm2</a:t>
            </a:r>
            <a:endParaRPr lang="en-US" altLang="zh-CN"/>
          </a:p>
        </p:txBody>
      </p:sp>
      <p:pic>
        <p:nvPicPr>
          <p:cNvPr id="268" name="图片 267" descr="省略号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304530" y="2103755"/>
            <a:ext cx="405130" cy="405130"/>
          </a:xfrm>
          <a:prstGeom prst="rect">
            <a:avLst/>
          </a:prstGeom>
        </p:spPr>
      </p:pic>
      <p:pic>
        <p:nvPicPr>
          <p:cNvPr id="2" name="图片 1" descr="获得成功"/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1642090" y="1183640"/>
            <a:ext cx="492125" cy="492125"/>
          </a:xfrm>
          <a:prstGeom prst="rect">
            <a:avLst/>
          </a:prstGeom>
        </p:spPr>
      </p:pic>
      <p:pic>
        <p:nvPicPr>
          <p:cNvPr id="11" name="图片 10" descr="英语水平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349865" y="3329305"/>
            <a:ext cx="403860" cy="40386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0281920" y="3687445"/>
            <a:ext cx="6483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API</a:t>
            </a:r>
            <a:r>
              <a:rPr lang="zh-CN" altLang="en-US" sz="1400"/>
              <a:t>库</a:t>
            </a:r>
            <a:endParaRPr lang="zh-CN" altLang="en-US" sz="1400"/>
          </a:p>
        </p:txBody>
      </p:sp>
      <p:pic>
        <p:nvPicPr>
          <p:cNvPr id="15" name="图片 14" descr="省略号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1163300" y="1270635"/>
            <a:ext cx="405130" cy="405130"/>
          </a:xfrm>
          <a:prstGeom prst="rect">
            <a:avLst/>
          </a:prstGeom>
        </p:spPr>
      </p:pic>
      <p:pic>
        <p:nvPicPr>
          <p:cNvPr id="19" name="图片 18" descr="获得成功"/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1463655" y="5781675"/>
            <a:ext cx="492125" cy="492125"/>
          </a:xfrm>
          <a:prstGeom prst="rect">
            <a:avLst/>
          </a:prstGeom>
        </p:spPr>
      </p:pic>
      <p:pic>
        <p:nvPicPr>
          <p:cNvPr id="20" name="图片 19" descr="省略号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984865" y="5868670"/>
            <a:ext cx="405130" cy="405130"/>
          </a:xfrm>
          <a:prstGeom prst="rect">
            <a:avLst/>
          </a:prstGeom>
        </p:spPr>
      </p:pic>
      <p:cxnSp>
        <p:nvCxnSpPr>
          <p:cNvPr id="24" name="肘形连接符 23"/>
          <p:cNvCxnSpPr>
            <a:endCxn id="262" idx="3"/>
          </p:cNvCxnSpPr>
          <p:nvPr/>
        </p:nvCxnSpPr>
        <p:spPr>
          <a:xfrm rot="16200000" flipV="1">
            <a:off x="10664825" y="4622165"/>
            <a:ext cx="1971675" cy="341630"/>
          </a:xfrm>
          <a:prstGeom prst="bentConnector2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肘形连接符 24"/>
          <p:cNvCxnSpPr/>
          <p:nvPr/>
        </p:nvCxnSpPr>
        <p:spPr>
          <a:xfrm rot="5400000">
            <a:off x="10664825" y="2490470"/>
            <a:ext cx="1971675" cy="341630"/>
          </a:xfrm>
          <a:prstGeom prst="bentConnector2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  <p:bldLst>
      <p:bldP spid="121" grpId="0" animBg="1"/>
      <p:bldP spid="121" grpId="1" animBg="1"/>
      <p:bldP spid="7192" grpId="0" animBg="1"/>
      <p:bldP spid="7192" grpId="1" animBg="1"/>
      <p:bldP spid="194" grpId="0" animBg="1"/>
      <p:bldP spid="194" grpId="1" animBg="1"/>
      <p:bldP spid="216" grpId="0" animBg="1"/>
      <p:bldP spid="216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522605" y="350520"/>
            <a:ext cx="11668760" cy="621030"/>
            <a:chOff x="420" y="216"/>
            <a:chExt cx="18376" cy="978"/>
          </a:xfrm>
        </p:grpSpPr>
        <p:grpSp>
          <p:nvGrpSpPr>
            <p:cNvPr id="29" name="组合 28"/>
            <p:cNvGrpSpPr/>
            <p:nvPr/>
          </p:nvGrpSpPr>
          <p:grpSpPr>
            <a:xfrm>
              <a:off x="13717" y="216"/>
              <a:ext cx="5079" cy="895"/>
              <a:chOff x="8733552" y="75111"/>
              <a:chExt cx="3224966" cy="570305"/>
            </a:xfrm>
          </p:grpSpPr>
          <p:sp>
            <p:nvSpPr>
              <p:cNvPr id="5" name="文本框 4"/>
              <p:cNvSpPr txBox="1"/>
              <p:nvPr/>
            </p:nvSpPr>
            <p:spPr>
              <a:xfrm>
                <a:off x="9158872" y="75417"/>
                <a:ext cx="2799646" cy="569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000" b="1" dirty="0">
                    <a:solidFill>
                      <a:srgbClr val="183884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机器人科学与工程学院</a:t>
                </a:r>
                <a:endParaRPr lang="en-US" altLang="zh-CN" sz="2000" b="1" dirty="0">
                  <a:solidFill>
                    <a:srgbClr val="183884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1100" b="1" i="1" u="sng" dirty="0">
                    <a:solidFill>
                      <a:srgbClr val="183884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Faculty of Robot Science and Engineering</a:t>
                </a:r>
                <a:endParaRPr lang="zh-CN" altLang="zh-CN" sz="1100" b="1" i="1" u="sng" dirty="0">
                  <a:solidFill>
                    <a:srgbClr val="183884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1">
                <a:extLst>
                  <a:ext uri="{BEBA8EAE-BF5A-486C-A8C5-ECC9F3942E4B}">
                    <a14:imgProps xmlns:a14="http://schemas.microsoft.com/office/drawing/2010/main">
                      <a14:imgLayer r:embed="rId2">
                        <a14:imgEffect>
                          <a14:artisticPaintBrush brushSize="10"/>
                        </a14:imgEffect>
                        <a14:imgEffect>
                          <a14:sharpenSoften amount="44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33552" y="75111"/>
                <a:ext cx="551050" cy="546198"/>
              </a:xfrm>
              <a:prstGeom prst="rect">
                <a:avLst/>
              </a:prstGeom>
            </p:spPr>
          </p:pic>
        </p:grpSp>
        <p:cxnSp>
          <p:nvCxnSpPr>
            <p:cNvPr id="7" name="直接连接符 9"/>
            <p:cNvCxnSpPr/>
            <p:nvPr/>
          </p:nvCxnSpPr>
          <p:spPr>
            <a:xfrm>
              <a:off x="420" y="1194"/>
              <a:ext cx="18376" cy="0"/>
            </a:xfrm>
            <a:prstGeom prst="line">
              <a:avLst/>
            </a:prstGeom>
            <a:ln w="38100" cap="flat" cmpd="sng" algn="ctr">
              <a:solidFill>
                <a:schemeClr val="accent5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cxnSp>
        <p:nvCxnSpPr>
          <p:cNvPr id="12" name="直接连接符 9"/>
          <p:cNvCxnSpPr/>
          <p:nvPr>
            <p:custDataLst>
              <p:tags r:id="rId3"/>
            </p:custDataLst>
          </p:nvPr>
        </p:nvCxnSpPr>
        <p:spPr>
          <a:xfrm>
            <a:off x="266700" y="6333924"/>
            <a:ext cx="11668626" cy="0"/>
          </a:xfrm>
          <a:prstGeom prst="line">
            <a:avLst/>
          </a:prstGeom>
          <a:ln w="3810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1" name="文本框 120"/>
          <p:cNvSpPr txBox="1"/>
          <p:nvPr/>
        </p:nvSpPr>
        <p:spPr>
          <a:xfrm>
            <a:off x="3878580" y="379095"/>
            <a:ext cx="4886325" cy="530225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noAutofit/>
          </a:bodyPr>
          <a:p>
            <a:pPr algn="l" fontAlgn="base">
              <a:buClrTx/>
              <a:buSzTx/>
              <a:buFontTx/>
            </a:pP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基于结构化记忆的上下文检索框架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pPr algn="l" fontAlgn="base">
              <a:buClrTx/>
              <a:buSzTx/>
              <a:buFontTx/>
            </a:pP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pPr algn="ctr"/>
            <a:endParaRPr lang="zh-CN" altLang="en-US" sz="2400" i="1" dirty="0" err="1">
              <a:ln>
                <a:solidFill>
                  <a:schemeClr val="tx1"/>
                </a:solidFill>
              </a:ln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174625" y="6406515"/>
            <a:ext cx="441325" cy="332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➢</a:t>
            </a:r>
            <a:r>
              <a:rPr lang="en-US" altLang="zh-CN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endParaRPr lang="zh-CN" altLang="en-US" b="1" i="1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34" name="文本框 33">
            <a:hlinkClick r:id="rId5"/>
          </p:cNvPr>
          <p:cNvSpPr txBox="1"/>
          <p:nvPr/>
        </p:nvSpPr>
        <p:spPr>
          <a:xfrm>
            <a:off x="451485" y="372745"/>
            <a:ext cx="1868170" cy="5219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altLang="zh-CN" sz="1400" b="1" i="1" u="sng" dirty="0">
                <a:solidFill>
                  <a:srgbClr val="183884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Research Background and Significance</a:t>
            </a:r>
            <a:endParaRPr lang="en-US" altLang="zh-CN" sz="1400" b="1" i="1" u="sng" dirty="0">
              <a:solidFill>
                <a:srgbClr val="183884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605" y="6352540"/>
            <a:ext cx="499110" cy="50546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769037" y="6406515"/>
            <a:ext cx="1758507" cy="40850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D9D8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308735" y="6406515"/>
            <a:ext cx="1933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研究背景及意义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265045" y="6406752"/>
            <a:ext cx="228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研究综述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839179" y="6446757"/>
            <a:ext cx="163830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研究内容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706014" y="6435952"/>
            <a:ext cx="163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前期工作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572850" y="6458285"/>
            <a:ext cx="163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研究计划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1465286" y="6352823"/>
            <a:ext cx="469673" cy="29189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Rounded Rectangle 2"/>
          <p:cNvSpPr/>
          <p:nvPr>
            <p:custDataLst>
              <p:tags r:id="rId7"/>
            </p:custDataLst>
          </p:nvPr>
        </p:nvSpPr>
        <p:spPr>
          <a:xfrm>
            <a:off x="351155" y="1093470"/>
            <a:ext cx="11612880" cy="1417320"/>
          </a:xfrm>
          <a:prstGeom prst="roundRect">
            <a:avLst/>
          </a:prstGeom>
          <a:solidFill>
            <a:srgbClr val="F5F8FF"/>
          </a:solidFill>
          <a:ln w="9525" cap="flat" cmpd="sng" algn="ctr">
            <a:solidFill>
              <a:srgbClr val="2063D2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5" name="Rectangle 4"/>
          <p:cNvSpPr/>
          <p:nvPr>
            <p:custDataLst>
              <p:tags r:id="rId8"/>
            </p:custDataLst>
          </p:nvPr>
        </p:nvSpPr>
        <p:spPr>
          <a:xfrm>
            <a:off x="442595" y="1002030"/>
            <a:ext cx="2011680" cy="320040"/>
          </a:xfrm>
          <a:prstGeom prst="rect">
            <a:avLst/>
          </a:prstGeom>
          <a:solidFill>
            <a:srgbClr val="2063D2"/>
          </a:solidFill>
          <a:ln w="9525" cap="flat" cmpd="sng" algn="ctr">
            <a:solidFill>
              <a:srgbClr val="2063D2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>
                <a:solidFill>
                  <a:sysClr val="window" lastClr="FFFFFF"/>
                </a:solidFill>
              </a:rPr>
              <a:t>离线构建 · Offline</a:t>
            </a:r>
            <a:endParaRPr>
              <a:solidFill>
                <a:sysClr val="window" lastClr="FFFFFF"/>
              </a:solidFill>
            </a:endParaRPr>
          </a:p>
        </p:txBody>
      </p:sp>
      <p:sp>
        <p:nvSpPr>
          <p:cNvPr id="136" name="Rounded Rectangle 6"/>
          <p:cNvSpPr/>
          <p:nvPr>
            <p:custDataLst>
              <p:tags r:id="rId9"/>
            </p:custDataLst>
          </p:nvPr>
        </p:nvSpPr>
        <p:spPr>
          <a:xfrm>
            <a:off x="534035" y="1276350"/>
            <a:ext cx="3108960" cy="100584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2D3748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algn="ctr">
              <a:defRPr sz="1200" b="1">
                <a:solidFill>
                  <a:srgbClr val="374151"/>
                </a:solidFill>
              </a:defRPr>
            </a:pPr>
            <a:r>
              <a:rPr>
                <a:solidFill>
                  <a:srgbClr val="C00000"/>
                </a:solidFill>
                <a:latin typeface="+mn-ea"/>
                <a:cs typeface="+mn-ea"/>
                <a:sym typeface="+mn-ea"/>
              </a:rPr>
              <a:t>记忆分层构建</a:t>
            </a:r>
            <a:r>
              <a:rPr>
                <a:latin typeface="+mn-ea"/>
                <a:cs typeface="+mn-ea"/>
                <a:sym typeface="+mn-ea"/>
              </a:rPr>
              <a:t>：Immediate / Recall / Archive</a:t>
            </a:r>
            <a:br>
              <a:rPr>
                <a:latin typeface="+mn-ea"/>
                <a:cs typeface="+mn-ea"/>
                <a:sym typeface="+mn-ea"/>
              </a:rPr>
            </a:br>
            <a:r>
              <a:rPr>
                <a:latin typeface="+mn-ea"/>
                <a:cs typeface="+mn-ea"/>
                <a:sym typeface="+mn-ea"/>
              </a:rPr>
              <a:t>— 抽取 API </a:t>
            </a:r>
            <a:r>
              <a:rPr>
                <a:solidFill>
                  <a:srgbClr val="C00000"/>
                </a:solidFill>
                <a:latin typeface="+mn-ea"/>
                <a:cs typeface="+mn-ea"/>
                <a:sym typeface="+mn-ea"/>
              </a:rPr>
              <a:t>签名/语义/CFG,DFG</a:t>
            </a:r>
            <a:br>
              <a:rPr>
                <a:solidFill>
                  <a:srgbClr val="C00000"/>
                </a:solidFill>
                <a:latin typeface="+mn-ea"/>
                <a:cs typeface="+mn-ea"/>
                <a:sym typeface="+mn-ea"/>
              </a:rPr>
            </a:br>
            <a:r>
              <a:rPr>
                <a:latin typeface="+mn-ea"/>
                <a:cs typeface="+mn-ea"/>
                <a:sym typeface="+mn-ea"/>
              </a:rPr>
              <a:t>— 建立分片索引与路由标签</a:t>
            </a:r>
            <a:br>
              <a:rPr>
                <a:solidFill>
                  <a:schemeClr val="tx1"/>
                </a:solidFill>
                <a:latin typeface="+mn-ea"/>
                <a:cs typeface="+mn-ea"/>
              </a:rPr>
            </a:br>
            <a:r>
              <a:rPr>
                <a:solidFill>
                  <a:schemeClr val="tx1"/>
                </a:solidFill>
                <a:latin typeface="+mn-ea"/>
                <a:cs typeface="+mn-ea"/>
              </a:rPr>
              <a:t>(gripper_ctrl, move, move_slow…)</a:t>
            </a:r>
            <a:endParaRPr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137" name="Right Arrow 7"/>
          <p:cNvSpPr/>
          <p:nvPr>
            <p:custDataLst>
              <p:tags r:id="rId10"/>
            </p:custDataLst>
          </p:nvPr>
        </p:nvSpPr>
        <p:spPr>
          <a:xfrm>
            <a:off x="3780155" y="1632966"/>
            <a:ext cx="548640" cy="292608"/>
          </a:xfrm>
          <a:prstGeom prst="rightArrow">
            <a:avLst/>
          </a:prstGeom>
          <a:solidFill>
            <a:srgbClr val="2D3748"/>
          </a:solidFill>
          <a:ln w="9525" cap="flat" cmpd="sng" algn="ctr">
            <a:solidFill>
              <a:srgbClr val="2D3748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8" name="Rounded Rectangle 8"/>
          <p:cNvSpPr/>
          <p:nvPr>
            <p:custDataLst>
              <p:tags r:id="rId11"/>
            </p:custDataLst>
          </p:nvPr>
        </p:nvSpPr>
        <p:spPr>
          <a:xfrm>
            <a:off x="4465955" y="1276350"/>
            <a:ext cx="3291840" cy="100584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2D3748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algn="ctr">
              <a:defRPr sz="1200" b="1">
                <a:solidFill>
                  <a:srgbClr val="374151"/>
                </a:solidFill>
              </a:defRPr>
            </a:pPr>
            <a:r>
              <a:rPr sz="14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提示编译/模板蒸馏</a:t>
            </a: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（周期执行）</a:t>
            </a:r>
            <a:b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— 将高频调用套路固化为短模板</a:t>
            </a:r>
            <a:b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— 生成单测/参数边界检查</a:t>
            </a:r>
            <a:endParaRPr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9" name="Right Arrow 9"/>
          <p:cNvSpPr/>
          <p:nvPr>
            <p:custDataLst>
              <p:tags r:id="rId12"/>
            </p:custDataLst>
          </p:nvPr>
        </p:nvSpPr>
        <p:spPr>
          <a:xfrm>
            <a:off x="7894955" y="1632966"/>
            <a:ext cx="548640" cy="292608"/>
          </a:xfrm>
          <a:prstGeom prst="rightArrow">
            <a:avLst/>
          </a:prstGeom>
          <a:solidFill>
            <a:srgbClr val="2D3748"/>
          </a:solidFill>
          <a:ln w="9525" cap="flat" cmpd="sng" algn="ctr">
            <a:solidFill>
              <a:srgbClr val="2D3748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0" name="Rounded Rectangle 10"/>
          <p:cNvSpPr/>
          <p:nvPr>
            <p:custDataLst>
              <p:tags r:id="rId13"/>
            </p:custDataLst>
          </p:nvPr>
        </p:nvSpPr>
        <p:spPr>
          <a:xfrm>
            <a:off x="8580755" y="1276350"/>
            <a:ext cx="2971800" cy="1005840"/>
          </a:xfrm>
          <a:prstGeom prst="roundRect">
            <a:avLst/>
          </a:prstGeom>
          <a:solidFill>
            <a:srgbClr val="FFFBF5"/>
          </a:solidFill>
          <a:ln w="9525" cap="flat" cmpd="sng" algn="ctr">
            <a:solidFill>
              <a:srgbClr val="F2994A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algn="ctr">
              <a:defRPr sz="1200" b="1">
                <a:solidFill>
                  <a:srgbClr val="374151"/>
                </a:solidFill>
              </a:defRPr>
            </a:pPr>
            <a:r>
              <a:rPr>
                <a:solidFill>
                  <a:srgbClr val="C00000"/>
                </a:solidFill>
                <a:latin typeface="+mj-ea"/>
                <a:ea typeface="+mj-ea"/>
                <a:cs typeface="+mj-ea"/>
              </a:rPr>
              <a:t>工具选择器蒸馏</a:t>
            </a:r>
            <a:r>
              <a:rPr>
                <a:solidFill>
                  <a:schemeClr val="tx1"/>
                </a:solidFill>
                <a:latin typeface="+mj-ea"/>
                <a:ea typeface="+mj-ea"/>
                <a:cs typeface="+mj-ea"/>
              </a:rPr>
              <a:t>（~3B）</a:t>
            </a:r>
            <a:br>
              <a:rPr>
                <a:solidFill>
                  <a:schemeClr val="tx1"/>
                </a:solidFill>
                <a:latin typeface="+mj-ea"/>
                <a:ea typeface="+mj-ea"/>
                <a:cs typeface="+mj-ea"/>
              </a:rPr>
            </a:br>
            <a:r>
              <a:rPr>
                <a:solidFill>
                  <a:schemeClr val="tx1"/>
                </a:solidFill>
                <a:latin typeface="+mj-ea"/>
                <a:ea typeface="+mj-ea"/>
                <a:cs typeface="+mj-ea"/>
              </a:rPr>
              <a:t>偏好：pick_and_place_verified</a:t>
            </a:r>
            <a:br>
              <a:rPr>
                <a:solidFill>
                  <a:schemeClr val="tx1"/>
                </a:solidFill>
                <a:latin typeface="+mj-ea"/>
                <a:ea typeface="+mj-ea"/>
                <a:cs typeface="+mj-ea"/>
              </a:rPr>
            </a:br>
            <a:r>
              <a:rPr>
                <a:solidFill>
                  <a:schemeClr val="tx1"/>
                </a:solidFill>
                <a:latin typeface="+mj-ea"/>
                <a:ea typeface="+mj-ea"/>
                <a:cs typeface="+mj-ea"/>
              </a:rPr>
              <a:t>告警：place_object_in_container(无重试/无VLM)</a:t>
            </a:r>
            <a:endParaRPr>
              <a:solidFill>
                <a:schemeClr val="tx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69" name="Rounded Rectangle 3"/>
          <p:cNvSpPr/>
          <p:nvPr>
            <p:custDataLst>
              <p:tags r:id="rId14"/>
            </p:custDataLst>
          </p:nvPr>
        </p:nvSpPr>
        <p:spPr>
          <a:xfrm>
            <a:off x="274320" y="2685415"/>
            <a:ext cx="11612880" cy="1417320"/>
          </a:xfrm>
          <a:prstGeom prst="roundRect">
            <a:avLst/>
          </a:prstGeom>
          <a:solidFill>
            <a:srgbClr val="F5F8FF"/>
          </a:solidFill>
          <a:ln w="9525" cap="flat" cmpd="sng" algn="ctr">
            <a:solidFill>
              <a:srgbClr val="2063D2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0" name="Rectangle 5"/>
          <p:cNvSpPr/>
          <p:nvPr>
            <p:custDataLst>
              <p:tags r:id="rId15"/>
            </p:custDataLst>
          </p:nvPr>
        </p:nvSpPr>
        <p:spPr>
          <a:xfrm>
            <a:off x="365760" y="2593975"/>
            <a:ext cx="2011680" cy="320040"/>
          </a:xfrm>
          <a:prstGeom prst="rect">
            <a:avLst/>
          </a:prstGeom>
          <a:solidFill>
            <a:srgbClr val="2063D2"/>
          </a:solidFill>
          <a:ln w="9525" cap="flat" cmpd="sng" algn="ctr">
            <a:solidFill>
              <a:srgbClr val="2063D2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>
                <a:solidFill>
                  <a:sysClr val="window" lastClr="FFFFFF"/>
                </a:solidFill>
              </a:rPr>
              <a:t>在线运行 · Runtime</a:t>
            </a:r>
            <a:endParaRPr>
              <a:solidFill>
                <a:sysClr val="window" lastClr="FFFFFF"/>
              </a:solidFill>
            </a:endParaRPr>
          </a:p>
        </p:txBody>
      </p:sp>
      <p:sp>
        <p:nvSpPr>
          <p:cNvPr id="171" name="Rounded Rectangle 11"/>
          <p:cNvSpPr/>
          <p:nvPr>
            <p:custDataLst>
              <p:tags r:id="rId16"/>
            </p:custDataLst>
          </p:nvPr>
        </p:nvSpPr>
        <p:spPr>
          <a:xfrm>
            <a:off x="457200" y="2868295"/>
            <a:ext cx="2743200" cy="100584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2D3748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algn="ctr">
              <a:defRPr sz="1200" b="1">
                <a:solidFill>
                  <a:srgbClr val="374151"/>
                </a:solidFill>
              </a:defRPr>
            </a:pPr>
            <a:r>
              <a:rPr sz="1400">
                <a:sym typeface="+mn-ea"/>
              </a:rPr>
              <a:t>任务/场景 → 查询扩展</a:t>
            </a:r>
            <a:br>
              <a:rPr sz="1400">
                <a:sym typeface="+mn-ea"/>
              </a:rPr>
            </a:br>
            <a:r>
              <a:rPr sz="1400">
                <a:sym typeface="+mn-ea"/>
              </a:rPr>
              <a:t>(同义/等价API/占位)</a:t>
            </a:r>
            <a:endParaRPr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172" name="Right Arrow 12"/>
          <p:cNvSpPr/>
          <p:nvPr>
            <p:custDataLst>
              <p:tags r:id="rId17"/>
            </p:custDataLst>
          </p:nvPr>
        </p:nvSpPr>
        <p:spPr>
          <a:xfrm>
            <a:off x="3337560" y="3224911"/>
            <a:ext cx="548640" cy="292608"/>
          </a:xfrm>
          <a:prstGeom prst="rightArrow">
            <a:avLst/>
          </a:prstGeom>
          <a:solidFill>
            <a:srgbClr val="2D3748"/>
          </a:solidFill>
          <a:ln w="9525" cap="flat" cmpd="sng" algn="ctr">
            <a:solidFill>
              <a:srgbClr val="2D3748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3" name="Rounded Rectangle 13"/>
          <p:cNvSpPr/>
          <p:nvPr>
            <p:custDataLst>
              <p:tags r:id="rId18"/>
            </p:custDataLst>
          </p:nvPr>
        </p:nvSpPr>
        <p:spPr>
          <a:xfrm>
            <a:off x="3977639" y="2868295"/>
            <a:ext cx="3200400" cy="100584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2D3748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algn="ctr">
              <a:defRPr sz="1200" b="1">
                <a:solidFill>
                  <a:srgbClr val="374151"/>
                </a:solidFill>
              </a:defRPr>
            </a:pPr>
            <a:r>
              <a:rPr sz="1400">
                <a:sym typeface="+mn-ea"/>
              </a:rPr>
              <a:t>在线裁剪与检索：</a:t>
            </a:r>
            <a:br>
              <a:rPr sz="1400">
                <a:sym typeface="+mn-ea"/>
              </a:rPr>
            </a:br>
            <a:r>
              <a:rPr sz="1400">
                <a:sym typeface="+mn-ea"/>
              </a:rPr>
              <a:t>只加载</a:t>
            </a:r>
            <a:r>
              <a:rPr sz="1400">
                <a:solidFill>
                  <a:srgbClr val="C00000"/>
                </a:solidFill>
                <a:sym typeface="+mn-ea"/>
              </a:rPr>
              <a:t>“即时 + 少量召回”</a:t>
            </a:r>
            <a:br>
              <a:rPr sz="1400">
                <a:sym typeface="+mn-ea"/>
              </a:rPr>
            </a:br>
            <a:r>
              <a:rPr sz="1400">
                <a:sym typeface="+mn-ea"/>
              </a:rPr>
              <a:t>其余通过分层索引路由按需检索</a:t>
            </a:r>
            <a:br>
              <a:rPr sz="1400">
                <a:sym typeface="+mn-ea"/>
              </a:rPr>
            </a:br>
            <a:r>
              <a:rPr sz="1400">
                <a:solidFill>
                  <a:srgbClr val="C00000"/>
                </a:solidFill>
                <a:sym typeface="+mn-ea"/>
              </a:rPr>
              <a:t>Top</a:t>
            </a:r>
            <a:r>
              <a:rPr lang="en-US" sz="1400">
                <a:solidFill>
                  <a:srgbClr val="C00000"/>
                </a:solidFill>
                <a:sym typeface="+mn-ea"/>
              </a:rPr>
              <a:t>-</a:t>
            </a:r>
            <a:r>
              <a:rPr sz="1400">
                <a:solidFill>
                  <a:srgbClr val="C00000"/>
                </a:solidFill>
                <a:sym typeface="+mn-ea"/>
              </a:rPr>
              <a:t>k + MMR 取最小必需子集</a:t>
            </a:r>
            <a:endParaRPr sz="1400">
              <a:solidFill>
                <a:srgbClr val="C00000"/>
              </a:solidFill>
              <a:sym typeface="+mn-ea"/>
            </a:endParaRPr>
          </a:p>
        </p:txBody>
      </p:sp>
      <p:sp>
        <p:nvSpPr>
          <p:cNvPr id="174" name="Right Arrow 14"/>
          <p:cNvSpPr/>
          <p:nvPr>
            <p:custDataLst>
              <p:tags r:id="rId19"/>
            </p:custDataLst>
          </p:nvPr>
        </p:nvSpPr>
        <p:spPr>
          <a:xfrm>
            <a:off x="7315200" y="3224911"/>
            <a:ext cx="548640" cy="292608"/>
          </a:xfrm>
          <a:prstGeom prst="rightArrow">
            <a:avLst/>
          </a:prstGeom>
          <a:solidFill>
            <a:srgbClr val="2D3748"/>
          </a:solidFill>
          <a:ln w="9525" cap="flat" cmpd="sng" algn="ctr">
            <a:solidFill>
              <a:srgbClr val="2D3748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5" name="Rounded Rectangle 15"/>
          <p:cNvSpPr/>
          <p:nvPr>
            <p:custDataLst>
              <p:tags r:id="rId20"/>
            </p:custDataLst>
          </p:nvPr>
        </p:nvSpPr>
        <p:spPr>
          <a:xfrm>
            <a:off x="7955279" y="2868295"/>
            <a:ext cx="3566160" cy="100584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2D3748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algn="ctr">
              <a:defRPr sz="1200" b="1">
                <a:solidFill>
                  <a:srgbClr val="374151"/>
                </a:solidFill>
              </a:defRPr>
            </a:pPr>
            <a:r>
              <a:rPr sz="1400">
                <a:sym typeface="+mn-ea"/>
              </a:rPr>
              <a:t>路由器裁剪 + 提示编译</a:t>
            </a:r>
            <a:br>
              <a:rPr sz="1400">
                <a:sym typeface="+mn-ea"/>
              </a:rPr>
            </a:br>
            <a:r>
              <a:rPr sz="1400">
                <a:sym typeface="+mn-ea"/>
              </a:rPr>
              <a:t>→ </a:t>
            </a:r>
            <a:r>
              <a:rPr sz="1400">
                <a:solidFill>
                  <a:srgbClr val="C00000"/>
                </a:solidFill>
                <a:sym typeface="+mn-ea"/>
              </a:rPr>
              <a:t>最短上下文</a:t>
            </a:r>
            <a:r>
              <a:rPr sz="1400">
                <a:sym typeface="+mn-ea"/>
              </a:rPr>
              <a:t> → LLM 生成Python</a:t>
            </a:r>
            <a:endParaRPr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177" name="Rounded Rectangle 17"/>
          <p:cNvSpPr/>
          <p:nvPr/>
        </p:nvSpPr>
        <p:spPr>
          <a:xfrm>
            <a:off x="190500" y="4198620"/>
            <a:ext cx="7772400" cy="18288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2D3748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>
              <a:defRPr sz="2000" b="1">
                <a:solidFill>
                  <a:srgbClr val="2063D2"/>
                </a:solidFill>
              </a:defRPr>
            </a:pPr>
            <a:r>
              <a:rPr>
                <a:solidFill>
                  <a:schemeClr val="tx1"/>
                </a:solidFill>
              </a:rPr>
              <a:t>实现流程（可行性）</a:t>
            </a:r>
            <a:endParaRPr>
              <a:solidFill>
                <a:schemeClr val="tx1"/>
              </a:solidFill>
            </a:endParaRPr>
          </a:p>
          <a:p>
            <a:pPr>
              <a:defRPr sz="1300">
                <a:solidFill>
                  <a:srgbClr val="374151"/>
                </a:solidFill>
              </a:defRPr>
            </a:pPr>
            <a:r>
              <a:rPr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• 为每个 API 生成</a:t>
            </a:r>
            <a:r>
              <a:rPr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{签名,语义,CFG/DFG,约束}</a:t>
            </a:r>
            <a:r>
              <a:rPr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 分片索引 + 路由标签</a:t>
            </a:r>
            <a:endParaRPr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defRPr sz="1300">
                <a:solidFill>
                  <a:srgbClr val="374151"/>
                </a:solidFill>
              </a:defRPr>
            </a:pPr>
            <a:r>
              <a:rPr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• </a:t>
            </a:r>
            <a:r>
              <a:rPr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周期性模板蒸馏</a:t>
            </a:r>
            <a:r>
              <a:rPr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：抽取高频“调用套路”→短模板 + 单测 + 参数边界</a:t>
            </a:r>
            <a:endParaRPr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defRPr sz="1300">
                <a:solidFill>
                  <a:srgbClr val="374151"/>
                </a:solidFill>
              </a:defRPr>
            </a:pPr>
            <a:r>
              <a:rPr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• 在线只取</a:t>
            </a:r>
            <a:r>
              <a:rPr sz="1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Immediate+少量 Recall</a:t>
            </a:r>
            <a:r>
              <a:rPr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，其余在检索时按层路由，避免提示膨胀</a:t>
            </a:r>
            <a:endParaRPr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defRPr sz="1300">
                <a:solidFill>
                  <a:srgbClr val="374151"/>
                </a:solidFill>
              </a:defRPr>
            </a:pPr>
            <a:r>
              <a:rPr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• 检索用</a:t>
            </a:r>
            <a:r>
              <a:rPr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Top-k + MMR</a:t>
            </a:r>
            <a:r>
              <a:rPr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保证相关性与多样性；路由器筛 API 子集与示例顺序</a:t>
            </a:r>
            <a:endParaRPr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defRPr sz="1300">
                <a:solidFill>
                  <a:srgbClr val="374151"/>
                </a:solidFill>
              </a:defRPr>
            </a:pPr>
            <a:r>
              <a:rPr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• 输出</a:t>
            </a:r>
            <a:r>
              <a:rPr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最小必需上下文</a:t>
            </a:r>
            <a:r>
              <a:rPr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→ LLM 生成 Python（固定技能库）</a:t>
            </a:r>
            <a:endParaRPr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9" name="Rounded Rectangle 18"/>
          <p:cNvSpPr/>
          <p:nvPr/>
        </p:nvSpPr>
        <p:spPr>
          <a:xfrm>
            <a:off x="8229600" y="4196079"/>
            <a:ext cx="3657600" cy="320040"/>
          </a:xfrm>
          <a:prstGeom prst="roundRect">
            <a:avLst/>
          </a:prstGeom>
          <a:solidFill>
            <a:srgbClr val="2ECC71"/>
          </a:solidFill>
          <a:ln w="9525" cap="flat" cmpd="sng" algn="ctr">
            <a:solidFill>
              <a:srgbClr val="2ECC71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>
                <a:solidFill>
                  <a:sysClr val="window" lastClr="FFFFFF"/>
                </a:solidFill>
              </a:rPr>
              <a:t>评价指标（与平铺RAG对比）</a:t>
            </a:r>
            <a:endParaRPr>
              <a:solidFill>
                <a:sysClr val="window" lastClr="FFFFFF"/>
              </a:solidFill>
            </a:endParaRPr>
          </a:p>
        </p:txBody>
      </p:sp>
      <p:sp>
        <p:nvSpPr>
          <p:cNvPr id="184" name="Rounded Rectangle 19"/>
          <p:cNvSpPr/>
          <p:nvPr/>
        </p:nvSpPr>
        <p:spPr>
          <a:xfrm>
            <a:off x="8054340" y="4521835"/>
            <a:ext cx="3863340" cy="1764030"/>
          </a:xfrm>
          <a:prstGeom prst="roundRect">
            <a:avLst/>
          </a:prstGeom>
          <a:solidFill>
            <a:srgbClr val="F5FFF8"/>
          </a:solidFill>
          <a:ln w="9525" cap="flat" cmpd="sng" algn="ctr">
            <a:solidFill>
              <a:srgbClr val="2ECC71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l">
              <a:buClrTx/>
              <a:buSzTx/>
              <a:buFontTx/>
              <a:defRPr sz="1200">
                <a:solidFill>
                  <a:srgbClr val="374151"/>
                </a:solidFill>
              </a:defRPr>
            </a:pPr>
            <a:r>
              <a:rPr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• </a:t>
            </a:r>
            <a:r>
              <a:rPr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关键API召回率@k</a:t>
            </a:r>
            <a:r>
              <a:rPr lang="zh-CN" sz="14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示例多样性（去重</a:t>
            </a:r>
            <a:r>
              <a:rPr 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率）</a:t>
            </a:r>
            <a:endParaRPr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00">
                <a:solidFill>
                  <a:srgbClr val="374151"/>
                </a:solidFill>
              </a:defRPr>
            </a:pPr>
            <a:r>
              <a:rPr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• </a:t>
            </a:r>
            <a:r>
              <a:rPr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SR/ESR；FT/BT；</a:t>
            </a:r>
            <a:endParaRPr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00">
                <a:solidFill>
                  <a:srgbClr val="374151"/>
                </a:solidFill>
              </a:defRPr>
            </a:pPr>
            <a:r>
              <a:rPr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• </a:t>
            </a:r>
            <a:r>
              <a:rPr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检索/生成延迟；</a:t>
            </a:r>
            <a:endParaRPr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00">
                <a:solidFill>
                  <a:srgbClr val="374151"/>
                </a:solidFill>
              </a:defRPr>
            </a:pPr>
            <a:r>
              <a:rPr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• </a:t>
            </a:r>
            <a:r>
              <a:rPr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语法错误率；未定义调用率（静态检查）</a:t>
            </a:r>
            <a:r>
              <a:rPr 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121" grpId="0" animBg="1"/>
      <p:bldP spid="121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圆角矩形 20"/>
          <p:cNvSpPr/>
          <p:nvPr/>
        </p:nvSpPr>
        <p:spPr>
          <a:xfrm>
            <a:off x="5586730" y="2994660"/>
            <a:ext cx="6568440" cy="32004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522605" y="350520"/>
            <a:ext cx="11668760" cy="621030"/>
            <a:chOff x="420" y="216"/>
            <a:chExt cx="18376" cy="978"/>
          </a:xfrm>
        </p:grpSpPr>
        <p:grpSp>
          <p:nvGrpSpPr>
            <p:cNvPr id="29" name="组合 28"/>
            <p:cNvGrpSpPr/>
            <p:nvPr/>
          </p:nvGrpSpPr>
          <p:grpSpPr>
            <a:xfrm>
              <a:off x="13717" y="216"/>
              <a:ext cx="5079" cy="895"/>
              <a:chOff x="8733552" y="75111"/>
              <a:chExt cx="3224966" cy="570305"/>
            </a:xfrm>
          </p:grpSpPr>
          <p:sp>
            <p:nvSpPr>
              <p:cNvPr id="5" name="文本框 4"/>
              <p:cNvSpPr txBox="1"/>
              <p:nvPr/>
            </p:nvSpPr>
            <p:spPr>
              <a:xfrm>
                <a:off x="9158872" y="75417"/>
                <a:ext cx="2799646" cy="569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000" b="1" dirty="0">
                    <a:solidFill>
                      <a:srgbClr val="183884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机器人科学与工程学院</a:t>
                </a:r>
                <a:endParaRPr lang="en-US" altLang="zh-CN" sz="2000" b="1" dirty="0">
                  <a:solidFill>
                    <a:srgbClr val="183884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1100" b="1" i="1" u="sng" dirty="0">
                    <a:solidFill>
                      <a:srgbClr val="183884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Faculty of Robot Science and Engineering</a:t>
                </a:r>
                <a:endParaRPr lang="zh-CN" altLang="zh-CN" sz="1100" b="1" i="1" u="sng" dirty="0">
                  <a:solidFill>
                    <a:srgbClr val="183884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1">
                <a:extLst>
                  <a:ext uri="{BEBA8EAE-BF5A-486C-A8C5-ECC9F3942E4B}">
                    <a14:imgProps xmlns:a14="http://schemas.microsoft.com/office/drawing/2010/main">
                      <a14:imgLayer r:embed="rId2">
                        <a14:imgEffect>
                          <a14:artisticPaintBrush brushSize="10"/>
                        </a14:imgEffect>
                        <a14:imgEffect>
                          <a14:sharpenSoften amount="44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33552" y="75111"/>
                <a:ext cx="551050" cy="546198"/>
              </a:xfrm>
              <a:prstGeom prst="rect">
                <a:avLst/>
              </a:prstGeom>
            </p:spPr>
          </p:pic>
        </p:grpSp>
        <p:cxnSp>
          <p:nvCxnSpPr>
            <p:cNvPr id="7" name="直接连接符 9"/>
            <p:cNvCxnSpPr/>
            <p:nvPr/>
          </p:nvCxnSpPr>
          <p:spPr>
            <a:xfrm>
              <a:off x="420" y="1194"/>
              <a:ext cx="18376" cy="0"/>
            </a:xfrm>
            <a:prstGeom prst="line">
              <a:avLst/>
            </a:prstGeom>
            <a:ln w="38100" cap="flat" cmpd="sng" algn="ctr">
              <a:solidFill>
                <a:schemeClr val="accent5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cxnSp>
        <p:nvCxnSpPr>
          <p:cNvPr id="12" name="直接连接符 9"/>
          <p:cNvCxnSpPr/>
          <p:nvPr>
            <p:custDataLst>
              <p:tags r:id="rId3"/>
            </p:custDataLst>
          </p:nvPr>
        </p:nvCxnSpPr>
        <p:spPr>
          <a:xfrm>
            <a:off x="266700" y="6333924"/>
            <a:ext cx="11668626" cy="0"/>
          </a:xfrm>
          <a:prstGeom prst="line">
            <a:avLst/>
          </a:prstGeom>
          <a:ln w="3810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1" name="文本框 120"/>
          <p:cNvSpPr txBox="1"/>
          <p:nvPr/>
        </p:nvSpPr>
        <p:spPr>
          <a:xfrm>
            <a:off x="5053965" y="379095"/>
            <a:ext cx="1743075" cy="530225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noAutofit/>
          </a:bodyPr>
          <a:p>
            <a:pPr algn="l" fontAlgn="base">
              <a:buClrTx/>
              <a:buSzTx/>
              <a:buFontTx/>
            </a:pP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前期工作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pPr algn="ctr"/>
            <a:endParaRPr lang="zh-CN" altLang="en-US" sz="2400" i="1" dirty="0" err="1">
              <a:ln>
                <a:solidFill>
                  <a:schemeClr val="tx1"/>
                </a:solidFill>
              </a:ln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174625" y="6406515"/>
            <a:ext cx="441325" cy="332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➢</a:t>
            </a:r>
            <a:r>
              <a:rPr lang="en-US" altLang="zh-CN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endParaRPr lang="zh-CN" altLang="en-US" b="1" i="1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34" name="文本框 33">
            <a:hlinkClick r:id="rId5"/>
          </p:cNvPr>
          <p:cNvSpPr txBox="1"/>
          <p:nvPr/>
        </p:nvSpPr>
        <p:spPr>
          <a:xfrm>
            <a:off x="451485" y="372745"/>
            <a:ext cx="1868170" cy="5219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altLang="zh-CN" sz="1400" b="1" i="1" u="sng" dirty="0">
                <a:solidFill>
                  <a:srgbClr val="183884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Research Background and Significance</a:t>
            </a:r>
            <a:endParaRPr lang="en-US" altLang="zh-CN" sz="1400" b="1" i="1" u="sng" dirty="0">
              <a:solidFill>
                <a:srgbClr val="183884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605" y="6352540"/>
            <a:ext cx="499110" cy="50546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670862" y="6396990"/>
            <a:ext cx="1758507" cy="40850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D9D8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308735" y="6406515"/>
            <a:ext cx="1933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研究背景及意义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265045" y="6406752"/>
            <a:ext cx="228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研究综述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423889" y="6435962"/>
            <a:ext cx="163830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研究内容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706014" y="6435952"/>
            <a:ext cx="163830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前期工作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572850" y="6458285"/>
            <a:ext cx="163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研究计划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1465286" y="6352823"/>
            <a:ext cx="469673" cy="29189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 descr="roi_auto_detecti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5895" y="1480820"/>
            <a:ext cx="2882900" cy="2403475"/>
          </a:xfrm>
          <a:prstGeom prst="rect">
            <a:avLst/>
          </a:prstGeom>
          <a:ln w="47625">
            <a:solidFill>
              <a:schemeClr val="accent1"/>
            </a:solidFill>
          </a:ln>
        </p:spPr>
      </p:pic>
      <p:pic>
        <p:nvPicPr>
          <p:cNvPr id="11" name="图片 10" descr="roi_final_manual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57850" y="1033780"/>
            <a:ext cx="6277610" cy="1671320"/>
          </a:xfrm>
          <a:prstGeom prst="rect">
            <a:avLst/>
          </a:prstGeom>
        </p:spPr>
      </p:pic>
      <p:sp>
        <p:nvSpPr>
          <p:cNvPr id="13" name="圆角矩形 12"/>
          <p:cNvSpPr/>
          <p:nvPr/>
        </p:nvSpPr>
        <p:spPr>
          <a:xfrm>
            <a:off x="656590" y="1047115"/>
            <a:ext cx="4785360" cy="35814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RIO</a:t>
            </a:r>
            <a:r>
              <a:rPr lang="zh-CN" altLang="en-US">
                <a:solidFill>
                  <a:schemeClr val="tx1"/>
                </a:solidFill>
              </a:rPr>
              <a:t>区域</a:t>
            </a:r>
            <a:r>
              <a:rPr lang="zh-CN" altLang="en-US">
                <a:solidFill>
                  <a:schemeClr val="tx1"/>
                </a:solidFill>
              </a:rPr>
              <a:t>监测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46115" y="3178810"/>
            <a:ext cx="5608320" cy="91376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0" y="3692525"/>
            <a:ext cx="6042660" cy="9556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94145" y="4231640"/>
            <a:ext cx="4495800" cy="159194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28460" y="4648200"/>
            <a:ext cx="5067300" cy="1380490"/>
          </a:xfrm>
          <a:prstGeom prst="rect">
            <a:avLst/>
          </a:prstGeom>
        </p:spPr>
      </p:pic>
      <p:sp>
        <p:nvSpPr>
          <p:cNvPr id="22" name="圆角矩形 21"/>
          <p:cNvSpPr/>
          <p:nvPr/>
        </p:nvSpPr>
        <p:spPr>
          <a:xfrm>
            <a:off x="6425565" y="2630805"/>
            <a:ext cx="4785360" cy="35814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部分</a:t>
            </a:r>
            <a:r>
              <a:rPr lang="en-US" altLang="zh-CN">
                <a:solidFill>
                  <a:schemeClr val="tx1"/>
                </a:solidFill>
              </a:rPr>
              <a:t>API</a:t>
            </a:r>
            <a:r>
              <a:rPr lang="zh-CN" altLang="en-US">
                <a:solidFill>
                  <a:schemeClr val="tx1"/>
                </a:solidFill>
              </a:rPr>
              <a:t>测试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3"/>
          <a:srcRect t="33155" b="7105"/>
          <a:stretch>
            <a:fillRect/>
          </a:stretch>
        </p:blipFill>
        <p:spPr>
          <a:xfrm>
            <a:off x="290830" y="4617720"/>
            <a:ext cx="5151120" cy="169799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6700" y="4351020"/>
            <a:ext cx="5175250" cy="266700"/>
          </a:xfrm>
          <a:prstGeom prst="rect">
            <a:avLst/>
          </a:prstGeom>
        </p:spPr>
      </p:pic>
      <p:sp>
        <p:nvSpPr>
          <p:cNvPr id="27" name="圆角矩形 26"/>
          <p:cNvSpPr/>
          <p:nvPr/>
        </p:nvSpPr>
        <p:spPr>
          <a:xfrm>
            <a:off x="522605" y="3992880"/>
            <a:ext cx="4785360" cy="35814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歧义指令</a:t>
            </a:r>
            <a:r>
              <a:rPr lang="zh-CN" altLang="en-US">
                <a:solidFill>
                  <a:schemeClr val="tx1"/>
                </a:solidFill>
              </a:rPr>
              <a:t>检测</a:t>
            </a: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121" grpId="0" animBg="1"/>
      <p:bldP spid="121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522605" y="350520"/>
            <a:ext cx="11668760" cy="621030"/>
            <a:chOff x="420" y="216"/>
            <a:chExt cx="18376" cy="978"/>
          </a:xfrm>
        </p:grpSpPr>
        <p:grpSp>
          <p:nvGrpSpPr>
            <p:cNvPr id="29" name="组合 28"/>
            <p:cNvGrpSpPr/>
            <p:nvPr/>
          </p:nvGrpSpPr>
          <p:grpSpPr>
            <a:xfrm>
              <a:off x="13717" y="216"/>
              <a:ext cx="5079" cy="895"/>
              <a:chOff x="8733552" y="75111"/>
              <a:chExt cx="3224966" cy="570305"/>
            </a:xfrm>
          </p:grpSpPr>
          <p:sp>
            <p:nvSpPr>
              <p:cNvPr id="5" name="文本框 4"/>
              <p:cNvSpPr txBox="1"/>
              <p:nvPr/>
            </p:nvSpPr>
            <p:spPr>
              <a:xfrm>
                <a:off x="9158872" y="75417"/>
                <a:ext cx="2799646" cy="569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000" b="1" dirty="0">
                    <a:solidFill>
                      <a:srgbClr val="183884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机器人科学与工程学院</a:t>
                </a:r>
                <a:endParaRPr lang="en-US" altLang="zh-CN" sz="2000" b="1" dirty="0">
                  <a:solidFill>
                    <a:srgbClr val="183884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1100" b="1" i="1" u="sng" dirty="0">
                    <a:solidFill>
                      <a:srgbClr val="183884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Faculty of Robot Science and Engineering</a:t>
                </a:r>
                <a:endParaRPr lang="zh-CN" altLang="zh-CN" sz="1100" b="1" i="1" u="sng" dirty="0">
                  <a:solidFill>
                    <a:srgbClr val="183884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1">
                <a:extLst>
                  <a:ext uri="{BEBA8EAE-BF5A-486C-A8C5-ECC9F3942E4B}">
                    <a14:imgProps xmlns:a14="http://schemas.microsoft.com/office/drawing/2010/main">
                      <a14:imgLayer r:embed="rId2">
                        <a14:imgEffect>
                          <a14:artisticPaintBrush brushSize="10"/>
                        </a14:imgEffect>
                        <a14:imgEffect>
                          <a14:sharpenSoften amount="44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33552" y="75111"/>
                <a:ext cx="551050" cy="546198"/>
              </a:xfrm>
              <a:prstGeom prst="rect">
                <a:avLst/>
              </a:prstGeom>
            </p:spPr>
          </p:pic>
        </p:grpSp>
        <p:cxnSp>
          <p:nvCxnSpPr>
            <p:cNvPr id="7" name="直接连接符 9"/>
            <p:cNvCxnSpPr/>
            <p:nvPr/>
          </p:nvCxnSpPr>
          <p:spPr>
            <a:xfrm>
              <a:off x="420" y="1194"/>
              <a:ext cx="18376" cy="0"/>
            </a:xfrm>
            <a:prstGeom prst="line">
              <a:avLst/>
            </a:prstGeom>
            <a:ln w="38100" cap="flat" cmpd="sng" algn="ctr">
              <a:solidFill>
                <a:schemeClr val="accent5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cxnSp>
        <p:nvCxnSpPr>
          <p:cNvPr id="12" name="直接连接符 9"/>
          <p:cNvCxnSpPr/>
          <p:nvPr>
            <p:custDataLst>
              <p:tags r:id="rId3"/>
            </p:custDataLst>
          </p:nvPr>
        </p:nvCxnSpPr>
        <p:spPr>
          <a:xfrm>
            <a:off x="266700" y="6333924"/>
            <a:ext cx="11668626" cy="0"/>
          </a:xfrm>
          <a:prstGeom prst="line">
            <a:avLst/>
          </a:prstGeom>
          <a:ln w="3810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1" name="文本框 120"/>
          <p:cNvSpPr txBox="1"/>
          <p:nvPr/>
        </p:nvSpPr>
        <p:spPr>
          <a:xfrm>
            <a:off x="4353560" y="379095"/>
            <a:ext cx="3841750" cy="530225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noAutofit/>
          </a:bodyPr>
          <a:p>
            <a:pPr algn="l" fontAlgn="base">
              <a:buClrTx/>
              <a:buSzTx/>
              <a:buFontTx/>
            </a:pP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           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前期工作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pPr algn="ctr"/>
            <a:endParaRPr lang="zh-CN" altLang="en-US" sz="2400" i="1" dirty="0" err="1">
              <a:ln>
                <a:solidFill>
                  <a:schemeClr val="tx1"/>
                </a:solidFill>
              </a:ln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174625" y="6406515"/>
            <a:ext cx="441325" cy="332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➢</a:t>
            </a:r>
            <a:r>
              <a:rPr lang="en-US" altLang="zh-CN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endParaRPr lang="zh-CN" altLang="en-US" b="1" i="1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34" name="文本框 33">
            <a:hlinkClick r:id="rId5"/>
          </p:cNvPr>
          <p:cNvSpPr txBox="1"/>
          <p:nvPr/>
        </p:nvSpPr>
        <p:spPr>
          <a:xfrm>
            <a:off x="451485" y="372745"/>
            <a:ext cx="1868170" cy="5219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altLang="zh-CN" sz="1400" b="1" i="1" u="sng" dirty="0">
                <a:solidFill>
                  <a:srgbClr val="183884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Research Background and Significance</a:t>
            </a:r>
            <a:endParaRPr lang="en-US" altLang="zh-CN" sz="1400" b="1" i="1" u="sng" dirty="0">
              <a:solidFill>
                <a:srgbClr val="183884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605" y="6352540"/>
            <a:ext cx="499110" cy="50546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670862" y="6396990"/>
            <a:ext cx="1758507" cy="40850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D9D8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308735" y="6406515"/>
            <a:ext cx="1933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研究背景及意义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265045" y="6406752"/>
            <a:ext cx="228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研究综述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423889" y="6435962"/>
            <a:ext cx="163830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研究内容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706014" y="6435952"/>
            <a:ext cx="163830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前期工作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572850" y="6458285"/>
            <a:ext cx="163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研究计划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1465286" y="6352823"/>
            <a:ext cx="469673" cy="29189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10月30日">
            <a:hlinkClick r:id="" action="ppaction://media"/>
          </p:cNvPr>
          <p:cNvPicPr/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63220" y="2320925"/>
            <a:ext cx="3825240" cy="3261360"/>
          </a:xfrm>
          <a:prstGeom prst="rect">
            <a:avLst/>
          </a:prstGeom>
        </p:spPr>
      </p:pic>
      <p:pic>
        <p:nvPicPr>
          <p:cNvPr id="14" name="10月31日">
            <a:hlinkClick r:id="" action="ppaction://media"/>
          </p:cNvPr>
          <p:cNvPicPr/>
          <p:nvPr>
            <a:videoFile r:link="rId11"/>
            <p:extLst>
              <p:ext uri="{DAA4B4D4-6D71-4841-9C94-3DE7FCFB9230}">
                <p14:media xmlns:p14="http://schemas.microsoft.com/office/powerpoint/2010/main" r:embed="rId12"/>
              </p:ext>
            </p:extLst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4472305" y="2320925"/>
            <a:ext cx="3618865" cy="3261360"/>
          </a:xfrm>
          <a:prstGeom prst="rect">
            <a:avLst/>
          </a:prstGeom>
        </p:spPr>
      </p:pic>
      <p:sp>
        <p:nvSpPr>
          <p:cNvPr id="2" name="圆角矩形 1"/>
          <p:cNvSpPr/>
          <p:nvPr/>
        </p:nvSpPr>
        <p:spPr>
          <a:xfrm>
            <a:off x="623570" y="1880870"/>
            <a:ext cx="3091815" cy="24320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二次</a:t>
            </a:r>
            <a:r>
              <a:rPr lang="zh-CN" altLang="en-US">
                <a:solidFill>
                  <a:schemeClr val="tx1"/>
                </a:solidFill>
              </a:rPr>
              <a:t>重试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4425950" y="1873250"/>
            <a:ext cx="3505835" cy="27876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修正抓取位姿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9" name="10月31日 实机">
            <a:hlinkClick r:id="" action="ppaction://media"/>
          </p:cNvPr>
          <p:cNvPicPr/>
          <p:nvPr>
            <a:videoFile r:link="rId15"/>
            <p:extLst>
              <p:ext uri="{DAA4B4D4-6D71-4841-9C94-3DE7FCFB9230}">
                <p14:media xmlns:p14="http://schemas.microsoft.com/office/powerpoint/2010/main" r:embed="rId16"/>
              </p:ext>
            </p:extLst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8315325" y="2320925"/>
            <a:ext cx="3685540" cy="3261360"/>
          </a:xfrm>
          <a:prstGeom prst="rect">
            <a:avLst/>
          </a:prstGeom>
        </p:spPr>
      </p:pic>
      <p:sp>
        <p:nvSpPr>
          <p:cNvPr id="21" name="圆角矩形 20"/>
          <p:cNvSpPr/>
          <p:nvPr/>
        </p:nvSpPr>
        <p:spPr>
          <a:xfrm>
            <a:off x="8315325" y="1856105"/>
            <a:ext cx="3505835" cy="27876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单臂实机</a:t>
            </a:r>
            <a:r>
              <a:rPr lang="zh-CN" altLang="en-US">
                <a:solidFill>
                  <a:schemeClr val="tx1"/>
                </a:solidFill>
              </a:rPr>
              <a:t>实验</a:t>
            </a: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video fullScrn="0">
              <p:cMediaNode>
                <p:cTn id="3" fill="hold" display="1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video fullScrn="0">
              <p:cMediaNode>
                <p:cTn id="4" fill="hold" display="1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  <p:seq concurrent="1" nextAc="seek">
              <p:cTn id="5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9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14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19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  <p:bldLst>
      <p:bldP spid="121" grpId="0" animBg="1"/>
      <p:bldP spid="121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522605" y="350520"/>
            <a:ext cx="11668760" cy="621030"/>
            <a:chOff x="420" y="216"/>
            <a:chExt cx="18376" cy="978"/>
          </a:xfrm>
        </p:grpSpPr>
        <p:grpSp>
          <p:nvGrpSpPr>
            <p:cNvPr id="29" name="组合 28"/>
            <p:cNvGrpSpPr/>
            <p:nvPr/>
          </p:nvGrpSpPr>
          <p:grpSpPr>
            <a:xfrm>
              <a:off x="13717" y="216"/>
              <a:ext cx="5079" cy="895"/>
              <a:chOff x="8733552" y="75111"/>
              <a:chExt cx="3224966" cy="570305"/>
            </a:xfrm>
          </p:grpSpPr>
          <p:sp>
            <p:nvSpPr>
              <p:cNvPr id="5" name="文本框 4"/>
              <p:cNvSpPr txBox="1"/>
              <p:nvPr/>
            </p:nvSpPr>
            <p:spPr>
              <a:xfrm>
                <a:off x="9158872" y="75417"/>
                <a:ext cx="2799646" cy="569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000" b="1" dirty="0">
                    <a:solidFill>
                      <a:srgbClr val="183884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机器人科学与工程学院</a:t>
                </a:r>
                <a:endParaRPr lang="en-US" altLang="zh-CN" sz="2000" b="1" dirty="0">
                  <a:solidFill>
                    <a:srgbClr val="183884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1100" b="1" i="1" u="sng" dirty="0">
                    <a:solidFill>
                      <a:srgbClr val="183884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Faculty of Robot Science and Engineering</a:t>
                </a:r>
                <a:endParaRPr lang="zh-CN" altLang="zh-CN" sz="1100" b="1" i="1" u="sng" dirty="0">
                  <a:solidFill>
                    <a:srgbClr val="183884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1">
                <a:extLst>
                  <a:ext uri="{BEBA8EAE-BF5A-486C-A8C5-ECC9F3942E4B}">
                    <a14:imgProps xmlns:a14="http://schemas.microsoft.com/office/drawing/2010/main">
                      <a14:imgLayer r:embed="rId2">
                        <a14:imgEffect>
                          <a14:artisticPaintBrush brushSize="10"/>
                        </a14:imgEffect>
                        <a14:imgEffect>
                          <a14:sharpenSoften amount="44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33552" y="75111"/>
                <a:ext cx="551050" cy="546198"/>
              </a:xfrm>
              <a:prstGeom prst="rect">
                <a:avLst/>
              </a:prstGeom>
            </p:spPr>
          </p:pic>
        </p:grpSp>
        <p:cxnSp>
          <p:nvCxnSpPr>
            <p:cNvPr id="7" name="直接连接符 9"/>
            <p:cNvCxnSpPr/>
            <p:nvPr/>
          </p:nvCxnSpPr>
          <p:spPr>
            <a:xfrm>
              <a:off x="420" y="1194"/>
              <a:ext cx="18376" cy="0"/>
            </a:xfrm>
            <a:prstGeom prst="line">
              <a:avLst/>
            </a:prstGeom>
            <a:ln w="38100" cap="flat" cmpd="sng" algn="ctr">
              <a:solidFill>
                <a:schemeClr val="accent5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cxnSp>
        <p:nvCxnSpPr>
          <p:cNvPr id="12" name="直接连接符 9"/>
          <p:cNvCxnSpPr/>
          <p:nvPr>
            <p:custDataLst>
              <p:tags r:id="rId3"/>
            </p:custDataLst>
          </p:nvPr>
        </p:nvCxnSpPr>
        <p:spPr>
          <a:xfrm>
            <a:off x="266700" y="6333924"/>
            <a:ext cx="11668626" cy="0"/>
          </a:xfrm>
          <a:prstGeom prst="line">
            <a:avLst/>
          </a:prstGeom>
          <a:ln w="3810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1" name="文本框 120"/>
          <p:cNvSpPr txBox="1"/>
          <p:nvPr/>
        </p:nvSpPr>
        <p:spPr>
          <a:xfrm>
            <a:off x="4353560" y="379095"/>
            <a:ext cx="3841750" cy="530225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noAutofit/>
          </a:bodyPr>
          <a:p>
            <a:pPr algn="l" fontAlgn="base">
              <a:buClrTx/>
              <a:buSzTx/>
              <a:buFontTx/>
            </a:pP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            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预期成果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pPr algn="l" fontAlgn="base">
              <a:buClrTx/>
              <a:buSzTx/>
              <a:buFontTx/>
            </a:pP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pPr algn="ctr"/>
            <a:endParaRPr lang="zh-CN" altLang="en-US" sz="2400" i="1" dirty="0" err="1">
              <a:ln>
                <a:solidFill>
                  <a:schemeClr val="tx1"/>
                </a:solidFill>
              </a:ln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174625" y="6406515"/>
            <a:ext cx="441325" cy="332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➢</a:t>
            </a:r>
            <a:r>
              <a:rPr lang="en-US" altLang="zh-CN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endParaRPr lang="zh-CN" altLang="en-US" b="1" i="1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34" name="文本框 33">
            <a:hlinkClick r:id="rId5"/>
          </p:cNvPr>
          <p:cNvSpPr txBox="1"/>
          <p:nvPr/>
        </p:nvSpPr>
        <p:spPr>
          <a:xfrm>
            <a:off x="451485" y="372745"/>
            <a:ext cx="1868170" cy="5219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altLang="zh-CN" sz="1400" b="1" i="1" u="sng" dirty="0">
                <a:solidFill>
                  <a:srgbClr val="183884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Research Background and Significance</a:t>
            </a:r>
            <a:endParaRPr lang="en-US" altLang="zh-CN" sz="1400" b="1" i="1" u="sng" dirty="0">
              <a:solidFill>
                <a:srgbClr val="183884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605" y="6352540"/>
            <a:ext cx="499110" cy="50546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9472992" y="6396990"/>
            <a:ext cx="1758507" cy="40850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D9D8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308735" y="6436995"/>
            <a:ext cx="1933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研究背景及意义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265045" y="6437232"/>
            <a:ext cx="228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研究综述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714719" y="6437232"/>
            <a:ext cx="163830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研究内容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706014" y="6435952"/>
            <a:ext cx="163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前期工作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585550" y="6435425"/>
            <a:ext cx="163830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研究计划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1465286" y="6352823"/>
            <a:ext cx="469673" cy="29189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3729" y="1530774"/>
            <a:ext cx="10922464" cy="55848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提出面向长序列任务的双臂控制架构</a:t>
            </a:r>
            <a:r>
              <a:rPr lang="en-US" altLang="zh-CN" sz="20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: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charset="-122"/>
              </a:rPr>
              <a:t>由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charset="-122"/>
              </a:rPr>
              <a:t>“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charset="-122"/>
              </a:rPr>
              <a:t>大脑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charset="-122"/>
              </a:rPr>
              <a:t>”LLM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charset="-122"/>
              </a:rPr>
              <a:t>完成并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charset="-122"/>
              </a:rPr>
              <a:t>/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charset="-122"/>
              </a:rPr>
              <a:t>串行分解、为每步定义前置条件与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charset="-122"/>
              </a:rPr>
              <a:t> VSV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charset="-122"/>
              </a:rPr>
              <a:t>检验点；两个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charset="-122"/>
              </a:rPr>
              <a:t>“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charset="-122"/>
              </a:rPr>
              <a:t>小脑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charset="-122"/>
              </a:rPr>
              <a:t>”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charset="-122"/>
              </a:rPr>
              <a:t>产出可执行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charset="-122"/>
              </a:rPr>
              <a:t> API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charset="-122"/>
              </a:rPr>
              <a:t>代码并行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charset="-122"/>
              </a:rPr>
              <a:t>/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charset="-122"/>
              </a:rPr>
              <a:t>协作执行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charset="-122"/>
              </a:rPr>
              <a:t>逻辑；失败由小脑上报，大脑做影响分析后再规划，形成可验证的闭环与清晰角色分工，发表机器人领域高水平期刊一篇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charset="-122"/>
              </a:rPr>
              <a:t>(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charset="-122"/>
              </a:rPr>
              <a:t>RAL/TNNLS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charset="-122"/>
              </a:rPr>
              <a:t>）。</a:t>
            </a:r>
            <a:endParaRPr lang="zh-CN" altLang="en-US" dirty="0">
              <a:latin typeface="Times New Roman" panose="02020603050405020304" pitchFamily="18" charset="0"/>
              <a:ea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构建“提示性遗忘”治理</a:t>
            </a:r>
            <a:r>
              <a:rPr lang="en-US" altLang="zh-CN" sz="20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: </a:t>
            </a:r>
            <a:r>
              <a:rPr lang="zh-CN" altLang="en-US" sz="1800" dirty="0">
                <a:latin typeface="Times New Roman" panose="02020603050405020304" pitchFamily="18" charset="0"/>
                <a:ea typeface="微软雅黑" panose="020B0503020204020204" charset="-122"/>
              </a:rPr>
              <a:t>采用分层记忆与多级缓存，在线仅保留“即时+少量召回”；以函数签名+CFG/DFG+语义的混合索引检索最小必需子集；训练 Gorilla/Toolformer 风格的小型路由器控制“暴露哪些工具”，并以 FT/BT 评估整体改进。</a:t>
            </a:r>
            <a:endParaRPr lang="zh-CN" altLang="en-US" sz="1800" dirty="0">
              <a:latin typeface="Times New Roman" panose="02020603050405020304" pitchFamily="18" charset="0"/>
              <a:ea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自适应恢复机制：</a:t>
            </a:r>
            <a:r>
              <a:rPr lang="zh-CN" altLang="en-US" sz="1800" dirty="0">
                <a:latin typeface="Times New Roman" panose="02020603050405020304" pitchFamily="18" charset="0"/>
                <a:ea typeface="微软雅黑" panose="020B0503020204020204" charset="-122"/>
              </a:rPr>
              <a:t>通过在规划阶段为每步生成预期成功状态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charset="-122"/>
              </a:rPr>
              <a:t>；执行后以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charset="-122"/>
              </a:rPr>
              <a:t> Vision Critic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charset="-122"/>
              </a:rPr>
              <a:t>验证达成；失败触发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charset="-122"/>
              </a:rPr>
              <a:t> Retry-Manager LLMs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charset="-122"/>
              </a:rPr>
              <a:t>进行影响分析并裁决局部修复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charset="-122"/>
              </a:rPr>
              <a:t>/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charset="-122"/>
              </a:rPr>
              <a:t>回滚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charset="-122"/>
              </a:rPr>
              <a:t>/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charset="-122"/>
              </a:rPr>
              <a:t>再规划与重试点；由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charset="-122"/>
              </a:rPr>
              <a:t> Correction Learner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charset="-122"/>
              </a:rPr>
              <a:t>给出参数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charset="-122"/>
              </a:rPr>
              <a:t>/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charset="-122"/>
              </a:rPr>
              <a:t>顺序矫正，写回经验并更新结构化记忆与路由，评估</a:t>
            </a:r>
            <a:r>
              <a:rPr lang="zh-CN" altLang="en-US">
                <a:sym typeface="+mn-ea"/>
              </a:rPr>
              <a:t>恢复后的</a:t>
            </a:r>
            <a:r>
              <a:rPr lang="en-US" altLang="zh-CN">
                <a:sym typeface="+mn-ea"/>
              </a:rPr>
              <a:t>ASR</a:t>
            </a:r>
            <a:r>
              <a:rPr lang="zh-CN" altLang="en-US">
                <a:sym typeface="+mn-ea"/>
              </a:rPr>
              <a:t>；每次故障的重试次数；恢复所需时间。</a:t>
            </a:r>
            <a:endParaRPr lang="zh-CN" altLang="en-US"/>
          </a:p>
          <a:p>
            <a:pPr indent="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endParaRPr lang="zh-CN" altLang="en-US" dirty="0">
              <a:latin typeface="Times New Roman" panose="02020603050405020304" pitchFamily="18" charset="0"/>
              <a:ea typeface="微软雅黑" panose="020B0503020204020204" charset="-122"/>
            </a:endParaRPr>
          </a:p>
          <a:p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p"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121" grpId="0" animBg="1"/>
      <p:bldP spid="121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522605" y="350520"/>
            <a:ext cx="11668760" cy="621030"/>
            <a:chOff x="420" y="216"/>
            <a:chExt cx="18376" cy="978"/>
          </a:xfrm>
        </p:grpSpPr>
        <p:grpSp>
          <p:nvGrpSpPr>
            <p:cNvPr id="29" name="组合 28"/>
            <p:cNvGrpSpPr/>
            <p:nvPr/>
          </p:nvGrpSpPr>
          <p:grpSpPr>
            <a:xfrm>
              <a:off x="13717" y="216"/>
              <a:ext cx="5079" cy="895"/>
              <a:chOff x="8733552" y="75111"/>
              <a:chExt cx="3224966" cy="570305"/>
            </a:xfrm>
          </p:grpSpPr>
          <p:sp>
            <p:nvSpPr>
              <p:cNvPr id="5" name="文本框 4"/>
              <p:cNvSpPr txBox="1"/>
              <p:nvPr/>
            </p:nvSpPr>
            <p:spPr>
              <a:xfrm>
                <a:off x="9158872" y="75417"/>
                <a:ext cx="2799646" cy="569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000" b="1" dirty="0">
                    <a:solidFill>
                      <a:srgbClr val="183884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机器人科学与工程学院</a:t>
                </a:r>
                <a:endParaRPr lang="en-US" altLang="zh-CN" sz="2000" b="1" dirty="0">
                  <a:solidFill>
                    <a:srgbClr val="183884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1100" b="1" i="1" u="sng" dirty="0">
                    <a:solidFill>
                      <a:srgbClr val="183884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Faculty of Robot Science and Engineering</a:t>
                </a:r>
                <a:endParaRPr lang="zh-CN" altLang="zh-CN" sz="1100" b="1" i="1" u="sng" dirty="0">
                  <a:solidFill>
                    <a:srgbClr val="183884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1">
                <a:extLst>
                  <a:ext uri="{BEBA8EAE-BF5A-486C-A8C5-ECC9F3942E4B}">
                    <a14:imgProps xmlns:a14="http://schemas.microsoft.com/office/drawing/2010/main">
                      <a14:imgLayer r:embed="rId2">
                        <a14:imgEffect>
                          <a14:artisticPaintBrush brushSize="10"/>
                        </a14:imgEffect>
                        <a14:imgEffect>
                          <a14:sharpenSoften amount="44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33552" y="75111"/>
                <a:ext cx="551050" cy="546198"/>
              </a:xfrm>
              <a:prstGeom prst="rect">
                <a:avLst/>
              </a:prstGeom>
            </p:spPr>
          </p:pic>
        </p:grpSp>
        <p:cxnSp>
          <p:nvCxnSpPr>
            <p:cNvPr id="7" name="直接连接符 9"/>
            <p:cNvCxnSpPr/>
            <p:nvPr/>
          </p:nvCxnSpPr>
          <p:spPr>
            <a:xfrm>
              <a:off x="420" y="1194"/>
              <a:ext cx="18376" cy="0"/>
            </a:xfrm>
            <a:prstGeom prst="line">
              <a:avLst/>
            </a:prstGeom>
            <a:ln w="38100" cap="flat" cmpd="sng" algn="ctr">
              <a:solidFill>
                <a:schemeClr val="accent5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cxnSp>
        <p:nvCxnSpPr>
          <p:cNvPr id="12" name="直接连接符 9"/>
          <p:cNvCxnSpPr/>
          <p:nvPr>
            <p:custDataLst>
              <p:tags r:id="rId3"/>
            </p:custDataLst>
          </p:nvPr>
        </p:nvCxnSpPr>
        <p:spPr>
          <a:xfrm>
            <a:off x="266700" y="6333924"/>
            <a:ext cx="11668626" cy="0"/>
          </a:xfrm>
          <a:prstGeom prst="line">
            <a:avLst/>
          </a:prstGeom>
          <a:ln w="3810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1" name="文本框 120"/>
          <p:cNvSpPr txBox="1"/>
          <p:nvPr/>
        </p:nvSpPr>
        <p:spPr>
          <a:xfrm>
            <a:off x="4353560" y="379095"/>
            <a:ext cx="3841750" cy="530225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noAutofit/>
          </a:bodyPr>
          <a:p>
            <a:pPr algn="l" fontAlgn="base">
              <a:buClrTx/>
              <a:buSzTx/>
              <a:buFontTx/>
            </a:pP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           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工作计划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pPr algn="ctr"/>
            <a:endParaRPr lang="zh-CN" altLang="en-US" sz="2400" i="1" dirty="0" err="1">
              <a:ln>
                <a:solidFill>
                  <a:schemeClr val="tx1"/>
                </a:solidFill>
              </a:ln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174625" y="6406515"/>
            <a:ext cx="441325" cy="332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➢</a:t>
            </a:r>
            <a:r>
              <a:rPr lang="en-US" altLang="zh-CN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endParaRPr lang="zh-CN" altLang="en-US" b="1" i="1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34" name="文本框 33">
            <a:hlinkClick r:id="rId5"/>
          </p:cNvPr>
          <p:cNvSpPr txBox="1"/>
          <p:nvPr/>
        </p:nvSpPr>
        <p:spPr>
          <a:xfrm>
            <a:off x="451485" y="372745"/>
            <a:ext cx="1868170" cy="5219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altLang="zh-CN" sz="1400" b="1" i="1" u="sng" dirty="0">
                <a:solidFill>
                  <a:srgbClr val="183884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Research Background and Significance</a:t>
            </a:r>
            <a:endParaRPr lang="en-US" altLang="zh-CN" sz="1400" b="1" i="1" u="sng" dirty="0">
              <a:solidFill>
                <a:srgbClr val="183884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605" y="6352540"/>
            <a:ext cx="499110" cy="50546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9472992" y="6396990"/>
            <a:ext cx="1758507" cy="40850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D9D8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308735" y="6436995"/>
            <a:ext cx="1933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研究背景及意义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265045" y="6437232"/>
            <a:ext cx="228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研究综述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714719" y="6437232"/>
            <a:ext cx="163830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研究内容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706014" y="6435952"/>
            <a:ext cx="163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前期工作</a:t>
            </a:r>
            <a:endParaRPr lang="zh-CN" altLang="en-US" dirty="0">
              <a:solidFill>
                <a:schemeClr val="bg2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585550" y="6435425"/>
            <a:ext cx="163830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研究计划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1465286" y="6352823"/>
            <a:ext cx="469673" cy="29189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1443355" y="1036320"/>
          <a:ext cx="9316085" cy="5145405"/>
        </p:xfrm>
        <a:graphic>
          <a:graphicData uri="http://schemas.openxmlformats.org/drawingml/2006/table">
            <a:tbl>
              <a:tblPr firstRow="1" bandRow="1">
                <a:tableStyleId>{F75FBEE3-D603-485F-AB0E-6DAB72EF9625}</a:tableStyleId>
              </a:tblPr>
              <a:tblGrid>
                <a:gridCol w="2550795"/>
                <a:gridCol w="6765290"/>
              </a:tblGrid>
              <a:tr h="5613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400" spc="120" dirty="0"/>
                        <a:t>任务起止时间</a:t>
                      </a:r>
                      <a:endParaRPr lang="zh-CN" altLang="en-US" sz="1400" spc="120" dirty="0"/>
                    </a:p>
                  </a:txBody>
                  <a:tcPr marL="254000" marR="254000" marT="127000" marB="12700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400" spc="120" dirty="0"/>
                        <a:t>任务内容</a:t>
                      </a:r>
                      <a:endParaRPr lang="zh-CN" altLang="en-US" sz="1400" spc="120" dirty="0"/>
                    </a:p>
                  </a:txBody>
                  <a:tcPr marL="254000" marR="254000" marT="127000" marB="127000" anchor="ctr"/>
                </a:tc>
              </a:tr>
              <a:tr h="4762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600" kern="1200" dirty="0">
                          <a:effectLst/>
                        </a:rPr>
                        <a:t>2024.09.01-2024.12.31</a:t>
                      </a:r>
                      <a:endParaRPr lang="en-US" altLang="zh-CN" sz="1600" kern="1200" dirty="0">
                        <a:effectLst/>
                      </a:endParaRPr>
                    </a:p>
                  </a:txBody>
                  <a:tcPr marL="254000" marR="254000" marT="127000" marB="12700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zh-CN" altLang="zh-CN" sz="1400" kern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学习相关课程；了解课题背景、具身智能实现的不同途径，确定研究方向；</a:t>
                      </a:r>
                      <a:endParaRPr lang="zh-CN" altLang="zh-CN" sz="1400" kern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254000" marR="254000" marT="127000" marB="127000" anchor="ctr"/>
                </a:tc>
              </a:tr>
              <a:tr h="64389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600" kern="1200" dirty="0">
                          <a:effectLst/>
                        </a:rPr>
                        <a:t>2025.01.01-2025.06.30</a:t>
                      </a:r>
                      <a:endParaRPr lang="en-US" altLang="zh-CN" sz="1600" kern="1200" dirty="0">
                        <a:effectLst/>
                      </a:endParaRPr>
                    </a:p>
                  </a:txBody>
                  <a:tcPr marL="254000" marR="254000" marT="127000" marB="127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</a:pPr>
                      <a:r>
                        <a:rPr lang="zh-CN" sz="1400" kern="1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仿真复现经典具身智能论文（</a:t>
                      </a:r>
                      <a:r>
                        <a:rPr lang="en-US" altLang="zh-CN" sz="140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ChatGPT for Robotics</a:t>
                      </a:r>
                      <a:r>
                        <a:rPr lang="zh-CN" sz="1400" kern="1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、</a:t>
                      </a:r>
                      <a:r>
                        <a:rPr lang="en-US" altLang="zh-CN" sz="1400" kern="1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Code as Policies</a:t>
                      </a:r>
                      <a:r>
                        <a:rPr lang="zh-CN" altLang="en-US" sz="1400" kern="1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等</a:t>
                      </a:r>
                      <a:r>
                        <a:rPr lang="zh-CN" sz="1400" kern="1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）；</a:t>
                      </a:r>
                      <a:r>
                        <a:rPr lang="zh-CN" altLang="en-US" sz="1400" kern="1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总结实验中出现的问题</a:t>
                      </a:r>
                      <a:endParaRPr lang="zh-CN" altLang="en-US" sz="1400" kern="1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254000" marR="254000" marT="127000" marB="127000" anchor="ctr">
                    <a:solidFill>
                      <a:schemeClr val="bg1"/>
                    </a:solidFill>
                  </a:tcPr>
                </a:tc>
              </a:tr>
              <a:tr h="43370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600" kern="1200" dirty="0">
                          <a:effectLst/>
                        </a:rPr>
                        <a:t>2025.07.01-2025.10.31</a:t>
                      </a:r>
                      <a:endParaRPr lang="en-US" altLang="zh-CN" sz="1600" kern="1200" dirty="0">
                        <a:effectLst/>
                      </a:endParaRPr>
                    </a:p>
                  </a:txBody>
                  <a:tcPr marL="254000" marR="254000" marT="127000" marB="12700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</a:pPr>
                      <a:r>
                        <a:rPr lang="en-US" altLang="zh-CN" sz="1400" kern="1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Lora</a:t>
                      </a:r>
                      <a:r>
                        <a:rPr lang="zh-CN" altLang="en-US" sz="1400" kern="1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微调</a:t>
                      </a:r>
                      <a:r>
                        <a:rPr lang="en-US" altLang="zh-CN" sz="1400" kern="1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Qwen3-VL-4B-Instruct</a:t>
                      </a:r>
                      <a:r>
                        <a:rPr lang="zh-CN" altLang="en-US" sz="1400" kern="1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，验证模型效果；</a:t>
                      </a:r>
                      <a:r>
                        <a:rPr lang="zh-CN" altLang="en-US" sz="1400" kern="1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搭建单臂仿真场景进行简单实验验证，</a:t>
                      </a:r>
                      <a:r>
                        <a:rPr lang="zh-CN" sz="1400" kern="1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对第一学年工作进行总结并撰写开题报告</a:t>
                      </a:r>
                      <a:endParaRPr lang="zh-CN" sz="1400" kern="1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254000" marR="254000" marT="127000" marB="127000" anchor="ctr"/>
                </a:tc>
              </a:tr>
              <a:tr h="6121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600" kern="1200" dirty="0">
                          <a:effectLst/>
                        </a:rPr>
                        <a:t>2025.11.01-2026.06.30</a:t>
                      </a:r>
                      <a:endParaRPr lang="en-US" altLang="zh-CN" sz="1600" kern="1200" dirty="0">
                        <a:effectLst/>
                      </a:endParaRPr>
                    </a:p>
                  </a:txBody>
                  <a:tcPr marL="254000" marR="254000" marT="127000" marB="1270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endParaRPr lang="zh-CN" altLang="en-US" sz="1200" kern="100" dirty="0">
                        <a:effectLst/>
                      </a:endParaRPr>
                    </a:p>
                  </a:txBody>
                  <a:tcPr marL="254000" marR="254000" marT="127000" marB="127000" anchor="ctr"/>
                </a:tc>
              </a:tr>
              <a:tr h="9226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600" kern="1200" dirty="0">
                          <a:effectLst/>
                        </a:rPr>
                        <a:t>2026.07.01-2027.02.28</a:t>
                      </a:r>
                      <a:endParaRPr lang="en-US" altLang="zh-CN" sz="1600" kern="1200" dirty="0">
                        <a:effectLst/>
                      </a:endParaRPr>
                    </a:p>
                  </a:txBody>
                  <a:tcPr marL="254000" marR="254000" marT="127000" marB="127000" anchor="ctr"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</a:pPr>
                      <a:r>
                        <a:rPr lang="zh-CN" altLang="en-US" sz="1400" kern="100" dirty="0">
                          <a:effectLst/>
                          <a:sym typeface="+mn-ea"/>
                        </a:rPr>
                        <a:t>对比</a:t>
                      </a:r>
                      <a:r>
                        <a:rPr lang="zh-CN" sz="1400" kern="100" dirty="0">
                          <a:effectLst/>
                          <a:sym typeface="+mn-ea"/>
                        </a:rPr>
                        <a:t>实验验证</a:t>
                      </a:r>
                      <a:r>
                        <a:rPr lang="zh-CN" altLang="en-US" sz="1400" kern="100" dirty="0">
                          <a:effectLst/>
                          <a:sym typeface="+mn-ea"/>
                        </a:rPr>
                        <a:t>分层记忆与多级缓存机制对小模型提示性遗忘的改善效果，</a:t>
                      </a:r>
                      <a:r>
                        <a:rPr lang="zh-CN" altLang="en-US" sz="1400" kern="100" dirty="0">
                          <a:effectLst/>
                        </a:rPr>
                        <a:t>整理实验数据，进行相关论文的撰写与</a:t>
                      </a:r>
                      <a:r>
                        <a:rPr lang="zh-CN" altLang="en-US" sz="1400" kern="100" dirty="0">
                          <a:effectLst/>
                        </a:rPr>
                        <a:t>投稿工作</a:t>
                      </a:r>
                      <a:endParaRPr lang="zh-CN" altLang="en-US" sz="1400" kern="100" dirty="0">
                        <a:effectLst/>
                      </a:endParaRPr>
                    </a:p>
                  </a:txBody>
                  <a:tcPr marL="254000" marR="254000" marT="127000" marB="127000" anchor="ctr">
                    <a:solidFill>
                      <a:srgbClr val="EDF1FA"/>
                    </a:solidFill>
                  </a:tcPr>
                </a:tc>
              </a:tr>
              <a:tr h="52133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600" kern="1200" dirty="0">
                          <a:effectLst/>
                        </a:rPr>
                        <a:t>2027.03.01-2027.06.31</a:t>
                      </a:r>
                      <a:endParaRPr lang="en-US" altLang="zh-CN" sz="1600" kern="1200" dirty="0">
                        <a:effectLst/>
                      </a:endParaRPr>
                    </a:p>
                  </a:txBody>
                  <a:tcPr marL="254000" marR="254000" marT="127000" marB="12700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</a:pPr>
                      <a:r>
                        <a:rPr lang="zh-CN" sz="1400" kern="100" dirty="0">
                          <a:effectLst/>
                        </a:rPr>
                        <a:t>对硕士期间的研究成果进行汇总，撰写毕业论文</a:t>
                      </a:r>
                      <a:endParaRPr lang="zh-CN" sz="1400" kern="100" dirty="0">
                        <a:effectLst/>
                      </a:endParaRPr>
                    </a:p>
                  </a:txBody>
                  <a:tcPr marL="254000" marR="254000" marT="127000" marB="127000" anchor="ctr"/>
                </a:tc>
              </a:tr>
              <a:tr h="52133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600" kern="1200" dirty="0">
                          <a:effectLst/>
                        </a:rPr>
                        <a:t>2027.06.01-2027.07.01</a:t>
                      </a:r>
                      <a:endParaRPr lang="en-US" altLang="zh-CN" sz="1600" kern="1200" dirty="0">
                        <a:effectLst/>
                      </a:endParaRPr>
                    </a:p>
                  </a:txBody>
                  <a:tcPr marL="254000" marR="254000" marT="127000" marB="127000" anchor="ctr"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/>
                        <a:t>准备毕业设计答辩相关内容</a:t>
                      </a:r>
                      <a:endParaRPr lang="zh-CN" altLang="en-US" sz="1400" dirty="0"/>
                    </a:p>
                  </a:txBody>
                  <a:tcPr marL="254000" marR="254000" marT="127000" marB="127000" anchor="ctr">
                    <a:solidFill>
                      <a:srgbClr val="EDF1FA"/>
                    </a:solidFill>
                  </a:tcPr>
                </a:tc>
              </a:tr>
            </a:tbl>
          </a:graphicData>
        </a:graphic>
      </p:graphicFrame>
      <p:cxnSp>
        <p:nvCxnSpPr>
          <p:cNvPr id="13" name="直接连接符 9"/>
          <p:cNvCxnSpPr/>
          <p:nvPr>
            <p:custDataLst>
              <p:tags r:id="rId8"/>
            </p:custDataLst>
          </p:nvPr>
        </p:nvCxnSpPr>
        <p:spPr>
          <a:xfrm>
            <a:off x="266065" y="3657399"/>
            <a:ext cx="11668626" cy="0"/>
          </a:xfrm>
          <a:prstGeom prst="line">
            <a:avLst/>
          </a:prstGeom>
          <a:ln w="3810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11347450" y="1535430"/>
            <a:ext cx="4445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前</a:t>
            </a:r>
            <a:endParaRPr lang="zh-CN" altLang="en-US"/>
          </a:p>
          <a:p>
            <a:r>
              <a:rPr lang="zh-CN" altLang="en-US"/>
              <a:t>期</a:t>
            </a:r>
            <a:endParaRPr lang="zh-CN" altLang="en-US"/>
          </a:p>
          <a:p>
            <a:r>
              <a:rPr lang="zh-CN" altLang="en-US"/>
              <a:t>工</a:t>
            </a:r>
            <a:endParaRPr lang="zh-CN" altLang="en-US"/>
          </a:p>
          <a:p>
            <a:r>
              <a:rPr lang="zh-CN" altLang="en-US"/>
              <a:t>作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1347450" y="4354195"/>
            <a:ext cx="4445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后期</a:t>
            </a:r>
            <a:r>
              <a:rPr lang="zh-CN" altLang="en-US"/>
              <a:t>工作</a:t>
            </a:r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4129405" y="3679190"/>
            <a:ext cx="6577965" cy="823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20000"/>
              </a:lnSpc>
            </a:pPr>
            <a:r>
              <a:rPr lang="zh-CN" altLang="en-US" sz="1400" kern="100" dirty="0">
                <a:effectLst/>
                <a:sym typeface="+mn-ea"/>
              </a:rPr>
              <a:t>在单臂基础上验证长序列任务的回滚机制，进行</a:t>
            </a:r>
            <a:r>
              <a:rPr lang="en-US" altLang="zh-CN" sz="1400" kern="100" dirty="0">
                <a:effectLst/>
                <a:sym typeface="+mn-ea"/>
              </a:rPr>
              <a:t>dobot CR3</a:t>
            </a:r>
            <a:r>
              <a:rPr lang="zh-CN" altLang="en-US" sz="1400" kern="100" dirty="0">
                <a:effectLst/>
                <a:sym typeface="+mn-ea"/>
              </a:rPr>
              <a:t>真机部署实验，</a:t>
            </a:r>
            <a:r>
              <a:rPr lang="zh-CN" sz="1400" kern="100" dirty="0">
                <a:effectLst/>
                <a:sym typeface="+mn-ea"/>
              </a:rPr>
              <a:t>撰写小论文，并搭建双臂仿真场景以及</a:t>
            </a:r>
            <a:r>
              <a:rPr lang="en-US" altLang="zh-CN" sz="1400" kern="100" dirty="0">
                <a:effectLst/>
                <a:sym typeface="+mn-ea"/>
              </a:rPr>
              <a:t>API</a:t>
            </a:r>
            <a:r>
              <a:rPr lang="zh-CN" altLang="en-US" sz="1400" kern="100" dirty="0">
                <a:effectLst/>
                <a:sym typeface="+mn-ea"/>
              </a:rPr>
              <a:t>库构建</a:t>
            </a:r>
            <a:endParaRPr lang="zh-CN" altLang="en-US" sz="1400" kern="100" dirty="0">
              <a:effectLst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121" grpId="0" animBg="1"/>
      <p:bldP spid="121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>
          <a:xfrm>
            <a:off x="0" y="1"/>
            <a:ext cx="12191999" cy="6857999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5104" y="230383"/>
            <a:ext cx="1316326" cy="1223004"/>
          </a:xfrm>
          <a:prstGeom prst="rect">
            <a:avLst/>
          </a:prstGeom>
          <a:ln w="34925" cap="rnd">
            <a:noFill/>
            <a:prstDash val="solid"/>
            <a:round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grpSp>
        <p:nvGrpSpPr>
          <p:cNvPr id="32" name="组合 31"/>
          <p:cNvGrpSpPr>
            <a:grpSpLocks noChangeAspect="1"/>
          </p:cNvGrpSpPr>
          <p:nvPr/>
        </p:nvGrpSpPr>
        <p:grpSpPr>
          <a:xfrm>
            <a:off x="3546548" y="3409709"/>
            <a:ext cx="5429800" cy="1048982"/>
            <a:chOff x="4712100" y="4909271"/>
            <a:chExt cx="3214928" cy="621611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grpSp>
          <p:nvGrpSpPr>
            <p:cNvPr id="33" name="组合 32"/>
            <p:cNvGrpSpPr/>
            <p:nvPr/>
          </p:nvGrpSpPr>
          <p:grpSpPr>
            <a:xfrm>
              <a:off x="5246058" y="4909673"/>
              <a:ext cx="2680970" cy="621209"/>
              <a:chOff x="5227384" y="4954719"/>
              <a:chExt cx="2680970" cy="621209"/>
            </a:xfrm>
          </p:grpSpPr>
          <p:sp>
            <p:nvSpPr>
              <p:cNvPr id="35" name="文本框 34"/>
              <p:cNvSpPr txBox="1"/>
              <p:nvPr/>
            </p:nvSpPr>
            <p:spPr>
              <a:xfrm>
                <a:off x="5227384" y="4954719"/>
                <a:ext cx="2680970" cy="334899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zh-CN" altLang="en-US" sz="2800" b="1" i="1" dirty="0">
                    <a:solidFill>
                      <a:srgbClr val="00538B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机器人科学与工程学院</a:t>
                </a:r>
                <a:endParaRPr lang="zh-CN" altLang="en-US" sz="2800" b="1" i="1" dirty="0">
                  <a:solidFill>
                    <a:srgbClr val="00538B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5227384" y="5321752"/>
                <a:ext cx="2680832" cy="25417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 rtlCol="0">
                <a:noAutofit/>
              </a:bodyPr>
              <a:lstStyle/>
              <a:p>
                <a:pPr algn="ctr">
                  <a:lnSpc>
                    <a:spcPct val="130000"/>
                  </a:lnSpc>
                </a:pPr>
                <a:r>
                  <a:rPr lang="en-US" altLang="zh-CN" sz="1600" b="1" i="1" dirty="0">
                    <a:solidFill>
                      <a:srgbClr val="2B478F"/>
                    </a:solidFill>
                    <a:latin typeface="Times New Roman" panose="02020603050405020304" pitchFamily="18" charset="0"/>
                    <a:ea typeface="Adobe 黑体 Std R" panose="020B0400000000000000" pitchFamily="34" charset="-122"/>
                    <a:cs typeface="Times New Roman" panose="02020603050405020304" pitchFamily="18" charset="0"/>
                  </a:rPr>
                  <a:t>Faculty of</a:t>
                </a:r>
                <a:r>
                  <a:rPr lang="zh-CN" altLang="en-US" sz="1600" b="1" i="1" dirty="0">
                    <a:solidFill>
                      <a:srgbClr val="2B478F"/>
                    </a:solidFill>
                    <a:latin typeface="Times New Roman" panose="02020603050405020304" pitchFamily="18" charset="0"/>
                    <a:ea typeface="Adobe 黑体 Std R" panose="020B0400000000000000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600" b="1" i="1" dirty="0">
                    <a:solidFill>
                      <a:srgbClr val="2B478F"/>
                    </a:solidFill>
                    <a:latin typeface="Times New Roman" panose="02020603050405020304" pitchFamily="18" charset="0"/>
                    <a:ea typeface="Adobe 黑体 Std R" panose="020B0400000000000000" pitchFamily="34" charset="-122"/>
                    <a:cs typeface="Times New Roman" panose="02020603050405020304" pitchFamily="18" charset="0"/>
                  </a:rPr>
                  <a:t>Robot</a:t>
                </a:r>
                <a:r>
                  <a:rPr lang="zh-CN" altLang="en-US" sz="1600" b="1" i="1" dirty="0">
                    <a:solidFill>
                      <a:srgbClr val="2B478F"/>
                    </a:solidFill>
                    <a:latin typeface="Times New Roman" panose="02020603050405020304" pitchFamily="18" charset="0"/>
                    <a:ea typeface="Adobe 黑体 Std R" panose="020B0400000000000000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600" b="1" i="1" dirty="0">
                    <a:solidFill>
                      <a:srgbClr val="2B478F"/>
                    </a:solidFill>
                    <a:latin typeface="Times New Roman" panose="02020603050405020304" pitchFamily="18" charset="0"/>
                    <a:ea typeface="Adobe 黑体 Std R" panose="020B0400000000000000" pitchFamily="34" charset="-122"/>
                    <a:cs typeface="Times New Roman" panose="02020603050405020304" pitchFamily="18" charset="0"/>
                  </a:rPr>
                  <a:t>Science</a:t>
                </a:r>
                <a:r>
                  <a:rPr lang="zh-CN" altLang="en-US" sz="1600" b="1" i="1" dirty="0">
                    <a:solidFill>
                      <a:srgbClr val="2B478F"/>
                    </a:solidFill>
                    <a:latin typeface="Times New Roman" panose="02020603050405020304" pitchFamily="18" charset="0"/>
                    <a:ea typeface="Adobe 黑体 Std R" panose="020B0400000000000000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600" b="1" i="1" dirty="0">
                    <a:solidFill>
                      <a:srgbClr val="2B478F"/>
                    </a:solidFill>
                    <a:latin typeface="Times New Roman" panose="02020603050405020304" pitchFamily="18" charset="0"/>
                    <a:ea typeface="Adobe 黑体 Std R" panose="020B0400000000000000" pitchFamily="34" charset="-122"/>
                    <a:cs typeface="Times New Roman" panose="02020603050405020304" pitchFamily="18" charset="0"/>
                  </a:rPr>
                  <a:t>and</a:t>
                </a:r>
                <a:r>
                  <a:rPr lang="zh-CN" altLang="en-US" sz="1600" b="1" i="1" dirty="0">
                    <a:solidFill>
                      <a:srgbClr val="2B478F"/>
                    </a:solidFill>
                    <a:latin typeface="Times New Roman" panose="02020603050405020304" pitchFamily="18" charset="0"/>
                    <a:ea typeface="Adobe 黑体 Std R" panose="020B0400000000000000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600" b="1" i="1" dirty="0">
                    <a:solidFill>
                      <a:srgbClr val="2B478F"/>
                    </a:solidFill>
                    <a:latin typeface="Times New Roman" panose="02020603050405020304" pitchFamily="18" charset="0"/>
                    <a:ea typeface="Adobe 黑体 Std R" panose="020B0400000000000000" pitchFamily="34" charset="-122"/>
                    <a:cs typeface="Times New Roman" panose="02020603050405020304" pitchFamily="18" charset="0"/>
                  </a:rPr>
                  <a:t>Engineering</a:t>
                </a:r>
                <a:endParaRPr lang="en-US" altLang="zh-CN" sz="1600" b="1" i="1" dirty="0">
                  <a:solidFill>
                    <a:srgbClr val="2B478F"/>
                  </a:solidFill>
                  <a:latin typeface="Times New Roman" panose="02020603050405020304" pitchFamily="18" charset="0"/>
                  <a:ea typeface="Adobe 黑体 Std R" panose="020B0400000000000000" pitchFamily="34" charset="-122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34" name="图片 33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94" t="11983" r="81690" b="13865"/>
            <a:stretch>
              <a:fillRect/>
            </a:stretch>
          </p:blipFill>
          <p:spPr>
            <a:xfrm>
              <a:off x="4712100" y="4909271"/>
              <a:ext cx="532881" cy="541838"/>
            </a:xfrm>
            <a:prstGeom prst="rect">
              <a:avLst/>
            </a:prstGeom>
            <a:ln w="44450" cap="rnd" cmpd="sng">
              <a:noFill/>
              <a:prstDash val="solid"/>
            </a:ln>
            <a:effectLst/>
          </p:spPr>
        </p:pic>
      </p:grpSp>
      <p:sp>
        <p:nvSpPr>
          <p:cNvPr id="3" name="文本框 2"/>
          <p:cNvSpPr txBox="1"/>
          <p:nvPr/>
        </p:nvSpPr>
        <p:spPr>
          <a:xfrm>
            <a:off x="2689859" y="1453274"/>
            <a:ext cx="6812280" cy="17532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just"/>
            <a:endParaRPr lang="zh-CN" altLang="en-US" sz="3600" b="1" dirty="0">
              <a:ln>
                <a:solidFill>
                  <a:schemeClr val="accent6">
                    <a:lumMod val="50000"/>
                  </a:schemeClr>
                </a:solidFill>
              </a:ln>
              <a:solidFill>
                <a:srgbClr val="183884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3600" b="1" dirty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rgbClr val="183884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            </a:t>
            </a:r>
            <a:endParaRPr lang="en-US" altLang="zh-CN" sz="3600" b="1" dirty="0">
              <a:ln>
                <a:solidFill>
                  <a:schemeClr val="accent6">
                    <a:lumMod val="50000"/>
                  </a:schemeClr>
                </a:solidFill>
              </a:ln>
              <a:solidFill>
                <a:srgbClr val="183884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3600" b="1" dirty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rgbClr val="183884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                                 </a:t>
            </a:r>
            <a:endParaRPr lang="en-US" altLang="zh-CN" sz="3600" b="1" dirty="0">
              <a:ln>
                <a:solidFill>
                  <a:schemeClr val="accent6">
                    <a:lumMod val="50000"/>
                  </a:schemeClr>
                </a:solidFill>
              </a:ln>
              <a:solidFill>
                <a:srgbClr val="183884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747135" y="2195195"/>
            <a:ext cx="4902835" cy="101092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/>
            <a:r>
              <a:rPr lang="zh-CN" altLang="en-US" sz="4800" kern="100" dirty="0">
                <a:solidFill>
                  <a:schemeClr val="tx1"/>
                </a:solidFill>
                <a:effectLst/>
                <a:latin typeface="思源宋体 CN Heavy" panose="02020900000000000000" pitchFamily="18" charset="-128"/>
                <a:ea typeface="思源宋体 CN Heavy" panose="02020900000000000000" pitchFamily="18" charset="-128"/>
              </a:rPr>
              <a:t>请老师批评指正</a:t>
            </a:r>
            <a:endParaRPr lang="zh-CN" altLang="en-US" sz="4800" kern="100" dirty="0">
              <a:solidFill>
                <a:schemeClr val="tx1"/>
              </a:solidFill>
              <a:effectLst/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TABLE_ENDDRAG_ORIGIN_RECT" val="550*192"/>
  <p:tag name="TABLE_ENDDRAG_RECT" val="63*256*550*192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DIAGRAM_VIRTUALLY_FRAME" val="{&quot;height&quot;:260.70657480314964,&quot;left&quot;:36.89716535433071,&quot;top&quot;:261.306062992126,&quot;width&quot;:852.9539370078741}"/>
</p:tagLst>
</file>

<file path=ppt/tags/tag79.xml><?xml version="1.0" encoding="utf-8"?>
<p:tagLst xmlns:p="http://schemas.openxmlformats.org/presentationml/2006/main">
  <p:tag name="KSO_WM_DIAGRAM_VIRTUALLY_FRAME" val="{&quot;height&quot;:260.70657480314964,&quot;left&quot;:36.89716535433071,&quot;top&quot;:261.306062992126,&quot;width&quot;:852.9539370078741}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DIAGRAM_VIRTUALLY_FRAME" val="{&quot;height&quot;:244.15,&quot;left&quot;:21.6,&quot;top&quot;:78.9,&quot;width&quot;:920.45}"/>
</p:tagLst>
</file>

<file path=ppt/tags/tag83.xml><?xml version="1.0" encoding="utf-8"?>
<p:tagLst xmlns:p="http://schemas.openxmlformats.org/presentationml/2006/main">
  <p:tag name="KSO_WM_DIAGRAM_VIRTUALLY_FRAME" val="{&quot;height&quot;:244.15,&quot;left&quot;:21.6,&quot;top&quot;:78.9,&quot;width&quot;:920.45}"/>
</p:tagLst>
</file>

<file path=ppt/tags/tag84.xml><?xml version="1.0" encoding="utf-8"?>
<p:tagLst xmlns:p="http://schemas.openxmlformats.org/presentationml/2006/main">
  <p:tag name="KSO_WM_DIAGRAM_VIRTUALLY_FRAME" val="{&quot;height&quot;:244.15,&quot;left&quot;:21.6,&quot;top&quot;:78.9,&quot;width&quot;:920.45}"/>
</p:tagLst>
</file>

<file path=ppt/tags/tag85.xml><?xml version="1.0" encoding="utf-8"?>
<p:tagLst xmlns:p="http://schemas.openxmlformats.org/presentationml/2006/main">
  <p:tag name="KSO_WM_DIAGRAM_VIRTUALLY_FRAME" val="{&quot;height&quot;:244.15,&quot;left&quot;:21.6,&quot;top&quot;:78.9,&quot;width&quot;:920.45}"/>
</p:tagLst>
</file>

<file path=ppt/tags/tag86.xml><?xml version="1.0" encoding="utf-8"?>
<p:tagLst xmlns:p="http://schemas.openxmlformats.org/presentationml/2006/main">
  <p:tag name="KSO_WM_DIAGRAM_VIRTUALLY_FRAME" val="{&quot;height&quot;:244.15,&quot;left&quot;:21.6,&quot;top&quot;:78.9,&quot;width&quot;:920.45}"/>
</p:tagLst>
</file>

<file path=ppt/tags/tag87.xml><?xml version="1.0" encoding="utf-8"?>
<p:tagLst xmlns:p="http://schemas.openxmlformats.org/presentationml/2006/main">
  <p:tag name="KSO_WM_DIAGRAM_VIRTUALLY_FRAME" val="{&quot;height&quot;:244.15,&quot;left&quot;:21.6,&quot;top&quot;:78.9,&quot;width&quot;:920.45}"/>
</p:tagLst>
</file>

<file path=ppt/tags/tag88.xml><?xml version="1.0" encoding="utf-8"?>
<p:tagLst xmlns:p="http://schemas.openxmlformats.org/presentationml/2006/main">
  <p:tag name="KSO_WM_DIAGRAM_VIRTUALLY_FRAME" val="{&quot;height&quot;:244.15,&quot;left&quot;:21.6,&quot;top&quot;:78.9,&quot;width&quot;:920.45}"/>
</p:tagLst>
</file>

<file path=ppt/tags/tag89.xml><?xml version="1.0" encoding="utf-8"?>
<p:tagLst xmlns:p="http://schemas.openxmlformats.org/presentationml/2006/main">
  <p:tag name="KSO_WM_DIAGRAM_VIRTUALLY_FRAME" val="{&quot;height&quot;:244.15,&quot;left&quot;:21.6,&quot;top&quot;:78.9,&quot;width&quot;:920.45}"/>
</p:tagLst>
</file>

<file path=ppt/tags/tag90.xml><?xml version="1.0" encoding="utf-8"?>
<p:tagLst xmlns:p="http://schemas.openxmlformats.org/presentationml/2006/main">
  <p:tag name="KSO_WM_DIAGRAM_VIRTUALLY_FRAME" val="{&quot;height&quot;:244.15,&quot;left&quot;:21.6,&quot;top&quot;:78.9,&quot;width&quot;:920.45}"/>
</p:tagLst>
</file>

<file path=ppt/tags/tag91.xml><?xml version="1.0" encoding="utf-8"?>
<p:tagLst xmlns:p="http://schemas.openxmlformats.org/presentationml/2006/main">
  <p:tag name="KSO_WM_DIAGRAM_VIRTUALLY_FRAME" val="{&quot;height&quot;:244.15,&quot;left&quot;:21.6,&quot;top&quot;:78.9,&quot;width&quot;:920.45}"/>
</p:tagLst>
</file>

<file path=ppt/tags/tag92.xml><?xml version="1.0" encoding="utf-8"?>
<p:tagLst xmlns:p="http://schemas.openxmlformats.org/presentationml/2006/main">
  <p:tag name="KSO_WM_DIAGRAM_VIRTUALLY_FRAME" val="{&quot;height&quot;:244.15,&quot;left&quot;:21.6,&quot;top&quot;:78.9,&quot;width&quot;:920.45}"/>
</p:tagLst>
</file>

<file path=ppt/tags/tag93.xml><?xml version="1.0" encoding="utf-8"?>
<p:tagLst xmlns:p="http://schemas.openxmlformats.org/presentationml/2006/main">
  <p:tag name="KSO_WM_DIAGRAM_VIRTUALLY_FRAME" val="{&quot;height&quot;:244.15,&quot;left&quot;:21.6,&quot;top&quot;:78.9,&quot;width&quot;:920.45}"/>
</p:tagLst>
</file>

<file path=ppt/tags/tag94.xml><?xml version="1.0" encoding="utf-8"?>
<p:tagLst xmlns:p="http://schemas.openxmlformats.org/presentationml/2006/main">
  <p:tag name="KSO_WM_DIAGRAM_VIRTUALLY_FRAME" val="{&quot;height&quot;:244.15,&quot;left&quot;:21.6,&quot;top&quot;:78.9,&quot;width&quot;:920.45}"/>
</p:tagLst>
</file>

<file path=ppt/tags/tag95.xml><?xml version="1.0" encoding="utf-8"?>
<p:tagLst xmlns:p="http://schemas.openxmlformats.org/presentationml/2006/main">
  <p:tag name="KSO_WM_DIAGRAM_VIRTUALLY_FRAME" val="{&quot;height&quot;:244.15,&quot;left&quot;:21.6,&quot;top&quot;:78.9,&quot;width&quot;:920.45}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ags/tag101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ags/tag102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TABLE_ENDDRAG_ORIGIN_RECT" val="733*407"/>
  <p:tag name="TABLE_ENDDRAG_RECT" val="127*94*733*407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UNIT_PLACING_PICTURE_USER_VIEWPORT" val="{&quot;height&quot;:978.8173228346457,&quot;width&quot;:962.636220472441}"/>
</p:tagLst>
</file>

<file path=ppt/tags/tag110.xml><?xml version="1.0" encoding="utf-8"?>
<p:tagLst xmlns:p="http://schemas.openxmlformats.org/presentationml/2006/main">
  <p:tag name="COMMONDATA" val="eyJoZGlkIjoiMzBmZDE4MDMxYTRiZWFkZWE0ZDAxZTk5Y2YyYjQ4NDYifQ=="/>
  <p:tag name="resource_record_key" val="{&quot;10&quot;:[3637474,21561571,4523976,6783223,21537668],&quot;29&quot;:[50053092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6381</Words>
  <Application>WPS 演示</Application>
  <PresentationFormat>宽屏</PresentationFormat>
  <Paragraphs>659</Paragraphs>
  <Slides>14</Slides>
  <Notes>12</Notes>
  <HiddenSlides>0</HiddenSlides>
  <MMClips>1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3" baseType="lpstr">
      <vt:lpstr>Arial</vt:lpstr>
      <vt:lpstr>宋体</vt:lpstr>
      <vt:lpstr>Wingdings</vt:lpstr>
      <vt:lpstr>Wingdings</vt:lpstr>
      <vt:lpstr>微软雅黑</vt:lpstr>
      <vt:lpstr>Times New Roman</vt:lpstr>
      <vt:lpstr>Calibri</vt:lpstr>
      <vt:lpstr>楷体</vt:lpstr>
      <vt:lpstr>华文楷体</vt:lpstr>
      <vt:lpstr>字魂35号-经典雅黑</vt:lpstr>
      <vt:lpstr>思源宋体 CN Heavy</vt:lpstr>
      <vt:lpstr>AR Fruda Sans Flat</vt:lpstr>
      <vt:lpstr>汉仪颜楷简</vt:lpstr>
      <vt:lpstr>汉仪书魂体简</vt:lpstr>
      <vt:lpstr>Times New Roman</vt:lpstr>
      <vt:lpstr>Calibri</vt:lpstr>
      <vt:lpstr>Adobe 黑体 Std R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Merlyn</dc:creator>
  <cp:lastModifiedBy>宸</cp:lastModifiedBy>
  <cp:revision>296</cp:revision>
  <dcterms:created xsi:type="dcterms:W3CDTF">2019-06-19T02:08:00Z</dcterms:created>
  <dcterms:modified xsi:type="dcterms:W3CDTF">2025-11-04T07:54:11Z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E48812A0F7A04999AF916BAB51B9A572_12</vt:lpwstr>
  </property>
</Properties>
</file>